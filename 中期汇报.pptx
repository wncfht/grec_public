
<file path=[Content_Types].xml><?xml version="1.0" encoding="utf-8"?>
<Types xmlns="http://schemas.openxmlformats.org/package/2006/content-types">
  <Default Extension="jpeg" ContentType="image/jpeg"/>
  <Default Extension="JPG" ContentType="image/.jpg"/>
  <Default Extension="png" ContentType="image/png"/>
  <Default Extension="wdp" ContentType="image/vnd.ms-photo"/>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3"/>
    <p:sldId id="263" r:id="rId4"/>
    <p:sldId id="266" r:id="rId5"/>
    <p:sldId id="297" r:id="rId6"/>
    <p:sldId id="298" r:id="rId7"/>
    <p:sldId id="299" r:id="rId8"/>
    <p:sldId id="300" r:id="rId9"/>
    <p:sldId id="301" r:id="rId10"/>
    <p:sldId id="280" r:id="rId11"/>
    <p:sldId id="289" r:id="rId12"/>
    <p:sldId id="290" r:id="rId13"/>
    <p:sldId id="302" r:id="rId14"/>
    <p:sldId id="292" r:id="rId15"/>
    <p:sldId id="294" r:id="rId16"/>
    <p:sldId id="309" r:id="rId17"/>
    <p:sldId id="303" r:id="rId18"/>
    <p:sldId id="304" r:id="rId19"/>
    <p:sldId id="305" r:id="rId20"/>
    <p:sldId id="306" r:id="rId21"/>
    <p:sldId id="287" r:id="rId22"/>
    <p:sldId id="307" r:id="rId23"/>
    <p:sldId id="264" r:id="rId24"/>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4098"/>
    <a:srgbClr val="FFC000"/>
    <a:srgbClr val="17479B"/>
    <a:srgbClr val="2E76BC"/>
    <a:srgbClr val="B5A380"/>
    <a:srgbClr val="959DBF"/>
    <a:srgbClr val="2D5AC2"/>
    <a:srgbClr val="A6A6A6"/>
    <a:srgbClr val="C55A11"/>
    <a:srgbClr val="2B75C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7202" autoAdjust="0"/>
    <p:restoredTop sz="94660"/>
  </p:normalViewPr>
  <p:slideViewPr>
    <p:cSldViewPr snapToGrid="0">
      <p:cViewPr varScale="1">
        <p:scale>
          <a:sx n="227" d="100"/>
          <a:sy n="227" d="100"/>
        </p:scale>
        <p:origin x="792" y="184"/>
      </p:cViewPr>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7" Type="http://schemas.openxmlformats.org/officeDocument/2006/relationships/tableStyles" Target="tableStyles.xml"/><Relationship Id="rId26" Type="http://schemas.openxmlformats.org/officeDocument/2006/relationships/viewProps" Target="viewProps.xml"/><Relationship Id="rId25" Type="http://schemas.openxmlformats.org/officeDocument/2006/relationships/presProps" Target="presProps.xml"/><Relationship Id="rId24" Type="http://schemas.openxmlformats.org/officeDocument/2006/relationships/slide" Target="slides/slide22.xml"/><Relationship Id="rId23" Type="http://schemas.openxmlformats.org/officeDocument/2006/relationships/slide" Target="slides/slide21.xml"/><Relationship Id="rId22" Type="http://schemas.openxmlformats.org/officeDocument/2006/relationships/slide" Target="slides/slide20.xml"/><Relationship Id="rId21" Type="http://schemas.openxmlformats.org/officeDocument/2006/relationships/slide" Target="slides/slide19.xml"/><Relationship Id="rId20" Type="http://schemas.openxmlformats.org/officeDocument/2006/relationships/slide" Target="slides/slide18.xml"/><Relationship Id="rId2" Type="http://schemas.openxmlformats.org/officeDocument/2006/relationships/theme" Target="theme/theme1.xml"/><Relationship Id="rId19" Type="http://schemas.openxmlformats.org/officeDocument/2006/relationships/slide" Target="slides/slide17.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slideLayouts/_rels/slideLayout1.xml.rels><?xml version="1.0" encoding="UTF-8" standalone="yes"?>
<Relationships xmlns="http://schemas.openxmlformats.org/package/2006/relationships"><Relationship Id="rId6" Type="http://schemas.microsoft.com/office/2007/relationships/hdphoto" Target="../media/image5.wdp"/><Relationship Id="rId5" Type="http://schemas.openxmlformats.org/officeDocument/2006/relationships/image" Target="../media/image4.png"/><Relationship Id="rId4" Type="http://schemas.microsoft.com/office/2007/relationships/hdphoto" Target="../media/image3.wdp"/><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5" Type="http://schemas.microsoft.com/office/2007/relationships/hdphoto" Target="../media/image9.wdp"/><Relationship Id="rId4" Type="http://schemas.openxmlformats.org/officeDocument/2006/relationships/image" Target="../media/image8.png"/><Relationship Id="rId3" Type="http://schemas.openxmlformats.org/officeDocument/2006/relationships/image" Target="../media/image7.png"/><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6" Type="http://schemas.openxmlformats.org/officeDocument/2006/relationships/image" Target="../media/image12.png"/><Relationship Id="rId5" Type="http://schemas.microsoft.com/office/2007/relationships/hdphoto" Target="../media/image11.wdp"/><Relationship Id="rId4" Type="http://schemas.openxmlformats.org/officeDocument/2006/relationships/image" Target="../media/image10.png"/><Relationship Id="rId3" Type="http://schemas.microsoft.com/office/2007/relationships/hdphoto" Target="../media/image3.wdp"/><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6" Type="http://schemas.openxmlformats.org/officeDocument/2006/relationships/image" Target="../media/image12.png"/><Relationship Id="rId5" Type="http://schemas.microsoft.com/office/2007/relationships/hdphoto" Target="../media/image3.wdp"/><Relationship Id="rId4" Type="http://schemas.openxmlformats.org/officeDocument/2006/relationships/image" Target="../media/image2.png"/><Relationship Id="rId3" Type="http://schemas.microsoft.com/office/2007/relationships/hdphoto" Target="../media/image11.wdp"/><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6" Type="http://schemas.openxmlformats.org/officeDocument/2006/relationships/image" Target="../media/image12.png"/><Relationship Id="rId5" Type="http://schemas.microsoft.com/office/2007/relationships/hdphoto" Target="../media/image14.wdp"/><Relationship Id="rId4" Type="http://schemas.openxmlformats.org/officeDocument/2006/relationships/image" Target="../media/image13.png"/><Relationship Id="rId3" Type="http://schemas.microsoft.com/office/2007/relationships/hdphoto" Target="../media/image3.wdp"/><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6" Type="http://schemas.openxmlformats.org/officeDocument/2006/relationships/image" Target="../media/image12.png"/><Relationship Id="rId5" Type="http://schemas.microsoft.com/office/2007/relationships/hdphoto" Target="../media/image14.wdp"/><Relationship Id="rId4" Type="http://schemas.openxmlformats.org/officeDocument/2006/relationships/image" Target="../media/image13.png"/><Relationship Id="rId3" Type="http://schemas.microsoft.com/office/2007/relationships/hdphoto" Target="../media/image3.wdp"/><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6" Type="http://schemas.openxmlformats.org/officeDocument/2006/relationships/image" Target="../media/image12.png"/><Relationship Id="rId5" Type="http://schemas.microsoft.com/office/2007/relationships/hdphoto" Target="../media/image16.wdp"/><Relationship Id="rId4" Type="http://schemas.openxmlformats.org/officeDocument/2006/relationships/image" Target="../media/image15.png"/><Relationship Id="rId3" Type="http://schemas.microsoft.com/office/2007/relationships/hdphoto" Target="../media/image3.wdp"/><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6" Type="http://schemas.openxmlformats.org/officeDocument/2006/relationships/image" Target="../media/image12.png"/><Relationship Id="rId5" Type="http://schemas.microsoft.com/office/2007/relationships/hdphoto" Target="../media/image16.wdp"/><Relationship Id="rId4" Type="http://schemas.openxmlformats.org/officeDocument/2006/relationships/image" Target="../media/image15.png"/><Relationship Id="rId3" Type="http://schemas.microsoft.com/office/2007/relationships/hdphoto" Target="../media/image3.wdp"/><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6" Type="http://schemas.openxmlformats.org/officeDocument/2006/relationships/image" Target="../media/image12.png"/><Relationship Id="rId5" Type="http://schemas.microsoft.com/office/2007/relationships/hdphoto" Target="../media/image18.wdp"/><Relationship Id="rId4" Type="http://schemas.openxmlformats.org/officeDocument/2006/relationships/image" Target="../media/image17.png"/><Relationship Id="rId3" Type="http://schemas.microsoft.com/office/2007/relationships/hdphoto" Target="../media/image3.wdp"/><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6" Type="http://schemas.openxmlformats.org/officeDocument/2006/relationships/image" Target="../media/image12.png"/><Relationship Id="rId5" Type="http://schemas.microsoft.com/office/2007/relationships/hdphoto" Target="../media/image18.wdp"/><Relationship Id="rId4" Type="http://schemas.openxmlformats.org/officeDocument/2006/relationships/image" Target="../media/image17.png"/><Relationship Id="rId3" Type="http://schemas.microsoft.com/office/2007/relationships/hdphoto" Target="../media/image3.wdp"/><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5" Type="http://schemas.microsoft.com/office/2007/relationships/hdphoto" Target="../media/image20.wdp"/><Relationship Id="rId4" Type="http://schemas.openxmlformats.org/officeDocument/2006/relationships/image" Target="../media/image19.png"/><Relationship Id="rId3" Type="http://schemas.microsoft.com/office/2007/relationships/hdphoto" Target="../media/image3.wdp"/><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5" Type="http://schemas.microsoft.com/office/2007/relationships/hdphoto" Target="../media/image20.wdp"/><Relationship Id="rId4" Type="http://schemas.openxmlformats.org/officeDocument/2006/relationships/image" Target="../media/image19.png"/><Relationship Id="rId3" Type="http://schemas.microsoft.com/office/2007/relationships/hdphoto" Target="../media/image3.wdp"/><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5" Type="http://schemas.microsoft.com/office/2007/relationships/hdphoto" Target="../media/image20.wdp"/><Relationship Id="rId4" Type="http://schemas.openxmlformats.org/officeDocument/2006/relationships/image" Target="../media/image19.png"/><Relationship Id="rId3" Type="http://schemas.microsoft.com/office/2007/relationships/hdphoto" Target="../media/image3.wdp"/><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4" Type="http://schemas.microsoft.com/office/2007/relationships/hdphoto" Target="../media/image3.wdp"/><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4" Type="http://schemas.openxmlformats.org/officeDocument/2006/relationships/image" Target="../media/image12.png"/><Relationship Id="rId3" Type="http://schemas.microsoft.com/office/2007/relationships/hdphoto" Target="../media/image3.wdp"/><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封面">
    <p:spTree>
      <p:nvGrpSpPr>
        <p:cNvPr id="1" name=""/>
        <p:cNvGrpSpPr/>
        <p:nvPr/>
      </p:nvGrpSpPr>
      <p:grpSpPr>
        <a:xfrm>
          <a:off x="0" y="0"/>
          <a:ext cx="0" cy="0"/>
          <a:chOff x="0" y="0"/>
          <a:chExt cx="0" cy="0"/>
        </a:xfrm>
      </p:grpSpPr>
      <p:sp>
        <p:nvSpPr>
          <p:cNvPr id="5" name="矩形 4"/>
          <p:cNvSpPr/>
          <p:nvPr userDrawn="1"/>
        </p:nvSpPr>
        <p:spPr>
          <a:xfrm>
            <a:off x="0" y="0"/>
            <a:ext cx="12192000" cy="6858000"/>
          </a:xfrm>
          <a:prstGeom prst="rect">
            <a:avLst/>
          </a:prstGeom>
          <a:blipFill dpi="0" rotWithShape="1">
            <a:blip r:embed="rId2">
              <a:duotone>
                <a:schemeClr val="bg2">
                  <a:shade val="45000"/>
                  <a:satMod val="135000"/>
                </a:schemeClr>
                <a:prstClr val="white"/>
              </a:duotone>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 name="矩形 5"/>
          <p:cNvSpPr/>
          <p:nvPr userDrawn="1"/>
        </p:nvSpPr>
        <p:spPr>
          <a:xfrm>
            <a:off x="0" y="573058"/>
            <a:ext cx="12192000" cy="2857500"/>
          </a:xfrm>
          <a:prstGeom prst="rect">
            <a:avLst/>
          </a:prstGeom>
          <a:gradFill>
            <a:gsLst>
              <a:gs pos="0">
                <a:schemeClr val="accent1"/>
              </a:gs>
              <a:gs pos="100000">
                <a:schemeClr val="accent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zh-CN" altLang="en-US">
              <a:latin typeface="微软雅黑" panose="020B0503020204020204" pitchFamily="34" charset="-122"/>
              <a:ea typeface="微软雅黑" panose="020B0503020204020204" pitchFamily="34" charset="-122"/>
            </a:endParaRPr>
          </a:p>
        </p:txBody>
      </p:sp>
      <p:pic>
        <p:nvPicPr>
          <p:cNvPr id="10" name="图片 9"/>
          <p:cNvPicPr>
            <a:picLocks noChangeAspect="1"/>
          </p:cNvPicPr>
          <p:nvPr userDrawn="1"/>
        </p:nvPicPr>
        <p:blipFill rotWithShape="1">
          <a:blip r:embed="rId3" cstate="print">
            <a:extLst>
              <a:ext uri="{BEBA8EAE-BF5A-486C-A8C5-ECC9F3942E4B}">
                <a14:imgProps xmlns:a14="http://schemas.microsoft.com/office/drawing/2010/main">
                  <a14:imgLayer r:embed="rId4">
                    <a14:imgEffect>
                      <a14:brightnessContrast bright="100000" contrast="100000"/>
                    </a14:imgEffect>
                    <a14:imgEffect>
                      <a14:colorTemperature colorTemp="1500"/>
                    </a14:imgEffect>
                    <a14:imgEffect>
                      <a14:saturation sat="0"/>
                    </a14:imgEffect>
                  </a14:imgLayer>
                </a14:imgProps>
              </a:ext>
            </a:extLst>
          </a:blip>
          <a:srcRect l="26009" t="-18105" r="1201" b="1"/>
          <a:stretch>
            <a:fillRect/>
          </a:stretch>
        </p:blipFill>
        <p:spPr>
          <a:xfrm>
            <a:off x="-8468" y="2560319"/>
            <a:ext cx="12200467" cy="660689"/>
          </a:xfrm>
          <a:prstGeom prst="rect">
            <a:avLst/>
          </a:prstGeom>
        </p:spPr>
      </p:pic>
      <p:sp>
        <p:nvSpPr>
          <p:cNvPr id="13" name="内容占位符 2"/>
          <p:cNvSpPr>
            <a:spLocks noGrp="1"/>
          </p:cNvSpPr>
          <p:nvPr>
            <p:ph sz="quarter" idx="12" hasCustomPrompt="1"/>
          </p:nvPr>
        </p:nvSpPr>
        <p:spPr>
          <a:xfrm>
            <a:off x="4102835" y="4544189"/>
            <a:ext cx="3975953" cy="454025"/>
          </a:xfrm>
        </p:spPr>
        <p:txBody>
          <a:bodyPr>
            <a:normAutofit/>
          </a:bodyPr>
          <a:lstStyle>
            <a:lvl1pPr marL="0" indent="0" algn="ctr">
              <a:buNone/>
              <a:defRPr sz="2400"/>
            </a:lvl1pPr>
          </a:lstStyle>
          <a:p>
            <a:fld id="{E42970F4-9EF3-4E0A-91E0-2B480D8FBBAF}" type="datetime2">
              <a:rPr lang="zh-CN" altLang="en-US" smtClean="0"/>
            </a:fld>
            <a:endParaRPr lang="zh-CN" altLang="en-US" dirty="0"/>
          </a:p>
        </p:txBody>
      </p:sp>
      <p:pic>
        <p:nvPicPr>
          <p:cNvPr id="9" name="图片 8"/>
          <p:cNvPicPr>
            <a:picLocks noChangeAspect="1"/>
          </p:cNvPicPr>
          <p:nvPr userDrawn="1"/>
        </p:nvPicPr>
        <p:blipFill>
          <a:blip r:embed="rId5" cstate="print">
            <a:duotone>
              <a:schemeClr val="accent3">
                <a:shade val="45000"/>
                <a:satMod val="135000"/>
              </a:schemeClr>
              <a:prstClr val="white"/>
            </a:duotone>
            <a:extLst>
              <a:ext uri="{BEBA8EAE-BF5A-486C-A8C5-ECC9F3942E4B}">
                <a14:imgProps xmlns:a14="http://schemas.microsoft.com/office/drawing/2010/main">
                  <a14:imgLayer r:embed="rId6">
                    <a14:imgEffect>
                      <a14:brightnessContrast bright="-20000" contrast="-20000"/>
                    </a14:imgEffect>
                  </a14:imgLayer>
                </a14:imgProps>
              </a:ext>
              <a:ext uri="{28A0092B-C50C-407E-A947-70E740481C1C}">
                <a14:useLocalDpi xmlns:a14="http://schemas.microsoft.com/office/drawing/2010/main" val="0"/>
              </a:ext>
            </a:extLst>
          </a:blip>
          <a:stretch>
            <a:fillRect/>
          </a:stretch>
        </p:blipFill>
        <p:spPr>
          <a:xfrm>
            <a:off x="388620" y="5086796"/>
            <a:ext cx="4225394" cy="1389062"/>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目录页">
    <p:spTree>
      <p:nvGrpSpPr>
        <p:cNvPr id="1" name=""/>
        <p:cNvGrpSpPr/>
        <p:nvPr/>
      </p:nvGrpSpPr>
      <p:grpSpPr>
        <a:xfrm>
          <a:off x="0" y="0"/>
          <a:ext cx="0" cy="0"/>
          <a:chOff x="0" y="0"/>
          <a:chExt cx="0" cy="0"/>
        </a:xfrm>
      </p:grpSpPr>
      <p:pic>
        <p:nvPicPr>
          <p:cNvPr id="5" name="图片占位符 95" descr="图片包含 天空, 泰迪熊, 熊, 建筑物&#10;&#10;自动生成的说明"/>
          <p:cNvPicPr>
            <a:picLocks noChangeAspect="1"/>
          </p:cNvPicPr>
          <p:nvPr userDrawn="1"/>
        </p:nvPicPr>
        <p:blipFill rotWithShape="1">
          <a:blip r:embed="rId2" cstate="print">
            <a:extLst>
              <a:ext uri="{28A0092B-C50C-407E-A947-70E740481C1C}">
                <a14:useLocalDpi xmlns:a14="http://schemas.microsoft.com/office/drawing/2010/main" val="0"/>
              </a:ext>
            </a:extLst>
          </a:blip>
          <a:srcRect l="24630" r="23380"/>
          <a:stretch>
            <a:fillRect/>
          </a:stretch>
        </p:blipFill>
        <p:spPr>
          <a:xfrm>
            <a:off x="0" y="2109743"/>
            <a:ext cx="3705223" cy="4748258"/>
          </a:xfrm>
          <a:prstGeom prst="rect">
            <a:avLst/>
          </a:prstGeom>
        </p:spPr>
      </p:pic>
      <p:grpSp>
        <p:nvGrpSpPr>
          <p:cNvPr id="8" name="组合 7"/>
          <p:cNvGrpSpPr/>
          <p:nvPr userDrawn="1"/>
        </p:nvGrpSpPr>
        <p:grpSpPr>
          <a:xfrm>
            <a:off x="0" y="1"/>
            <a:ext cx="3705225" cy="3230879"/>
            <a:chOff x="0" y="1"/>
            <a:chExt cx="3705225" cy="3230879"/>
          </a:xfrm>
        </p:grpSpPr>
        <p:sp>
          <p:nvSpPr>
            <p:cNvPr id="6" name="矩形 5"/>
            <p:cNvSpPr/>
            <p:nvPr userDrawn="1"/>
          </p:nvSpPr>
          <p:spPr>
            <a:xfrm>
              <a:off x="0" y="1"/>
              <a:ext cx="3705225" cy="212343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userDrawn="1"/>
          </p:nvSpPr>
          <p:spPr>
            <a:xfrm>
              <a:off x="0" y="2123439"/>
              <a:ext cx="3705225" cy="1107441"/>
            </a:xfrm>
            <a:prstGeom prst="rect">
              <a:avLst/>
            </a:prstGeom>
            <a:gradFill>
              <a:gsLst>
                <a:gs pos="0">
                  <a:schemeClr val="accent1">
                    <a:alpha val="0"/>
                  </a:schemeClr>
                </a:gs>
                <a:gs pos="100000">
                  <a:schemeClr val="accent1"/>
                </a:gs>
              </a:gsLst>
              <a:lin ang="16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pic>
        <p:nvPicPr>
          <p:cNvPr id="9" name="图片 8" descr="图片包含 建筑物&#10;&#10;自动生成的说明"/>
          <p:cNvPicPr>
            <a:picLocks noChangeAspect="1"/>
          </p:cNvPicPr>
          <p:nvPr userDrawn="1"/>
        </p:nvPicPr>
        <p:blipFill>
          <a:blip r:embed="rId3" cstate="print">
            <a:alphaModFix amt="5000"/>
            <a:duotone>
              <a:prstClr val="black"/>
              <a:schemeClr val="accent1">
                <a:tint val="45000"/>
                <a:satMod val="400000"/>
              </a:schemeClr>
            </a:duotone>
            <a:extLst>
              <a:ext uri="{28A0092B-C50C-407E-A947-70E740481C1C}">
                <a14:useLocalDpi xmlns:a14="http://schemas.microsoft.com/office/drawing/2010/main" val="0"/>
              </a:ext>
            </a:extLst>
          </a:blip>
          <a:stretch>
            <a:fillRect/>
          </a:stretch>
        </p:blipFill>
        <p:spPr>
          <a:xfrm>
            <a:off x="3705224" y="2047874"/>
            <a:ext cx="8486775" cy="3457575"/>
          </a:xfrm>
          <a:prstGeom prst="rect">
            <a:avLst/>
          </a:prstGeom>
        </p:spPr>
      </p:pic>
      <p:sp>
        <p:nvSpPr>
          <p:cNvPr id="10" name="文本框 9"/>
          <p:cNvSpPr txBox="1"/>
          <p:nvPr userDrawn="1"/>
        </p:nvSpPr>
        <p:spPr>
          <a:xfrm>
            <a:off x="569118" y="1160150"/>
            <a:ext cx="2566988" cy="1400383"/>
          </a:xfrm>
          <a:prstGeom prst="rect">
            <a:avLst/>
          </a:prstGeom>
          <a:noFill/>
        </p:spPr>
        <p:txBody>
          <a:bodyPr wrap="square" rtlCol="0">
            <a:spAutoFit/>
          </a:bodyPr>
          <a:lstStyle/>
          <a:p>
            <a:pPr algn="ctr">
              <a:spcBef>
                <a:spcPts val="600"/>
              </a:spcBef>
            </a:pPr>
            <a:r>
              <a:rPr lang="zh-CN" altLang="en-US" sz="4400" b="1" dirty="0">
                <a:solidFill>
                  <a:schemeClr val="bg1"/>
                </a:solidFill>
                <a:effectLst>
                  <a:outerShdw blurRad="38100" dist="38100" dir="2700000" algn="tl">
                    <a:srgbClr val="000000">
                      <a:alpha val="43137"/>
                    </a:srgbClr>
                  </a:outerShdw>
                </a:effectLst>
                <a:latin typeface="+mj-ea"/>
                <a:ea typeface="+mj-ea"/>
              </a:rPr>
              <a:t>目  录</a:t>
            </a:r>
            <a:endParaRPr lang="en-US" altLang="zh-CN" sz="4400" b="1" dirty="0">
              <a:solidFill>
                <a:schemeClr val="bg1"/>
              </a:solidFill>
              <a:effectLst>
                <a:outerShdw blurRad="38100" dist="38100" dir="2700000" algn="tl">
                  <a:srgbClr val="000000">
                    <a:alpha val="43137"/>
                  </a:srgbClr>
                </a:outerShdw>
              </a:effectLst>
              <a:latin typeface="+mj-ea"/>
              <a:ea typeface="+mj-ea"/>
            </a:endParaRPr>
          </a:p>
          <a:p>
            <a:pPr algn="ctr">
              <a:spcBef>
                <a:spcPts val="600"/>
              </a:spcBef>
            </a:pPr>
            <a:r>
              <a:rPr lang="en-US" altLang="zh-CN" sz="3600" b="1" dirty="0">
                <a:solidFill>
                  <a:schemeClr val="bg1"/>
                </a:solidFill>
                <a:effectLst>
                  <a:outerShdw blurRad="38100" dist="38100" dir="2700000" algn="tl">
                    <a:srgbClr val="000000">
                      <a:alpha val="43137"/>
                    </a:srgbClr>
                  </a:outerShdw>
                </a:effectLst>
                <a:latin typeface="+mn-lt"/>
                <a:ea typeface="+mj-ea"/>
              </a:rPr>
              <a:t>CONTENT</a:t>
            </a:r>
            <a:endParaRPr lang="zh-CN" altLang="en-US" sz="3600" b="1" dirty="0">
              <a:solidFill>
                <a:schemeClr val="bg1"/>
              </a:solidFill>
              <a:effectLst>
                <a:outerShdw blurRad="38100" dist="38100" dir="2700000" algn="tl">
                  <a:srgbClr val="000000">
                    <a:alpha val="43137"/>
                  </a:srgbClr>
                </a:outerShdw>
              </a:effectLst>
              <a:latin typeface="+mn-lt"/>
              <a:ea typeface="+mj-ea"/>
            </a:endParaRPr>
          </a:p>
        </p:txBody>
      </p:sp>
      <p:pic>
        <p:nvPicPr>
          <p:cNvPr id="11" name="图片 10"/>
          <p:cNvPicPr>
            <a:picLocks noChangeAspect="1"/>
          </p:cNvPicPr>
          <p:nvPr userDrawn="1"/>
        </p:nvPicPr>
        <p:blipFill>
          <a:blip r:embed="rId4" cstate="print">
            <a:duotone>
              <a:schemeClr val="accent3">
                <a:shade val="45000"/>
                <a:satMod val="135000"/>
              </a:schemeClr>
              <a:prstClr val="white"/>
            </a:duotone>
            <a:extLst>
              <a:ext uri="{BEBA8EAE-BF5A-486C-A8C5-ECC9F3942E4B}">
                <a14:imgProps xmlns:a14="http://schemas.microsoft.com/office/drawing/2010/main">
                  <a14:imgLayer r:embed="rId5">
                    <a14:imgEffect>
                      <a14:brightnessContrast bright="-20000" contrast="-20000"/>
                    </a14:imgEffect>
                  </a14:imgLayer>
                </a14:imgProps>
              </a:ext>
              <a:ext uri="{28A0092B-C50C-407E-A947-70E740481C1C}">
                <a14:useLocalDpi xmlns:a14="http://schemas.microsoft.com/office/drawing/2010/main" val="0"/>
              </a:ext>
            </a:extLst>
          </a:blip>
          <a:stretch>
            <a:fillRect/>
          </a:stretch>
        </p:blipFill>
        <p:spPr>
          <a:xfrm>
            <a:off x="9105900" y="198623"/>
            <a:ext cx="2847974" cy="936247"/>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过渡页-1">
    <p:bg>
      <p:bgPr>
        <a:solidFill>
          <a:schemeClr val="bg1"/>
        </a:solidFill>
        <a:effectLst/>
      </p:bgPr>
    </p:bg>
    <p:spTree>
      <p:nvGrpSpPr>
        <p:cNvPr id="1" name=""/>
        <p:cNvGrpSpPr/>
        <p:nvPr/>
      </p:nvGrpSpPr>
      <p:grpSpPr>
        <a:xfrm>
          <a:off x="0" y="0"/>
          <a:ext cx="0" cy="0"/>
          <a:chOff x="0" y="0"/>
          <a:chExt cx="0" cy="0"/>
        </a:xfrm>
      </p:grpSpPr>
      <p:sp>
        <p:nvSpPr>
          <p:cNvPr id="15" name="矩形 14"/>
          <p:cNvSpPr/>
          <p:nvPr userDrawn="1"/>
        </p:nvSpPr>
        <p:spPr>
          <a:xfrm>
            <a:off x="0" y="1348988"/>
            <a:ext cx="12192000" cy="3102323"/>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8" name="图片 17"/>
          <p:cNvPicPr>
            <a:picLocks noChangeAspect="1"/>
          </p:cNvPicPr>
          <p:nvPr userDrawn="1"/>
        </p:nvPicPr>
        <p:blipFill rotWithShape="1">
          <a:blip r:embed="rId2" cstate="print">
            <a:extLst>
              <a:ext uri="{BEBA8EAE-BF5A-486C-A8C5-ECC9F3942E4B}">
                <a14:imgProps xmlns:a14="http://schemas.microsoft.com/office/drawing/2010/main">
                  <a14:imgLayer r:embed="rId3">
                    <a14:imgEffect>
                      <a14:brightnessContrast bright="100000" contrast="100000"/>
                    </a14:imgEffect>
                    <a14:imgEffect>
                      <a14:colorTemperature colorTemp="1500"/>
                    </a14:imgEffect>
                    <a14:imgEffect>
                      <a14:saturation sat="0"/>
                    </a14:imgEffect>
                  </a14:imgLayer>
                </a14:imgProps>
              </a:ext>
            </a:extLst>
          </a:blip>
          <a:srcRect l="12760" t="-18106" r="1202" b="-17978"/>
          <a:stretch>
            <a:fillRect/>
          </a:stretch>
        </p:blipFill>
        <p:spPr>
          <a:xfrm>
            <a:off x="0" y="3660252"/>
            <a:ext cx="12200467" cy="689345"/>
          </a:xfrm>
          <a:prstGeom prst="rect">
            <a:avLst/>
          </a:prstGeom>
        </p:spPr>
      </p:pic>
      <p:grpSp>
        <p:nvGrpSpPr>
          <p:cNvPr id="16" name="组合 15"/>
          <p:cNvGrpSpPr/>
          <p:nvPr userDrawn="1"/>
        </p:nvGrpSpPr>
        <p:grpSpPr>
          <a:xfrm>
            <a:off x="813832" y="0"/>
            <a:ext cx="4824967" cy="6858000"/>
            <a:chOff x="975757" y="0"/>
            <a:chExt cx="4824967" cy="6858000"/>
          </a:xfrm>
        </p:grpSpPr>
        <p:pic>
          <p:nvPicPr>
            <p:cNvPr id="8" name="图片 7"/>
            <p:cNvPicPr>
              <a:picLocks noChangeAspect="1"/>
            </p:cNvPicPr>
            <p:nvPr userDrawn="1"/>
          </p:nvPicPr>
          <p:blipFill>
            <a:blip r:embed="rId4" cstate="print">
              <a:duotone>
                <a:schemeClr val="accent3">
                  <a:shade val="45000"/>
                  <a:satMod val="135000"/>
                </a:schemeClr>
                <a:prstClr val="white"/>
              </a:duotone>
              <a:extLst>
                <a:ext uri="{BEBA8EAE-BF5A-486C-A8C5-ECC9F3942E4B}">
                  <a14:imgProps xmlns:a14="http://schemas.microsoft.com/office/drawing/2010/main">
                    <a14:imgLayer r:embed="rId5">
                      <a14:imgEffect>
                        <a14:brightnessContrast contrast="40000"/>
                      </a14:imgEffect>
                    </a14:imgLayer>
                  </a14:imgProps>
                </a:ext>
                <a:ext uri="{28A0092B-C50C-407E-A947-70E740481C1C}">
                  <a14:useLocalDpi xmlns:a14="http://schemas.microsoft.com/office/drawing/2010/main" val="0"/>
                </a:ext>
              </a:extLst>
            </a:blip>
            <a:stretch>
              <a:fillRect/>
            </a:stretch>
          </p:blipFill>
          <p:spPr>
            <a:xfrm>
              <a:off x="975757" y="0"/>
              <a:ext cx="4824967" cy="6858000"/>
            </a:xfrm>
            <a:prstGeom prst="rect">
              <a:avLst/>
            </a:prstGeom>
            <a:effectLst>
              <a:outerShdw blurRad="114300" dist="139700" algn="l" rotWithShape="0">
                <a:prstClr val="black">
                  <a:alpha val="20000"/>
                </a:prstClr>
              </a:outerShdw>
            </a:effectLst>
          </p:spPr>
        </p:pic>
        <p:sp>
          <p:nvSpPr>
            <p:cNvPr id="11" name="文本框 10"/>
            <p:cNvSpPr txBox="1"/>
            <p:nvPr userDrawn="1"/>
          </p:nvSpPr>
          <p:spPr>
            <a:xfrm>
              <a:off x="1565274" y="3089701"/>
              <a:ext cx="3645931" cy="830997"/>
            </a:xfrm>
            <a:prstGeom prst="rect">
              <a:avLst/>
            </a:prstGeom>
            <a:noFill/>
          </p:spPr>
          <p:txBody>
            <a:bodyPr wrap="square" rtlCol="0">
              <a:spAutoFit/>
            </a:bodyPr>
            <a:lstStyle/>
            <a:p>
              <a:pPr algn="ctr">
                <a:spcBef>
                  <a:spcPts val="600"/>
                </a:spcBef>
              </a:pPr>
              <a:r>
                <a:rPr lang="en-US" altLang="zh-CN" sz="4800" b="1" dirty="0">
                  <a:solidFill>
                    <a:schemeClr val="bg1"/>
                  </a:solidFill>
                  <a:effectLst>
                    <a:outerShdw blurRad="38100" dist="38100" dir="2700000" algn="tl">
                      <a:srgbClr val="000000">
                        <a:alpha val="43137"/>
                      </a:srgbClr>
                    </a:outerShdw>
                  </a:effectLst>
                  <a:latin typeface="+mn-lt"/>
                  <a:ea typeface="+mj-ea"/>
                </a:rPr>
                <a:t>PART ONE</a:t>
              </a:r>
              <a:endParaRPr lang="zh-CN" altLang="en-US" sz="4800" b="1" dirty="0">
                <a:solidFill>
                  <a:schemeClr val="bg1"/>
                </a:solidFill>
                <a:effectLst>
                  <a:outerShdw blurRad="38100" dist="38100" dir="2700000" algn="tl">
                    <a:srgbClr val="000000">
                      <a:alpha val="43137"/>
                    </a:srgbClr>
                  </a:outerShdw>
                </a:effectLst>
                <a:latin typeface="+mn-lt"/>
                <a:ea typeface="+mj-ea"/>
              </a:endParaRPr>
            </a:p>
          </p:txBody>
        </p:sp>
        <p:pic>
          <p:nvPicPr>
            <p:cNvPr id="14" name="图片 13"/>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2456845" y="1068380"/>
              <a:ext cx="1867505" cy="1523492"/>
            </a:xfrm>
            <a:prstGeom prst="rect">
              <a:avLst/>
            </a:prstGeom>
          </p:spPr>
        </p:pic>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过渡页-2 R">
    <p:bg>
      <p:bgPr>
        <a:solidFill>
          <a:schemeClr val="bg1"/>
        </a:solidFill>
        <a:effectLst/>
      </p:bgPr>
    </p:bg>
    <p:spTree>
      <p:nvGrpSpPr>
        <p:cNvPr id="1" name=""/>
        <p:cNvGrpSpPr/>
        <p:nvPr/>
      </p:nvGrpSpPr>
      <p:grpSpPr>
        <a:xfrm>
          <a:off x="0" y="0"/>
          <a:ext cx="0" cy="0"/>
          <a:chOff x="0" y="0"/>
          <a:chExt cx="0" cy="0"/>
        </a:xfrm>
      </p:grpSpPr>
      <p:sp>
        <p:nvSpPr>
          <p:cNvPr id="15" name="矩形 14"/>
          <p:cNvSpPr/>
          <p:nvPr userDrawn="1"/>
        </p:nvSpPr>
        <p:spPr>
          <a:xfrm>
            <a:off x="0" y="1348988"/>
            <a:ext cx="12192000" cy="3102323"/>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7" name="图片 16"/>
          <p:cNvPicPr>
            <a:picLocks noChangeAspect="1"/>
          </p:cNvPicPr>
          <p:nvPr userDrawn="1"/>
        </p:nvPicPr>
        <p:blipFill>
          <a:blip r:embed="rId2" cstate="print">
            <a:duotone>
              <a:schemeClr val="accent3">
                <a:shade val="45000"/>
                <a:satMod val="135000"/>
              </a:schemeClr>
              <a:prstClr val="white"/>
            </a:duotone>
            <a:extLst>
              <a:ext uri="{BEBA8EAE-BF5A-486C-A8C5-ECC9F3942E4B}">
                <a14:imgProps xmlns:a14="http://schemas.microsoft.com/office/drawing/2010/main">
                  <a14:imgLayer r:embed="rId3">
                    <a14:imgEffect>
                      <a14:brightnessContrast contrast="40000"/>
                    </a14:imgEffect>
                  </a14:imgLayer>
                </a14:imgProps>
              </a:ext>
              <a:ext uri="{28A0092B-C50C-407E-A947-70E740481C1C}">
                <a14:useLocalDpi xmlns:a14="http://schemas.microsoft.com/office/drawing/2010/main" val="0"/>
              </a:ext>
            </a:extLst>
          </a:blip>
          <a:stretch>
            <a:fillRect/>
          </a:stretch>
        </p:blipFill>
        <p:spPr>
          <a:xfrm>
            <a:off x="6500258" y="0"/>
            <a:ext cx="4824967" cy="6858000"/>
          </a:xfrm>
          <a:prstGeom prst="rect">
            <a:avLst/>
          </a:prstGeom>
          <a:effectLst>
            <a:outerShdw blurRad="114300" dist="139700" algn="l" rotWithShape="0">
              <a:prstClr val="black">
                <a:alpha val="20000"/>
              </a:prstClr>
            </a:outerShdw>
          </a:effectLst>
        </p:spPr>
      </p:pic>
      <p:grpSp>
        <p:nvGrpSpPr>
          <p:cNvPr id="2" name="组合 1"/>
          <p:cNvGrpSpPr/>
          <p:nvPr userDrawn="1"/>
        </p:nvGrpSpPr>
        <p:grpSpPr>
          <a:xfrm>
            <a:off x="0" y="3667540"/>
            <a:ext cx="12192001" cy="682058"/>
            <a:chOff x="0" y="3667540"/>
            <a:chExt cx="12192001" cy="682058"/>
          </a:xfrm>
        </p:grpSpPr>
        <p:pic>
          <p:nvPicPr>
            <p:cNvPr id="13" name="图片 12"/>
            <p:cNvPicPr>
              <a:picLocks noChangeAspect="1"/>
            </p:cNvPicPr>
            <p:nvPr userDrawn="1"/>
          </p:nvPicPr>
          <p:blipFill rotWithShape="1">
            <a:blip r:embed="rId4" cstate="print">
              <a:extLst>
                <a:ext uri="{BEBA8EAE-BF5A-486C-A8C5-ECC9F3942E4B}">
                  <a14:imgProps xmlns:a14="http://schemas.microsoft.com/office/drawing/2010/main">
                    <a14:imgLayer r:embed="rId5">
                      <a14:imgEffect>
                        <a14:brightnessContrast bright="100000" contrast="100000"/>
                      </a14:imgEffect>
                      <a14:imgEffect>
                        <a14:colorTemperature colorTemp="1500"/>
                      </a14:imgEffect>
                      <a14:imgEffect>
                        <a14:saturation sat="0"/>
                      </a14:imgEffect>
                    </a14:imgLayer>
                  </a14:imgProps>
                </a:ext>
              </a:extLst>
            </a:blip>
            <a:srcRect l="52958" t="-16667" r="1202" b="-17979"/>
            <a:stretch>
              <a:fillRect/>
            </a:stretch>
          </p:blipFill>
          <p:spPr>
            <a:xfrm>
              <a:off x="0" y="3667540"/>
              <a:ext cx="6500256" cy="682058"/>
            </a:xfrm>
            <a:prstGeom prst="rect">
              <a:avLst/>
            </a:prstGeom>
          </p:spPr>
        </p:pic>
        <p:pic>
          <p:nvPicPr>
            <p:cNvPr id="18" name="图片 17"/>
            <p:cNvPicPr>
              <a:picLocks noChangeAspect="1"/>
            </p:cNvPicPr>
            <p:nvPr userDrawn="1"/>
          </p:nvPicPr>
          <p:blipFill rotWithShape="1">
            <a:blip r:embed="rId4" cstate="print">
              <a:extLst>
                <a:ext uri="{BEBA8EAE-BF5A-486C-A8C5-ECC9F3942E4B}">
                  <a14:imgProps xmlns:a14="http://schemas.microsoft.com/office/drawing/2010/main">
                    <a14:imgLayer r:embed="rId5">
                      <a14:imgEffect>
                        <a14:brightnessContrast bright="100000" contrast="100000"/>
                      </a14:imgEffect>
                      <a14:imgEffect>
                        <a14:colorTemperature colorTemp="1500"/>
                      </a14:imgEffect>
                      <a14:imgEffect>
                        <a14:saturation sat="0"/>
                      </a14:imgEffect>
                    </a14:imgLayer>
                  </a14:imgProps>
                </a:ext>
              </a:extLst>
            </a:blip>
            <a:srcRect l="52958" t="11456" r="39636" b="-17978"/>
            <a:stretch>
              <a:fillRect/>
            </a:stretch>
          </p:blipFill>
          <p:spPr>
            <a:xfrm>
              <a:off x="11141766" y="3809999"/>
              <a:ext cx="1050235" cy="539597"/>
            </a:xfrm>
            <a:prstGeom prst="rect">
              <a:avLst/>
            </a:prstGeom>
          </p:spPr>
        </p:pic>
      </p:grpSp>
      <p:sp>
        <p:nvSpPr>
          <p:cNvPr id="11" name="文本框 10"/>
          <p:cNvSpPr txBox="1"/>
          <p:nvPr userDrawn="1"/>
        </p:nvSpPr>
        <p:spPr>
          <a:xfrm>
            <a:off x="7089775" y="3089701"/>
            <a:ext cx="3645931" cy="830997"/>
          </a:xfrm>
          <a:prstGeom prst="rect">
            <a:avLst/>
          </a:prstGeom>
          <a:noFill/>
        </p:spPr>
        <p:txBody>
          <a:bodyPr wrap="square" rtlCol="0">
            <a:spAutoFit/>
          </a:bodyPr>
          <a:lstStyle/>
          <a:p>
            <a:pPr algn="ctr">
              <a:spcBef>
                <a:spcPts val="600"/>
              </a:spcBef>
            </a:pPr>
            <a:r>
              <a:rPr lang="en-US" altLang="zh-CN" sz="4800" b="1" dirty="0">
                <a:solidFill>
                  <a:schemeClr val="bg1"/>
                </a:solidFill>
                <a:effectLst>
                  <a:outerShdw blurRad="38100" dist="38100" dir="2700000" algn="tl">
                    <a:srgbClr val="000000">
                      <a:alpha val="43137"/>
                    </a:srgbClr>
                  </a:outerShdw>
                </a:effectLst>
                <a:latin typeface="+mn-lt"/>
                <a:ea typeface="+mj-ea"/>
              </a:rPr>
              <a:t>PART ONE</a:t>
            </a:r>
            <a:endParaRPr lang="zh-CN" altLang="en-US" sz="4800" b="1" dirty="0">
              <a:solidFill>
                <a:schemeClr val="bg1"/>
              </a:solidFill>
              <a:effectLst>
                <a:outerShdw blurRad="38100" dist="38100" dir="2700000" algn="tl">
                  <a:srgbClr val="000000">
                    <a:alpha val="43137"/>
                  </a:srgbClr>
                </a:outerShdw>
              </a:effectLst>
              <a:latin typeface="+mn-lt"/>
              <a:ea typeface="+mj-ea"/>
            </a:endParaRPr>
          </a:p>
        </p:txBody>
      </p:sp>
      <p:pic>
        <p:nvPicPr>
          <p:cNvPr id="14" name="图片 13"/>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7981346" y="1068380"/>
            <a:ext cx="1867505" cy="1523492"/>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过渡页-2 L">
    <p:bg>
      <p:bgPr>
        <a:solidFill>
          <a:schemeClr val="bg1"/>
        </a:solidFill>
        <a:effectLst/>
      </p:bgPr>
    </p:bg>
    <p:spTree>
      <p:nvGrpSpPr>
        <p:cNvPr id="1" name=""/>
        <p:cNvGrpSpPr/>
        <p:nvPr/>
      </p:nvGrpSpPr>
      <p:grpSpPr>
        <a:xfrm>
          <a:off x="0" y="0"/>
          <a:ext cx="0" cy="0"/>
          <a:chOff x="0" y="0"/>
          <a:chExt cx="0" cy="0"/>
        </a:xfrm>
      </p:grpSpPr>
      <p:sp>
        <p:nvSpPr>
          <p:cNvPr id="15" name="矩形 14"/>
          <p:cNvSpPr/>
          <p:nvPr userDrawn="1"/>
        </p:nvSpPr>
        <p:spPr>
          <a:xfrm>
            <a:off x="0" y="1348988"/>
            <a:ext cx="12192000" cy="3102323"/>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8" name="图片 17"/>
          <p:cNvPicPr>
            <a:picLocks noChangeAspect="1"/>
          </p:cNvPicPr>
          <p:nvPr userDrawn="1"/>
        </p:nvPicPr>
        <p:blipFill rotWithShape="1">
          <a:blip r:embed="rId2" cstate="print">
            <a:extLst>
              <a:ext uri="{BEBA8EAE-BF5A-486C-A8C5-ECC9F3942E4B}">
                <a14:imgProps xmlns:a14="http://schemas.microsoft.com/office/drawing/2010/main">
                  <a14:imgLayer r:embed="rId3">
                    <a14:imgEffect>
                      <a14:brightnessContrast bright="100000" contrast="100000"/>
                    </a14:imgEffect>
                    <a14:imgEffect>
                      <a14:colorTemperature colorTemp="1500"/>
                    </a14:imgEffect>
                    <a14:imgEffect>
                      <a14:saturation sat="0"/>
                    </a14:imgEffect>
                  </a14:imgLayer>
                </a14:imgProps>
              </a:ext>
            </a:extLst>
          </a:blip>
          <a:srcRect l="12760" t="-18106" r="1202" b="-17978"/>
          <a:stretch>
            <a:fillRect/>
          </a:stretch>
        </p:blipFill>
        <p:spPr>
          <a:xfrm>
            <a:off x="0" y="3660252"/>
            <a:ext cx="12200467" cy="689345"/>
          </a:xfrm>
          <a:prstGeom prst="rect">
            <a:avLst/>
          </a:prstGeom>
        </p:spPr>
      </p:pic>
      <p:grpSp>
        <p:nvGrpSpPr>
          <p:cNvPr id="9" name="组合 8"/>
          <p:cNvGrpSpPr/>
          <p:nvPr userDrawn="1"/>
        </p:nvGrpSpPr>
        <p:grpSpPr>
          <a:xfrm>
            <a:off x="813833" y="0"/>
            <a:ext cx="4824966" cy="6858000"/>
            <a:chOff x="975758" y="0"/>
            <a:chExt cx="4824966" cy="6858000"/>
          </a:xfrm>
        </p:grpSpPr>
        <p:pic>
          <p:nvPicPr>
            <p:cNvPr id="10" name="图片 9"/>
            <p:cNvPicPr>
              <a:picLocks noChangeAspect="1"/>
            </p:cNvPicPr>
            <p:nvPr userDrawn="1"/>
          </p:nvPicPr>
          <p:blipFill>
            <a:blip r:embed="rId4" cstate="print">
              <a:duotone>
                <a:schemeClr val="accent3">
                  <a:shade val="45000"/>
                  <a:satMod val="135000"/>
                </a:schemeClr>
                <a:prstClr val="white"/>
              </a:duotone>
              <a:extLst>
                <a:ext uri="{BEBA8EAE-BF5A-486C-A8C5-ECC9F3942E4B}">
                  <a14:imgProps xmlns:a14="http://schemas.microsoft.com/office/drawing/2010/main">
                    <a14:imgLayer r:embed="rId5">
                      <a14:imgEffect>
                        <a14:brightnessContrast contrast="40000"/>
                      </a14:imgEffect>
                    </a14:imgLayer>
                  </a14:imgProps>
                </a:ext>
                <a:ext uri="{28A0092B-C50C-407E-A947-70E740481C1C}">
                  <a14:useLocalDpi xmlns:a14="http://schemas.microsoft.com/office/drawing/2010/main" val="0"/>
                </a:ext>
              </a:extLst>
            </a:blip>
            <a:stretch>
              <a:fillRect/>
            </a:stretch>
          </p:blipFill>
          <p:spPr>
            <a:xfrm>
              <a:off x="975758" y="0"/>
              <a:ext cx="4824966" cy="6858000"/>
            </a:xfrm>
            <a:prstGeom prst="rect">
              <a:avLst/>
            </a:prstGeom>
            <a:effectLst>
              <a:outerShdw blurRad="114300" dist="139700" algn="l" rotWithShape="0">
                <a:prstClr val="black">
                  <a:alpha val="20000"/>
                </a:prstClr>
              </a:outerShdw>
            </a:effectLst>
          </p:spPr>
        </p:pic>
        <p:sp>
          <p:nvSpPr>
            <p:cNvPr id="12" name="文本框 11"/>
            <p:cNvSpPr txBox="1"/>
            <p:nvPr userDrawn="1"/>
          </p:nvSpPr>
          <p:spPr>
            <a:xfrm>
              <a:off x="1565274" y="3089701"/>
              <a:ext cx="3645931" cy="830997"/>
            </a:xfrm>
            <a:prstGeom prst="rect">
              <a:avLst/>
            </a:prstGeom>
            <a:noFill/>
          </p:spPr>
          <p:txBody>
            <a:bodyPr wrap="square" rtlCol="0">
              <a:spAutoFit/>
            </a:bodyPr>
            <a:lstStyle/>
            <a:p>
              <a:pPr algn="ctr">
                <a:spcBef>
                  <a:spcPts val="600"/>
                </a:spcBef>
              </a:pPr>
              <a:r>
                <a:rPr lang="en-US" altLang="zh-CN" sz="4800" b="1" dirty="0">
                  <a:solidFill>
                    <a:schemeClr val="bg1"/>
                  </a:solidFill>
                  <a:effectLst>
                    <a:outerShdw blurRad="38100" dist="38100" dir="2700000" algn="tl">
                      <a:srgbClr val="000000">
                        <a:alpha val="43137"/>
                      </a:srgbClr>
                    </a:outerShdw>
                  </a:effectLst>
                  <a:latin typeface="+mn-lt"/>
                  <a:ea typeface="+mj-ea"/>
                </a:rPr>
                <a:t>PART TWO</a:t>
              </a:r>
              <a:endParaRPr lang="zh-CN" altLang="en-US" sz="4800" b="1" dirty="0">
                <a:solidFill>
                  <a:schemeClr val="bg1"/>
                </a:solidFill>
                <a:effectLst>
                  <a:outerShdw blurRad="38100" dist="38100" dir="2700000" algn="tl">
                    <a:srgbClr val="000000">
                      <a:alpha val="43137"/>
                    </a:srgbClr>
                  </a:outerShdw>
                </a:effectLst>
                <a:latin typeface="+mn-lt"/>
                <a:ea typeface="+mj-ea"/>
              </a:endParaRPr>
            </a:p>
          </p:txBody>
        </p:sp>
        <p:pic>
          <p:nvPicPr>
            <p:cNvPr id="13" name="图片 12"/>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2456845" y="1068380"/>
              <a:ext cx="1867505" cy="1523492"/>
            </a:xfrm>
            <a:prstGeom prst="rect">
              <a:avLst/>
            </a:prstGeom>
          </p:spPr>
        </p:pic>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过渡页-2 R">
    <p:bg>
      <p:bgPr>
        <a:solidFill>
          <a:schemeClr val="bg1"/>
        </a:solidFill>
        <a:effectLst/>
      </p:bgPr>
    </p:bg>
    <p:spTree>
      <p:nvGrpSpPr>
        <p:cNvPr id="1" name=""/>
        <p:cNvGrpSpPr/>
        <p:nvPr/>
      </p:nvGrpSpPr>
      <p:grpSpPr>
        <a:xfrm>
          <a:off x="0" y="0"/>
          <a:ext cx="0" cy="0"/>
          <a:chOff x="0" y="0"/>
          <a:chExt cx="0" cy="0"/>
        </a:xfrm>
      </p:grpSpPr>
      <p:sp>
        <p:nvSpPr>
          <p:cNvPr id="15" name="矩形 14"/>
          <p:cNvSpPr/>
          <p:nvPr userDrawn="1"/>
        </p:nvSpPr>
        <p:spPr>
          <a:xfrm>
            <a:off x="0" y="1348988"/>
            <a:ext cx="12192000" cy="3102323"/>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 name="组合 1"/>
          <p:cNvGrpSpPr/>
          <p:nvPr userDrawn="1"/>
        </p:nvGrpSpPr>
        <p:grpSpPr>
          <a:xfrm>
            <a:off x="0" y="3667540"/>
            <a:ext cx="12192001" cy="682058"/>
            <a:chOff x="0" y="3667540"/>
            <a:chExt cx="12192001" cy="682058"/>
          </a:xfrm>
        </p:grpSpPr>
        <p:pic>
          <p:nvPicPr>
            <p:cNvPr id="13" name="图片 12"/>
            <p:cNvPicPr>
              <a:picLocks noChangeAspect="1"/>
            </p:cNvPicPr>
            <p:nvPr userDrawn="1"/>
          </p:nvPicPr>
          <p:blipFill rotWithShape="1">
            <a:blip r:embed="rId2" cstate="print">
              <a:extLst>
                <a:ext uri="{BEBA8EAE-BF5A-486C-A8C5-ECC9F3942E4B}">
                  <a14:imgProps xmlns:a14="http://schemas.microsoft.com/office/drawing/2010/main">
                    <a14:imgLayer r:embed="rId3">
                      <a14:imgEffect>
                        <a14:brightnessContrast bright="100000" contrast="100000"/>
                      </a14:imgEffect>
                      <a14:imgEffect>
                        <a14:colorTemperature colorTemp="1500"/>
                      </a14:imgEffect>
                      <a14:imgEffect>
                        <a14:saturation sat="0"/>
                      </a14:imgEffect>
                    </a14:imgLayer>
                  </a14:imgProps>
                </a:ext>
              </a:extLst>
            </a:blip>
            <a:srcRect l="52958" t="-16667" r="1202" b="-17979"/>
            <a:stretch>
              <a:fillRect/>
            </a:stretch>
          </p:blipFill>
          <p:spPr>
            <a:xfrm>
              <a:off x="0" y="3667540"/>
              <a:ext cx="6500256" cy="682058"/>
            </a:xfrm>
            <a:prstGeom prst="rect">
              <a:avLst/>
            </a:prstGeom>
          </p:spPr>
        </p:pic>
        <p:pic>
          <p:nvPicPr>
            <p:cNvPr id="18" name="图片 17"/>
            <p:cNvPicPr>
              <a:picLocks noChangeAspect="1"/>
            </p:cNvPicPr>
            <p:nvPr userDrawn="1"/>
          </p:nvPicPr>
          <p:blipFill rotWithShape="1">
            <a:blip r:embed="rId2" cstate="print">
              <a:extLst>
                <a:ext uri="{BEBA8EAE-BF5A-486C-A8C5-ECC9F3942E4B}">
                  <a14:imgProps xmlns:a14="http://schemas.microsoft.com/office/drawing/2010/main">
                    <a14:imgLayer r:embed="rId3">
                      <a14:imgEffect>
                        <a14:brightnessContrast bright="100000" contrast="100000"/>
                      </a14:imgEffect>
                      <a14:imgEffect>
                        <a14:colorTemperature colorTemp="1500"/>
                      </a14:imgEffect>
                      <a14:imgEffect>
                        <a14:saturation sat="0"/>
                      </a14:imgEffect>
                    </a14:imgLayer>
                  </a14:imgProps>
                </a:ext>
              </a:extLst>
            </a:blip>
            <a:srcRect l="52958" t="11456" r="39636" b="-17978"/>
            <a:stretch>
              <a:fillRect/>
            </a:stretch>
          </p:blipFill>
          <p:spPr>
            <a:xfrm>
              <a:off x="11141766" y="3809999"/>
              <a:ext cx="1050235" cy="539597"/>
            </a:xfrm>
            <a:prstGeom prst="rect">
              <a:avLst/>
            </a:prstGeom>
          </p:spPr>
        </p:pic>
      </p:grpSp>
      <p:grpSp>
        <p:nvGrpSpPr>
          <p:cNvPr id="16" name="组合 15"/>
          <p:cNvGrpSpPr/>
          <p:nvPr userDrawn="1"/>
        </p:nvGrpSpPr>
        <p:grpSpPr>
          <a:xfrm>
            <a:off x="6500259" y="0"/>
            <a:ext cx="4824966" cy="6858000"/>
            <a:chOff x="975758" y="0"/>
            <a:chExt cx="4824966" cy="6858000"/>
          </a:xfrm>
        </p:grpSpPr>
        <p:pic>
          <p:nvPicPr>
            <p:cNvPr id="8" name="图片 7"/>
            <p:cNvPicPr>
              <a:picLocks noChangeAspect="1"/>
            </p:cNvPicPr>
            <p:nvPr userDrawn="1"/>
          </p:nvPicPr>
          <p:blipFill>
            <a:blip r:embed="rId4" cstate="print">
              <a:duotone>
                <a:schemeClr val="accent3">
                  <a:shade val="45000"/>
                  <a:satMod val="135000"/>
                </a:schemeClr>
                <a:prstClr val="white"/>
              </a:duotone>
              <a:extLst>
                <a:ext uri="{BEBA8EAE-BF5A-486C-A8C5-ECC9F3942E4B}">
                  <a14:imgProps xmlns:a14="http://schemas.microsoft.com/office/drawing/2010/main">
                    <a14:imgLayer r:embed="rId5">
                      <a14:imgEffect>
                        <a14:brightnessContrast contrast="40000"/>
                      </a14:imgEffect>
                    </a14:imgLayer>
                  </a14:imgProps>
                </a:ext>
                <a:ext uri="{28A0092B-C50C-407E-A947-70E740481C1C}">
                  <a14:useLocalDpi xmlns:a14="http://schemas.microsoft.com/office/drawing/2010/main" val="0"/>
                </a:ext>
              </a:extLst>
            </a:blip>
            <a:stretch>
              <a:fillRect/>
            </a:stretch>
          </p:blipFill>
          <p:spPr>
            <a:xfrm>
              <a:off x="975758" y="0"/>
              <a:ext cx="4824966" cy="6858000"/>
            </a:xfrm>
            <a:prstGeom prst="rect">
              <a:avLst/>
            </a:prstGeom>
            <a:effectLst>
              <a:outerShdw blurRad="114300" dist="139700" algn="l" rotWithShape="0">
                <a:prstClr val="black">
                  <a:alpha val="20000"/>
                </a:prstClr>
              </a:outerShdw>
            </a:effectLst>
          </p:spPr>
        </p:pic>
        <p:sp>
          <p:nvSpPr>
            <p:cNvPr id="11" name="文本框 10"/>
            <p:cNvSpPr txBox="1"/>
            <p:nvPr userDrawn="1"/>
          </p:nvSpPr>
          <p:spPr>
            <a:xfrm>
              <a:off x="1565274" y="3089701"/>
              <a:ext cx="3645931" cy="830997"/>
            </a:xfrm>
            <a:prstGeom prst="rect">
              <a:avLst/>
            </a:prstGeom>
            <a:noFill/>
          </p:spPr>
          <p:txBody>
            <a:bodyPr wrap="square" rtlCol="0">
              <a:spAutoFit/>
            </a:bodyPr>
            <a:lstStyle/>
            <a:p>
              <a:pPr algn="ctr">
                <a:spcBef>
                  <a:spcPts val="600"/>
                </a:spcBef>
              </a:pPr>
              <a:r>
                <a:rPr lang="en-US" altLang="zh-CN" sz="4800" b="1" dirty="0">
                  <a:solidFill>
                    <a:schemeClr val="bg1"/>
                  </a:solidFill>
                  <a:effectLst>
                    <a:outerShdw blurRad="38100" dist="38100" dir="2700000" algn="tl">
                      <a:srgbClr val="000000">
                        <a:alpha val="43137"/>
                      </a:srgbClr>
                    </a:outerShdw>
                  </a:effectLst>
                  <a:latin typeface="+mn-lt"/>
                  <a:ea typeface="+mj-ea"/>
                </a:rPr>
                <a:t>PART TWO</a:t>
              </a:r>
              <a:endParaRPr lang="zh-CN" altLang="en-US" sz="4800" b="1" dirty="0">
                <a:solidFill>
                  <a:schemeClr val="bg1"/>
                </a:solidFill>
                <a:effectLst>
                  <a:outerShdw blurRad="38100" dist="38100" dir="2700000" algn="tl">
                    <a:srgbClr val="000000">
                      <a:alpha val="43137"/>
                    </a:srgbClr>
                  </a:outerShdw>
                </a:effectLst>
                <a:latin typeface="+mn-lt"/>
                <a:ea typeface="+mj-ea"/>
              </a:endParaRPr>
            </a:p>
          </p:txBody>
        </p:sp>
        <p:pic>
          <p:nvPicPr>
            <p:cNvPr id="14" name="图片 13"/>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2456845" y="1068380"/>
              <a:ext cx="1867505" cy="1523492"/>
            </a:xfrm>
            <a:prstGeom prst="rect">
              <a:avLst/>
            </a:prstGeom>
          </p:spPr>
        </p:pic>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过渡页-3">
    <p:bg>
      <p:bgPr>
        <a:solidFill>
          <a:schemeClr val="bg1"/>
        </a:solidFill>
        <a:effectLst/>
      </p:bgPr>
    </p:bg>
    <p:spTree>
      <p:nvGrpSpPr>
        <p:cNvPr id="1" name=""/>
        <p:cNvGrpSpPr/>
        <p:nvPr/>
      </p:nvGrpSpPr>
      <p:grpSpPr>
        <a:xfrm>
          <a:off x="0" y="0"/>
          <a:ext cx="0" cy="0"/>
          <a:chOff x="0" y="0"/>
          <a:chExt cx="0" cy="0"/>
        </a:xfrm>
      </p:grpSpPr>
      <p:sp>
        <p:nvSpPr>
          <p:cNvPr id="15" name="矩形 14"/>
          <p:cNvSpPr/>
          <p:nvPr userDrawn="1"/>
        </p:nvSpPr>
        <p:spPr>
          <a:xfrm>
            <a:off x="0" y="1348988"/>
            <a:ext cx="12192000" cy="3102323"/>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3" name="图片 12"/>
          <p:cNvPicPr>
            <a:picLocks noChangeAspect="1"/>
          </p:cNvPicPr>
          <p:nvPr userDrawn="1"/>
        </p:nvPicPr>
        <p:blipFill rotWithShape="1">
          <a:blip r:embed="rId2" cstate="print">
            <a:extLst>
              <a:ext uri="{BEBA8EAE-BF5A-486C-A8C5-ECC9F3942E4B}">
                <a14:imgProps xmlns:a14="http://schemas.microsoft.com/office/drawing/2010/main">
                  <a14:imgLayer r:embed="rId3">
                    <a14:imgEffect>
                      <a14:brightnessContrast bright="100000" contrast="100000"/>
                    </a14:imgEffect>
                    <a14:imgEffect>
                      <a14:colorTemperature colorTemp="1500"/>
                    </a14:imgEffect>
                    <a14:imgEffect>
                      <a14:saturation sat="0"/>
                    </a14:imgEffect>
                  </a14:imgLayer>
                </a14:imgProps>
              </a:ext>
            </a:extLst>
          </a:blip>
          <a:srcRect l="12760" t="-18106" r="1202" b="-17978"/>
          <a:stretch>
            <a:fillRect/>
          </a:stretch>
        </p:blipFill>
        <p:spPr>
          <a:xfrm>
            <a:off x="0" y="3660252"/>
            <a:ext cx="12200467" cy="689345"/>
          </a:xfrm>
          <a:prstGeom prst="rect">
            <a:avLst/>
          </a:prstGeom>
        </p:spPr>
      </p:pic>
      <p:grpSp>
        <p:nvGrpSpPr>
          <p:cNvPr id="3" name="组合 2"/>
          <p:cNvGrpSpPr/>
          <p:nvPr userDrawn="1"/>
        </p:nvGrpSpPr>
        <p:grpSpPr>
          <a:xfrm>
            <a:off x="813831" y="0"/>
            <a:ext cx="4824967" cy="6858000"/>
            <a:chOff x="813831" y="0"/>
            <a:chExt cx="4824967" cy="6858000"/>
          </a:xfrm>
        </p:grpSpPr>
        <p:grpSp>
          <p:nvGrpSpPr>
            <p:cNvPr id="16" name="组合 15"/>
            <p:cNvGrpSpPr/>
            <p:nvPr userDrawn="1"/>
          </p:nvGrpSpPr>
          <p:grpSpPr>
            <a:xfrm>
              <a:off x="813831" y="0"/>
              <a:ext cx="4824967" cy="6858000"/>
              <a:chOff x="975756" y="0"/>
              <a:chExt cx="4824967" cy="6858000"/>
            </a:xfrm>
          </p:grpSpPr>
          <p:pic>
            <p:nvPicPr>
              <p:cNvPr id="8" name="图片 7"/>
              <p:cNvPicPr>
                <a:picLocks noChangeAspect="1"/>
              </p:cNvPicPr>
              <p:nvPr userDrawn="1"/>
            </p:nvPicPr>
            <p:blipFill>
              <a:blip r:embed="rId4" cstate="print">
                <a:duotone>
                  <a:schemeClr val="accent3">
                    <a:shade val="45000"/>
                    <a:satMod val="135000"/>
                  </a:schemeClr>
                  <a:prstClr val="white"/>
                </a:duotone>
                <a:extLst>
                  <a:ext uri="{BEBA8EAE-BF5A-486C-A8C5-ECC9F3942E4B}">
                    <a14:imgProps xmlns:a14="http://schemas.microsoft.com/office/drawing/2010/main">
                      <a14:imgLayer r:embed="rId5">
                        <a14:imgEffect>
                          <a14:brightnessContrast contrast="40000"/>
                        </a14:imgEffect>
                        <a14:imgEffect>
                          <a14:colorTemperature colorTemp="7200"/>
                        </a14:imgEffect>
                        <a14:imgEffect>
                          <a14:sharpenSoften amount="25000"/>
                        </a14:imgEffect>
                      </a14:imgLayer>
                    </a14:imgProps>
                  </a:ext>
                  <a:ext uri="{28A0092B-C50C-407E-A947-70E740481C1C}">
                    <a14:useLocalDpi xmlns:a14="http://schemas.microsoft.com/office/drawing/2010/main" val="0"/>
                  </a:ext>
                </a:extLst>
              </a:blip>
              <a:stretch>
                <a:fillRect/>
              </a:stretch>
            </p:blipFill>
            <p:spPr>
              <a:xfrm>
                <a:off x="975756" y="0"/>
                <a:ext cx="4824967" cy="6858000"/>
              </a:xfrm>
              <a:prstGeom prst="rect">
                <a:avLst/>
              </a:prstGeom>
              <a:effectLst>
                <a:outerShdw blurRad="114300" dist="139700" algn="l" rotWithShape="0">
                  <a:prstClr val="black">
                    <a:alpha val="20000"/>
                  </a:prstClr>
                </a:outerShdw>
              </a:effectLst>
            </p:spPr>
          </p:pic>
          <p:sp>
            <p:nvSpPr>
              <p:cNvPr id="11" name="文本框 10"/>
              <p:cNvSpPr txBox="1"/>
              <p:nvPr userDrawn="1"/>
            </p:nvSpPr>
            <p:spPr>
              <a:xfrm>
                <a:off x="1266825" y="3089701"/>
                <a:ext cx="4257675" cy="830997"/>
              </a:xfrm>
              <a:prstGeom prst="rect">
                <a:avLst/>
              </a:prstGeom>
              <a:noFill/>
            </p:spPr>
            <p:txBody>
              <a:bodyPr wrap="square" rtlCol="0">
                <a:spAutoFit/>
              </a:bodyPr>
              <a:lstStyle/>
              <a:p>
                <a:pPr algn="ctr">
                  <a:spcBef>
                    <a:spcPts val="600"/>
                  </a:spcBef>
                </a:pPr>
                <a:r>
                  <a:rPr lang="en-US" altLang="zh-CN" sz="4800" b="1" dirty="0">
                    <a:solidFill>
                      <a:schemeClr val="bg1"/>
                    </a:solidFill>
                    <a:effectLst>
                      <a:outerShdw blurRad="38100" dist="38100" dir="2700000" algn="tl">
                        <a:srgbClr val="000000">
                          <a:alpha val="43137"/>
                        </a:srgbClr>
                      </a:outerShdw>
                    </a:effectLst>
                    <a:latin typeface="+mn-lt"/>
                    <a:ea typeface="+mj-ea"/>
                  </a:rPr>
                  <a:t>PART THREE</a:t>
                </a:r>
                <a:endParaRPr lang="zh-CN" altLang="en-US" sz="4800" b="1" dirty="0">
                  <a:solidFill>
                    <a:schemeClr val="bg1"/>
                  </a:solidFill>
                  <a:effectLst>
                    <a:outerShdw blurRad="38100" dist="38100" dir="2700000" algn="tl">
                      <a:srgbClr val="000000">
                        <a:alpha val="43137"/>
                      </a:srgbClr>
                    </a:outerShdw>
                  </a:effectLst>
                  <a:latin typeface="+mn-lt"/>
                  <a:ea typeface="+mj-ea"/>
                </a:endParaRPr>
              </a:p>
            </p:txBody>
          </p:sp>
          <p:pic>
            <p:nvPicPr>
              <p:cNvPr id="14" name="图片 13"/>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2456845" y="1068380"/>
                <a:ext cx="1867505" cy="1523492"/>
              </a:xfrm>
              <a:prstGeom prst="rect">
                <a:avLst/>
              </a:prstGeom>
            </p:spPr>
          </p:pic>
        </p:grpSp>
        <p:sp>
          <p:nvSpPr>
            <p:cNvPr id="2" name="矩形 1"/>
            <p:cNvSpPr/>
            <p:nvPr userDrawn="1"/>
          </p:nvSpPr>
          <p:spPr>
            <a:xfrm>
              <a:off x="2738438" y="4081463"/>
              <a:ext cx="1204912" cy="369848"/>
            </a:xfrm>
            <a:prstGeom prst="rect">
              <a:avLst/>
            </a:prstGeom>
            <a:solidFill>
              <a:srgbClr val="B5A3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过渡页-2 R">
    <p:bg>
      <p:bgPr>
        <a:solidFill>
          <a:schemeClr val="bg1"/>
        </a:solidFill>
        <a:effectLst/>
      </p:bgPr>
    </p:bg>
    <p:spTree>
      <p:nvGrpSpPr>
        <p:cNvPr id="1" name=""/>
        <p:cNvGrpSpPr/>
        <p:nvPr/>
      </p:nvGrpSpPr>
      <p:grpSpPr>
        <a:xfrm>
          <a:off x="0" y="0"/>
          <a:ext cx="0" cy="0"/>
          <a:chOff x="0" y="0"/>
          <a:chExt cx="0" cy="0"/>
        </a:xfrm>
      </p:grpSpPr>
      <p:sp>
        <p:nvSpPr>
          <p:cNvPr id="15" name="矩形 14"/>
          <p:cNvSpPr/>
          <p:nvPr userDrawn="1"/>
        </p:nvSpPr>
        <p:spPr>
          <a:xfrm>
            <a:off x="0" y="1348988"/>
            <a:ext cx="12192000" cy="3102323"/>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 name="组合 1"/>
          <p:cNvGrpSpPr/>
          <p:nvPr userDrawn="1"/>
        </p:nvGrpSpPr>
        <p:grpSpPr>
          <a:xfrm>
            <a:off x="0" y="3667540"/>
            <a:ext cx="12192001" cy="682058"/>
            <a:chOff x="0" y="3667540"/>
            <a:chExt cx="12192001" cy="682058"/>
          </a:xfrm>
        </p:grpSpPr>
        <p:pic>
          <p:nvPicPr>
            <p:cNvPr id="13" name="图片 12"/>
            <p:cNvPicPr>
              <a:picLocks noChangeAspect="1"/>
            </p:cNvPicPr>
            <p:nvPr userDrawn="1"/>
          </p:nvPicPr>
          <p:blipFill rotWithShape="1">
            <a:blip r:embed="rId2" cstate="print">
              <a:extLst>
                <a:ext uri="{BEBA8EAE-BF5A-486C-A8C5-ECC9F3942E4B}">
                  <a14:imgProps xmlns:a14="http://schemas.microsoft.com/office/drawing/2010/main">
                    <a14:imgLayer r:embed="rId3">
                      <a14:imgEffect>
                        <a14:brightnessContrast bright="100000" contrast="100000"/>
                      </a14:imgEffect>
                      <a14:imgEffect>
                        <a14:colorTemperature colorTemp="1500"/>
                      </a14:imgEffect>
                      <a14:imgEffect>
                        <a14:saturation sat="0"/>
                      </a14:imgEffect>
                    </a14:imgLayer>
                  </a14:imgProps>
                </a:ext>
              </a:extLst>
            </a:blip>
            <a:srcRect l="52958" t="-16667" r="1202" b="-17979"/>
            <a:stretch>
              <a:fillRect/>
            </a:stretch>
          </p:blipFill>
          <p:spPr>
            <a:xfrm>
              <a:off x="0" y="3667540"/>
              <a:ext cx="6500256" cy="682058"/>
            </a:xfrm>
            <a:prstGeom prst="rect">
              <a:avLst/>
            </a:prstGeom>
          </p:spPr>
        </p:pic>
        <p:pic>
          <p:nvPicPr>
            <p:cNvPr id="18" name="图片 17"/>
            <p:cNvPicPr>
              <a:picLocks noChangeAspect="1"/>
            </p:cNvPicPr>
            <p:nvPr userDrawn="1"/>
          </p:nvPicPr>
          <p:blipFill rotWithShape="1">
            <a:blip r:embed="rId2" cstate="print">
              <a:extLst>
                <a:ext uri="{BEBA8EAE-BF5A-486C-A8C5-ECC9F3942E4B}">
                  <a14:imgProps xmlns:a14="http://schemas.microsoft.com/office/drawing/2010/main">
                    <a14:imgLayer r:embed="rId3">
                      <a14:imgEffect>
                        <a14:brightnessContrast bright="100000" contrast="100000"/>
                      </a14:imgEffect>
                      <a14:imgEffect>
                        <a14:colorTemperature colorTemp="1500"/>
                      </a14:imgEffect>
                      <a14:imgEffect>
                        <a14:saturation sat="0"/>
                      </a14:imgEffect>
                    </a14:imgLayer>
                  </a14:imgProps>
                </a:ext>
              </a:extLst>
            </a:blip>
            <a:srcRect l="52958" t="11456" r="39636" b="-17978"/>
            <a:stretch>
              <a:fillRect/>
            </a:stretch>
          </p:blipFill>
          <p:spPr>
            <a:xfrm>
              <a:off x="11141766" y="3809999"/>
              <a:ext cx="1050235" cy="539597"/>
            </a:xfrm>
            <a:prstGeom prst="rect">
              <a:avLst/>
            </a:prstGeom>
          </p:spPr>
        </p:pic>
      </p:grpSp>
      <p:grpSp>
        <p:nvGrpSpPr>
          <p:cNvPr id="3" name="组合 2"/>
          <p:cNvGrpSpPr/>
          <p:nvPr userDrawn="1"/>
        </p:nvGrpSpPr>
        <p:grpSpPr>
          <a:xfrm>
            <a:off x="6500256" y="0"/>
            <a:ext cx="4824967" cy="6858000"/>
            <a:chOff x="813831" y="0"/>
            <a:chExt cx="4824967" cy="6858000"/>
          </a:xfrm>
        </p:grpSpPr>
        <p:pic>
          <p:nvPicPr>
            <p:cNvPr id="10" name="图片 9"/>
            <p:cNvPicPr>
              <a:picLocks noChangeAspect="1"/>
            </p:cNvPicPr>
            <p:nvPr userDrawn="1"/>
          </p:nvPicPr>
          <p:blipFill>
            <a:blip r:embed="rId4" cstate="print">
              <a:duotone>
                <a:schemeClr val="accent3">
                  <a:shade val="45000"/>
                  <a:satMod val="135000"/>
                </a:schemeClr>
                <a:prstClr val="white"/>
              </a:duotone>
              <a:extLst>
                <a:ext uri="{BEBA8EAE-BF5A-486C-A8C5-ECC9F3942E4B}">
                  <a14:imgProps xmlns:a14="http://schemas.microsoft.com/office/drawing/2010/main">
                    <a14:imgLayer r:embed="rId5">
                      <a14:imgEffect>
                        <a14:brightnessContrast contrast="40000"/>
                      </a14:imgEffect>
                      <a14:imgEffect>
                        <a14:colorTemperature colorTemp="7200"/>
                      </a14:imgEffect>
                      <a14:imgEffect>
                        <a14:sharpenSoften amount="25000"/>
                      </a14:imgEffect>
                    </a14:imgLayer>
                  </a14:imgProps>
                </a:ext>
                <a:ext uri="{28A0092B-C50C-407E-A947-70E740481C1C}">
                  <a14:useLocalDpi xmlns:a14="http://schemas.microsoft.com/office/drawing/2010/main" val="0"/>
                </a:ext>
              </a:extLst>
            </a:blip>
            <a:stretch>
              <a:fillRect/>
            </a:stretch>
          </p:blipFill>
          <p:spPr>
            <a:xfrm>
              <a:off x="813831" y="0"/>
              <a:ext cx="4824967" cy="6858000"/>
            </a:xfrm>
            <a:prstGeom prst="rect">
              <a:avLst/>
            </a:prstGeom>
            <a:effectLst>
              <a:outerShdw blurRad="114300" dist="139700" algn="l" rotWithShape="0">
                <a:prstClr val="black">
                  <a:alpha val="20000"/>
                </a:prstClr>
              </a:outerShdw>
            </a:effectLst>
          </p:spPr>
        </p:pic>
        <p:sp>
          <p:nvSpPr>
            <p:cNvPr id="12" name="矩形 11"/>
            <p:cNvSpPr/>
            <p:nvPr userDrawn="1"/>
          </p:nvSpPr>
          <p:spPr>
            <a:xfrm>
              <a:off x="2738438" y="4081463"/>
              <a:ext cx="1204912" cy="369848"/>
            </a:xfrm>
            <a:prstGeom prst="rect">
              <a:avLst/>
            </a:prstGeom>
            <a:solidFill>
              <a:srgbClr val="B5A3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16" name="组合 15"/>
          <p:cNvGrpSpPr/>
          <p:nvPr userDrawn="1"/>
        </p:nvGrpSpPr>
        <p:grpSpPr>
          <a:xfrm>
            <a:off x="6500257" y="1068380"/>
            <a:ext cx="4824968" cy="2852318"/>
            <a:chOff x="975756" y="1068380"/>
            <a:chExt cx="4824968" cy="2852318"/>
          </a:xfrm>
        </p:grpSpPr>
        <p:sp>
          <p:nvSpPr>
            <p:cNvPr id="11" name="文本框 10"/>
            <p:cNvSpPr txBox="1"/>
            <p:nvPr userDrawn="1"/>
          </p:nvSpPr>
          <p:spPr>
            <a:xfrm>
              <a:off x="975756" y="3089701"/>
              <a:ext cx="4824968" cy="830997"/>
            </a:xfrm>
            <a:prstGeom prst="rect">
              <a:avLst/>
            </a:prstGeom>
            <a:noFill/>
          </p:spPr>
          <p:txBody>
            <a:bodyPr wrap="square" rtlCol="0">
              <a:spAutoFit/>
            </a:bodyPr>
            <a:lstStyle/>
            <a:p>
              <a:pPr algn="ctr">
                <a:spcBef>
                  <a:spcPts val="600"/>
                </a:spcBef>
              </a:pPr>
              <a:r>
                <a:rPr lang="en-US" altLang="zh-CN" sz="4800" b="1" dirty="0">
                  <a:solidFill>
                    <a:schemeClr val="bg1"/>
                  </a:solidFill>
                  <a:effectLst>
                    <a:outerShdw blurRad="38100" dist="38100" dir="2700000" algn="tl">
                      <a:srgbClr val="000000">
                        <a:alpha val="43137"/>
                      </a:srgbClr>
                    </a:outerShdw>
                  </a:effectLst>
                  <a:latin typeface="+mn-lt"/>
                  <a:ea typeface="+mj-ea"/>
                </a:rPr>
                <a:t>PART THREE</a:t>
              </a:r>
              <a:endParaRPr lang="zh-CN" altLang="en-US" sz="4800" b="1" dirty="0">
                <a:solidFill>
                  <a:schemeClr val="bg1"/>
                </a:solidFill>
                <a:effectLst>
                  <a:outerShdw blurRad="38100" dist="38100" dir="2700000" algn="tl">
                    <a:srgbClr val="000000">
                      <a:alpha val="43137"/>
                    </a:srgbClr>
                  </a:outerShdw>
                </a:effectLst>
                <a:latin typeface="+mn-lt"/>
                <a:ea typeface="+mj-ea"/>
              </a:endParaRPr>
            </a:p>
          </p:txBody>
        </p:sp>
        <p:pic>
          <p:nvPicPr>
            <p:cNvPr id="14" name="图片 13"/>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2456845" y="1068380"/>
              <a:ext cx="1867505" cy="1523492"/>
            </a:xfrm>
            <a:prstGeom prst="rect">
              <a:avLst/>
            </a:prstGeom>
          </p:spPr>
        </p:pic>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过渡页-4 L">
    <p:bg>
      <p:bgPr>
        <a:solidFill>
          <a:schemeClr val="bg1"/>
        </a:solidFill>
        <a:effectLst/>
      </p:bgPr>
    </p:bg>
    <p:spTree>
      <p:nvGrpSpPr>
        <p:cNvPr id="1" name=""/>
        <p:cNvGrpSpPr/>
        <p:nvPr/>
      </p:nvGrpSpPr>
      <p:grpSpPr>
        <a:xfrm>
          <a:off x="0" y="0"/>
          <a:ext cx="0" cy="0"/>
          <a:chOff x="0" y="0"/>
          <a:chExt cx="0" cy="0"/>
        </a:xfrm>
      </p:grpSpPr>
      <p:sp>
        <p:nvSpPr>
          <p:cNvPr id="15" name="矩形 14"/>
          <p:cNvSpPr/>
          <p:nvPr userDrawn="1"/>
        </p:nvSpPr>
        <p:spPr>
          <a:xfrm>
            <a:off x="0" y="1348988"/>
            <a:ext cx="12192000" cy="3102323"/>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3" name="图片 12"/>
          <p:cNvPicPr>
            <a:picLocks noChangeAspect="1"/>
          </p:cNvPicPr>
          <p:nvPr userDrawn="1"/>
        </p:nvPicPr>
        <p:blipFill rotWithShape="1">
          <a:blip r:embed="rId2" cstate="print">
            <a:extLst>
              <a:ext uri="{BEBA8EAE-BF5A-486C-A8C5-ECC9F3942E4B}">
                <a14:imgProps xmlns:a14="http://schemas.microsoft.com/office/drawing/2010/main">
                  <a14:imgLayer r:embed="rId3">
                    <a14:imgEffect>
                      <a14:brightnessContrast bright="100000" contrast="100000"/>
                    </a14:imgEffect>
                    <a14:imgEffect>
                      <a14:colorTemperature colorTemp="1500"/>
                    </a14:imgEffect>
                    <a14:imgEffect>
                      <a14:saturation sat="0"/>
                    </a14:imgEffect>
                  </a14:imgLayer>
                </a14:imgProps>
              </a:ext>
            </a:extLst>
          </a:blip>
          <a:srcRect l="12760" t="-18106" r="1202" b="-17978"/>
          <a:stretch>
            <a:fillRect/>
          </a:stretch>
        </p:blipFill>
        <p:spPr>
          <a:xfrm>
            <a:off x="0" y="3660252"/>
            <a:ext cx="12200467" cy="689345"/>
          </a:xfrm>
          <a:prstGeom prst="rect">
            <a:avLst/>
          </a:prstGeom>
        </p:spPr>
      </p:pic>
      <p:grpSp>
        <p:nvGrpSpPr>
          <p:cNvPr id="17" name="组合 16"/>
          <p:cNvGrpSpPr/>
          <p:nvPr userDrawn="1"/>
        </p:nvGrpSpPr>
        <p:grpSpPr>
          <a:xfrm>
            <a:off x="821252" y="0"/>
            <a:ext cx="4824969" cy="6858000"/>
            <a:chOff x="975755" y="0"/>
            <a:chExt cx="4824969" cy="6858000"/>
          </a:xfrm>
        </p:grpSpPr>
        <p:pic>
          <p:nvPicPr>
            <p:cNvPr id="18" name="图片 17"/>
            <p:cNvPicPr>
              <a:picLocks noChangeAspect="1"/>
            </p:cNvPicPr>
            <p:nvPr userDrawn="1"/>
          </p:nvPicPr>
          <p:blipFill>
            <a:blip r:embed="rId4" cstate="print">
              <a:duotone>
                <a:schemeClr val="accent3">
                  <a:shade val="45000"/>
                  <a:satMod val="135000"/>
                </a:schemeClr>
                <a:prstClr val="white"/>
              </a:duotone>
              <a:extLst>
                <a:ext uri="{BEBA8EAE-BF5A-486C-A8C5-ECC9F3942E4B}">
                  <a14:imgProps xmlns:a14="http://schemas.microsoft.com/office/drawing/2010/main">
                    <a14:imgLayer r:embed="rId5">
                      <a14:imgEffect>
                        <a14:brightnessContrast contrast="40000"/>
                      </a14:imgEffect>
                    </a14:imgLayer>
                  </a14:imgProps>
                </a:ext>
                <a:ext uri="{28A0092B-C50C-407E-A947-70E740481C1C}">
                  <a14:useLocalDpi xmlns:a14="http://schemas.microsoft.com/office/drawing/2010/main" val="0"/>
                </a:ext>
              </a:extLst>
            </a:blip>
            <a:stretch>
              <a:fillRect/>
            </a:stretch>
          </p:blipFill>
          <p:spPr>
            <a:xfrm>
              <a:off x="975755" y="0"/>
              <a:ext cx="4824969" cy="6858000"/>
            </a:xfrm>
            <a:prstGeom prst="rect">
              <a:avLst/>
            </a:prstGeom>
            <a:effectLst>
              <a:outerShdw blurRad="114300" dist="139700" algn="l" rotWithShape="0">
                <a:prstClr val="black">
                  <a:alpha val="20000"/>
                </a:prstClr>
              </a:outerShdw>
            </a:effectLst>
          </p:spPr>
        </p:pic>
        <p:sp>
          <p:nvSpPr>
            <p:cNvPr id="19" name="文本框 18"/>
            <p:cNvSpPr txBox="1"/>
            <p:nvPr userDrawn="1"/>
          </p:nvSpPr>
          <p:spPr>
            <a:xfrm>
              <a:off x="1295399" y="3089701"/>
              <a:ext cx="4219575" cy="830997"/>
            </a:xfrm>
            <a:prstGeom prst="rect">
              <a:avLst/>
            </a:prstGeom>
            <a:noFill/>
          </p:spPr>
          <p:txBody>
            <a:bodyPr wrap="square" rtlCol="0">
              <a:spAutoFit/>
            </a:bodyPr>
            <a:lstStyle/>
            <a:p>
              <a:pPr algn="ctr">
                <a:spcBef>
                  <a:spcPts val="600"/>
                </a:spcBef>
              </a:pPr>
              <a:r>
                <a:rPr lang="en-US" altLang="zh-CN" sz="4800" b="1" dirty="0">
                  <a:solidFill>
                    <a:schemeClr val="bg1"/>
                  </a:solidFill>
                  <a:effectLst>
                    <a:outerShdw blurRad="38100" dist="38100" dir="2700000" algn="tl">
                      <a:srgbClr val="000000">
                        <a:alpha val="43137"/>
                      </a:srgbClr>
                    </a:outerShdw>
                  </a:effectLst>
                  <a:latin typeface="+mn-lt"/>
                  <a:ea typeface="+mj-ea"/>
                </a:rPr>
                <a:t>PART FOUR</a:t>
              </a:r>
              <a:endParaRPr lang="zh-CN" altLang="en-US" sz="4800" b="1" dirty="0">
                <a:solidFill>
                  <a:schemeClr val="bg1"/>
                </a:solidFill>
                <a:effectLst>
                  <a:outerShdw blurRad="38100" dist="38100" dir="2700000" algn="tl">
                    <a:srgbClr val="000000">
                      <a:alpha val="43137"/>
                    </a:srgbClr>
                  </a:outerShdw>
                </a:effectLst>
                <a:latin typeface="+mn-lt"/>
                <a:ea typeface="+mj-ea"/>
              </a:endParaRPr>
            </a:p>
          </p:txBody>
        </p:sp>
        <p:pic>
          <p:nvPicPr>
            <p:cNvPr id="20" name="图片 19"/>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2456845" y="1068380"/>
              <a:ext cx="1867505" cy="1523492"/>
            </a:xfrm>
            <a:prstGeom prst="rect">
              <a:avLst/>
            </a:prstGeom>
          </p:spPr>
        </p:pic>
      </p:gr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过渡页-4 R">
    <p:bg>
      <p:bgPr>
        <a:solidFill>
          <a:schemeClr val="bg1"/>
        </a:solidFill>
        <a:effectLst/>
      </p:bgPr>
    </p:bg>
    <p:spTree>
      <p:nvGrpSpPr>
        <p:cNvPr id="1" name=""/>
        <p:cNvGrpSpPr/>
        <p:nvPr/>
      </p:nvGrpSpPr>
      <p:grpSpPr>
        <a:xfrm>
          <a:off x="0" y="0"/>
          <a:ext cx="0" cy="0"/>
          <a:chOff x="0" y="0"/>
          <a:chExt cx="0" cy="0"/>
        </a:xfrm>
      </p:grpSpPr>
      <p:sp>
        <p:nvSpPr>
          <p:cNvPr id="15" name="矩形 14"/>
          <p:cNvSpPr/>
          <p:nvPr userDrawn="1"/>
        </p:nvSpPr>
        <p:spPr>
          <a:xfrm>
            <a:off x="0" y="1348988"/>
            <a:ext cx="12192000" cy="3102323"/>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2" name="组合 11"/>
          <p:cNvGrpSpPr/>
          <p:nvPr userDrawn="1"/>
        </p:nvGrpSpPr>
        <p:grpSpPr>
          <a:xfrm>
            <a:off x="0" y="3719299"/>
            <a:ext cx="12192001" cy="682058"/>
            <a:chOff x="0" y="3667540"/>
            <a:chExt cx="12192001" cy="682058"/>
          </a:xfrm>
        </p:grpSpPr>
        <p:pic>
          <p:nvPicPr>
            <p:cNvPr id="13" name="图片 12"/>
            <p:cNvPicPr>
              <a:picLocks noChangeAspect="1"/>
            </p:cNvPicPr>
            <p:nvPr userDrawn="1"/>
          </p:nvPicPr>
          <p:blipFill rotWithShape="1">
            <a:blip r:embed="rId2" cstate="print">
              <a:extLst>
                <a:ext uri="{BEBA8EAE-BF5A-486C-A8C5-ECC9F3942E4B}">
                  <a14:imgProps xmlns:a14="http://schemas.microsoft.com/office/drawing/2010/main">
                    <a14:imgLayer r:embed="rId3">
                      <a14:imgEffect>
                        <a14:brightnessContrast bright="100000" contrast="100000"/>
                      </a14:imgEffect>
                      <a14:imgEffect>
                        <a14:colorTemperature colorTemp="1500"/>
                      </a14:imgEffect>
                      <a14:imgEffect>
                        <a14:saturation sat="0"/>
                      </a14:imgEffect>
                    </a14:imgLayer>
                  </a14:imgProps>
                </a:ext>
              </a:extLst>
            </a:blip>
            <a:srcRect l="52958" t="-16667" r="1202" b="-17979"/>
            <a:stretch>
              <a:fillRect/>
            </a:stretch>
          </p:blipFill>
          <p:spPr>
            <a:xfrm>
              <a:off x="0" y="3667540"/>
              <a:ext cx="6500256" cy="682058"/>
            </a:xfrm>
            <a:prstGeom prst="rect">
              <a:avLst/>
            </a:prstGeom>
          </p:spPr>
        </p:pic>
        <p:pic>
          <p:nvPicPr>
            <p:cNvPr id="18" name="图片 17"/>
            <p:cNvPicPr>
              <a:picLocks noChangeAspect="1"/>
            </p:cNvPicPr>
            <p:nvPr userDrawn="1"/>
          </p:nvPicPr>
          <p:blipFill rotWithShape="1">
            <a:blip r:embed="rId2" cstate="print">
              <a:extLst>
                <a:ext uri="{BEBA8EAE-BF5A-486C-A8C5-ECC9F3942E4B}">
                  <a14:imgProps xmlns:a14="http://schemas.microsoft.com/office/drawing/2010/main">
                    <a14:imgLayer r:embed="rId3">
                      <a14:imgEffect>
                        <a14:brightnessContrast bright="100000" contrast="100000"/>
                      </a14:imgEffect>
                      <a14:imgEffect>
                        <a14:colorTemperature colorTemp="1500"/>
                      </a14:imgEffect>
                      <a14:imgEffect>
                        <a14:saturation sat="0"/>
                      </a14:imgEffect>
                    </a14:imgLayer>
                  </a14:imgProps>
                </a:ext>
              </a:extLst>
            </a:blip>
            <a:srcRect l="52958" t="11456" r="39636" b="-17978"/>
            <a:stretch>
              <a:fillRect/>
            </a:stretch>
          </p:blipFill>
          <p:spPr>
            <a:xfrm>
              <a:off x="11141766" y="3809999"/>
              <a:ext cx="1050235" cy="539597"/>
            </a:xfrm>
            <a:prstGeom prst="rect">
              <a:avLst/>
            </a:prstGeom>
          </p:spPr>
        </p:pic>
      </p:grpSp>
      <p:grpSp>
        <p:nvGrpSpPr>
          <p:cNvPr id="16" name="组合 15"/>
          <p:cNvGrpSpPr/>
          <p:nvPr userDrawn="1"/>
        </p:nvGrpSpPr>
        <p:grpSpPr>
          <a:xfrm>
            <a:off x="6500256" y="0"/>
            <a:ext cx="4824969" cy="6858000"/>
            <a:chOff x="975755" y="0"/>
            <a:chExt cx="4824969" cy="6858000"/>
          </a:xfrm>
        </p:grpSpPr>
        <p:pic>
          <p:nvPicPr>
            <p:cNvPr id="8" name="图片 7"/>
            <p:cNvPicPr>
              <a:picLocks noChangeAspect="1"/>
            </p:cNvPicPr>
            <p:nvPr userDrawn="1"/>
          </p:nvPicPr>
          <p:blipFill>
            <a:blip r:embed="rId4" cstate="print">
              <a:duotone>
                <a:schemeClr val="accent3">
                  <a:shade val="45000"/>
                  <a:satMod val="135000"/>
                </a:schemeClr>
                <a:prstClr val="white"/>
              </a:duotone>
              <a:extLst>
                <a:ext uri="{BEBA8EAE-BF5A-486C-A8C5-ECC9F3942E4B}">
                  <a14:imgProps xmlns:a14="http://schemas.microsoft.com/office/drawing/2010/main">
                    <a14:imgLayer r:embed="rId5">
                      <a14:imgEffect>
                        <a14:brightnessContrast contrast="40000"/>
                      </a14:imgEffect>
                    </a14:imgLayer>
                  </a14:imgProps>
                </a:ext>
                <a:ext uri="{28A0092B-C50C-407E-A947-70E740481C1C}">
                  <a14:useLocalDpi xmlns:a14="http://schemas.microsoft.com/office/drawing/2010/main" val="0"/>
                </a:ext>
              </a:extLst>
            </a:blip>
            <a:stretch>
              <a:fillRect/>
            </a:stretch>
          </p:blipFill>
          <p:spPr>
            <a:xfrm>
              <a:off x="975755" y="0"/>
              <a:ext cx="4824969" cy="6858000"/>
            </a:xfrm>
            <a:prstGeom prst="rect">
              <a:avLst/>
            </a:prstGeom>
            <a:effectLst>
              <a:outerShdw blurRad="114300" dist="139700" algn="l" rotWithShape="0">
                <a:prstClr val="black">
                  <a:alpha val="20000"/>
                </a:prstClr>
              </a:outerShdw>
            </a:effectLst>
          </p:spPr>
        </p:pic>
        <p:sp>
          <p:nvSpPr>
            <p:cNvPr id="11" name="文本框 10"/>
            <p:cNvSpPr txBox="1"/>
            <p:nvPr userDrawn="1"/>
          </p:nvSpPr>
          <p:spPr>
            <a:xfrm>
              <a:off x="1295399" y="3089701"/>
              <a:ext cx="4219575" cy="830997"/>
            </a:xfrm>
            <a:prstGeom prst="rect">
              <a:avLst/>
            </a:prstGeom>
            <a:noFill/>
          </p:spPr>
          <p:txBody>
            <a:bodyPr wrap="square" rtlCol="0">
              <a:spAutoFit/>
            </a:bodyPr>
            <a:lstStyle/>
            <a:p>
              <a:pPr algn="ctr">
                <a:spcBef>
                  <a:spcPts val="600"/>
                </a:spcBef>
              </a:pPr>
              <a:r>
                <a:rPr lang="en-US" altLang="zh-CN" sz="4800" b="1" dirty="0">
                  <a:solidFill>
                    <a:schemeClr val="bg1"/>
                  </a:solidFill>
                  <a:effectLst>
                    <a:outerShdw blurRad="38100" dist="38100" dir="2700000" algn="tl">
                      <a:srgbClr val="000000">
                        <a:alpha val="43137"/>
                      </a:srgbClr>
                    </a:outerShdw>
                  </a:effectLst>
                  <a:latin typeface="+mn-lt"/>
                  <a:ea typeface="+mj-ea"/>
                </a:rPr>
                <a:t>PART FOUR</a:t>
              </a:r>
              <a:endParaRPr lang="zh-CN" altLang="en-US" sz="4800" b="1" dirty="0">
                <a:solidFill>
                  <a:schemeClr val="bg1"/>
                </a:solidFill>
                <a:effectLst>
                  <a:outerShdw blurRad="38100" dist="38100" dir="2700000" algn="tl">
                    <a:srgbClr val="000000">
                      <a:alpha val="43137"/>
                    </a:srgbClr>
                  </a:outerShdw>
                </a:effectLst>
                <a:latin typeface="+mn-lt"/>
                <a:ea typeface="+mj-ea"/>
              </a:endParaRPr>
            </a:p>
          </p:txBody>
        </p:sp>
        <p:pic>
          <p:nvPicPr>
            <p:cNvPr id="14" name="图片 13"/>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2456845" y="1068380"/>
              <a:ext cx="1867505" cy="1523492"/>
            </a:xfrm>
            <a:prstGeom prst="rect">
              <a:avLst/>
            </a:prstGeom>
          </p:spPr>
        </p:pic>
      </p:gr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内容页">
    <p:spTree>
      <p:nvGrpSpPr>
        <p:cNvPr id="1" name=""/>
        <p:cNvGrpSpPr/>
        <p:nvPr/>
      </p:nvGrpSpPr>
      <p:grpSpPr>
        <a:xfrm>
          <a:off x="0" y="0"/>
          <a:ext cx="0" cy="0"/>
          <a:chOff x="0" y="0"/>
          <a:chExt cx="0" cy="0"/>
        </a:xfrm>
      </p:grpSpPr>
      <p:sp>
        <p:nvSpPr>
          <p:cNvPr id="2" name="矩形 1"/>
          <p:cNvSpPr/>
          <p:nvPr userDrawn="1"/>
        </p:nvSpPr>
        <p:spPr>
          <a:xfrm>
            <a:off x="0" y="6728059"/>
            <a:ext cx="12192000" cy="12994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 name="组合 2"/>
          <p:cNvGrpSpPr/>
          <p:nvPr userDrawn="1"/>
        </p:nvGrpSpPr>
        <p:grpSpPr>
          <a:xfrm>
            <a:off x="-1" y="-1"/>
            <a:ext cx="12182477" cy="856212"/>
            <a:chOff x="-1" y="-1"/>
            <a:chExt cx="12182477" cy="856212"/>
          </a:xfrm>
        </p:grpSpPr>
        <p:sp>
          <p:nvSpPr>
            <p:cNvPr id="4" name="矩形 3"/>
            <p:cNvSpPr/>
            <p:nvPr userDrawn="1"/>
          </p:nvSpPr>
          <p:spPr>
            <a:xfrm>
              <a:off x="0" y="-1"/>
              <a:ext cx="12182476" cy="856212"/>
            </a:xfrm>
            <a:prstGeom prst="rect">
              <a:avLst/>
            </a:prstGeom>
            <a:gradFill>
              <a:gsLst>
                <a:gs pos="0">
                  <a:schemeClr val="accent1">
                    <a:alpha val="77000"/>
                  </a:schemeClr>
                </a:gs>
                <a:gs pos="100000">
                  <a:schemeClr val="accent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微软雅黑" panose="020B0503020204020204" pitchFamily="34" charset="-122"/>
                <a:ea typeface="微软雅黑" panose="020B0503020204020204" pitchFamily="34" charset="-122"/>
              </a:endParaRPr>
            </a:p>
          </p:txBody>
        </p:sp>
        <p:pic>
          <p:nvPicPr>
            <p:cNvPr id="8" name="图片 7"/>
            <p:cNvPicPr>
              <a:picLocks noChangeAspect="1"/>
            </p:cNvPicPr>
            <p:nvPr userDrawn="1"/>
          </p:nvPicPr>
          <p:blipFill rotWithShape="1">
            <a:blip r:embed="rId2" cstate="print">
              <a:extLst>
                <a:ext uri="{BEBA8EAE-BF5A-486C-A8C5-ECC9F3942E4B}">
                  <a14:imgProps xmlns:a14="http://schemas.microsoft.com/office/drawing/2010/main">
                    <a14:imgLayer r:embed="rId3">
                      <a14:imgEffect>
                        <a14:brightnessContrast bright="100000" contrast="100000"/>
                      </a14:imgEffect>
                      <a14:imgEffect>
                        <a14:colorTemperature colorTemp="1500"/>
                      </a14:imgEffect>
                      <a14:imgEffect>
                        <a14:saturation sat="0"/>
                      </a14:imgEffect>
                    </a14:imgLayer>
                  </a14:imgProps>
                </a:ext>
              </a:extLst>
            </a:blip>
            <a:srcRect l="606" t="-18105" r="1201" b="1"/>
            <a:stretch>
              <a:fillRect/>
            </a:stretch>
          </p:blipFill>
          <p:spPr>
            <a:xfrm>
              <a:off x="-1" y="248846"/>
              <a:ext cx="12182477" cy="516766"/>
            </a:xfrm>
            <a:prstGeom prst="rect">
              <a:avLst/>
            </a:prstGeom>
          </p:spPr>
        </p:pic>
        <p:sp>
          <p:nvSpPr>
            <p:cNvPr id="10" name="矩形 9"/>
            <p:cNvSpPr/>
            <p:nvPr userDrawn="1"/>
          </p:nvSpPr>
          <p:spPr>
            <a:xfrm>
              <a:off x="9524" y="-1"/>
              <a:ext cx="12172952" cy="856211"/>
            </a:xfrm>
            <a:prstGeom prst="rect">
              <a:avLst/>
            </a:prstGeom>
            <a:gradFill>
              <a:gsLst>
                <a:gs pos="0">
                  <a:schemeClr val="accent1">
                    <a:alpha val="0"/>
                  </a:schemeClr>
                </a:gs>
                <a:gs pos="100000">
                  <a:schemeClr val="accent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微软雅黑" panose="020B0503020204020204" pitchFamily="34" charset="-122"/>
                <a:ea typeface="微软雅黑" panose="020B0503020204020204" pitchFamily="34" charset="-122"/>
              </a:endParaRPr>
            </a:p>
          </p:txBody>
        </p:sp>
      </p:grpSp>
      <p:sp>
        <p:nvSpPr>
          <p:cNvPr id="11" name="文本占位符 11"/>
          <p:cNvSpPr>
            <a:spLocks noGrp="1"/>
          </p:cNvSpPr>
          <p:nvPr>
            <p:ph type="body" sz="quarter" idx="10" hasCustomPrompt="1"/>
          </p:nvPr>
        </p:nvSpPr>
        <p:spPr>
          <a:xfrm>
            <a:off x="9524" y="1"/>
            <a:ext cx="12172952" cy="856210"/>
          </a:xfrm>
        </p:spPr>
        <p:txBody>
          <a:bodyPr lIns="144000" tIns="144000" rIns="144000" bIns="144000" anchor="ctr" anchorCtr="0">
            <a:noAutofit/>
          </a:bodyPr>
          <a:lstStyle>
            <a:lvl1pPr marL="0" indent="0" algn="ctr">
              <a:buNone/>
              <a:defRPr sz="3600" b="1">
                <a:solidFill>
                  <a:schemeClr val="bg1"/>
                </a:solidFill>
                <a:effectLst>
                  <a:outerShdw blurRad="38100" dist="38100" dir="2700000" algn="tl">
                    <a:srgbClr val="000000">
                      <a:alpha val="43137"/>
                    </a:srgbClr>
                  </a:outerShdw>
                </a:effectLst>
                <a:latin typeface="+mj-ea"/>
                <a:ea typeface="+mj-ea"/>
              </a:defRPr>
            </a:lvl1pPr>
          </a:lstStyle>
          <a:p>
            <a:pPr lvl="0"/>
            <a:r>
              <a:rPr lang="zh-CN" altLang="en-US" dirty="0"/>
              <a:t>单击此处编辑标题</a:t>
            </a:r>
            <a:endParaRPr lang="zh-CN" altLang="en-US" dirty="0"/>
          </a:p>
        </p:txBody>
      </p:sp>
      <p:sp>
        <p:nvSpPr>
          <p:cNvPr id="13" name="内容占位符 12"/>
          <p:cNvSpPr>
            <a:spLocks noGrp="1"/>
          </p:cNvSpPr>
          <p:nvPr>
            <p:ph sz="quarter" idx="11" hasCustomPrompt="1"/>
          </p:nvPr>
        </p:nvSpPr>
        <p:spPr>
          <a:xfrm>
            <a:off x="639763" y="1420813"/>
            <a:ext cx="10964862" cy="4656137"/>
          </a:xfrm>
        </p:spPr>
        <p:txBody>
          <a:bodyPr/>
          <a:lstStyle>
            <a:lvl1pPr marL="457200" indent="-457200">
              <a:lnSpc>
                <a:spcPct val="120000"/>
              </a:lnSpc>
              <a:spcAft>
                <a:spcPts val="600"/>
              </a:spcAft>
              <a:buFont typeface="Arial" panose="020B0604020202090204" pitchFamily="34" charset="0"/>
              <a:buChar char="•"/>
              <a:defRPr>
                <a:solidFill>
                  <a:schemeClr val="tx1"/>
                </a:solidFill>
              </a:defRPr>
            </a:lvl1pPr>
            <a:lvl2pPr marL="800100" indent="-342900">
              <a:lnSpc>
                <a:spcPct val="120000"/>
              </a:lnSpc>
              <a:spcAft>
                <a:spcPts val="600"/>
              </a:spcAft>
              <a:buFont typeface="Arial" panose="020B0604020202090204" pitchFamily="34" charset="0"/>
              <a:buChar char="•"/>
              <a:defRPr>
                <a:solidFill>
                  <a:schemeClr val="tx1"/>
                </a:solidFill>
              </a:defRPr>
            </a:lvl2pPr>
            <a:lvl3pPr marL="1257300" indent="-342900">
              <a:lnSpc>
                <a:spcPct val="120000"/>
              </a:lnSpc>
              <a:spcAft>
                <a:spcPts val="600"/>
              </a:spcAft>
              <a:buFont typeface="Arial" panose="020B0604020202090204" pitchFamily="34" charset="0"/>
              <a:buChar char="•"/>
              <a:defRPr>
                <a:solidFill>
                  <a:schemeClr val="tx1"/>
                </a:solidFill>
              </a:defRPr>
            </a:lvl3pPr>
            <a:lvl4pPr marL="1657350" indent="-285750">
              <a:lnSpc>
                <a:spcPct val="120000"/>
              </a:lnSpc>
              <a:spcAft>
                <a:spcPts val="600"/>
              </a:spcAft>
              <a:buFont typeface="Arial" panose="020B0604020202090204" pitchFamily="34" charset="0"/>
              <a:buChar char="•"/>
              <a:defRPr>
                <a:solidFill>
                  <a:schemeClr val="tx1"/>
                </a:solidFill>
              </a:defRPr>
            </a:lvl4pPr>
            <a:lvl5pPr marL="2114550" indent="-285750">
              <a:lnSpc>
                <a:spcPct val="120000"/>
              </a:lnSpc>
              <a:spcAft>
                <a:spcPts val="600"/>
              </a:spcAft>
              <a:buFont typeface="Arial" panose="020B0604020202090204" pitchFamily="34" charset="0"/>
              <a:buChar char="•"/>
              <a:defRPr>
                <a:solidFill>
                  <a:schemeClr val="tx1"/>
                </a:solidFill>
              </a:defRPr>
            </a:lvl5pPr>
          </a:lstStyle>
          <a:p>
            <a:pPr lvl="0"/>
            <a:r>
              <a:rPr lang="zh-CN" altLang="en-US" dirty="0"/>
              <a:t>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14" name="灯片编号占位符 2"/>
          <p:cNvSpPr>
            <a:spLocks noGrp="1"/>
          </p:cNvSpPr>
          <p:nvPr>
            <p:ph type="sldNum" sz="quarter" idx="12"/>
          </p:nvPr>
        </p:nvSpPr>
        <p:spPr>
          <a:xfrm>
            <a:off x="10982973" y="6348122"/>
            <a:ext cx="1037230" cy="342900"/>
          </a:xfrm>
        </p:spPr>
        <p:txBody>
          <a:bodyPr/>
          <a:lstStyle/>
          <a:p>
            <a:fld id="{6C53781C-E1F6-4315-A39D-61273F2E0596}" type="slidenum">
              <a:rPr lang="zh-CN" altLang="en-US" smtClean="0"/>
            </a:fld>
            <a:endParaRPr lang="zh-CN" altLang="en-US" dirty="0"/>
          </a:p>
        </p:txBody>
      </p:sp>
      <p:pic>
        <p:nvPicPr>
          <p:cNvPr id="12" name="图片 11"/>
          <p:cNvPicPr>
            <a:picLocks noChangeAspect="1"/>
          </p:cNvPicPr>
          <p:nvPr userDrawn="1"/>
        </p:nvPicPr>
        <p:blipFill rotWithShape="1">
          <a:blip r:embed="rId4" cstate="print">
            <a:extLst>
              <a:ext uri="{BEBA8EAE-BF5A-486C-A8C5-ECC9F3942E4B}">
                <a14:imgProps xmlns:a14="http://schemas.microsoft.com/office/drawing/2010/main">
                  <a14:imgLayer r:embed="rId5">
                    <a14:imgEffect>
                      <a14:brightnessContrast bright="20000" contrast="-40000"/>
                    </a14:imgEffect>
                  </a14:imgLayer>
                </a14:imgProps>
              </a:ext>
              <a:ext uri="{28A0092B-C50C-407E-A947-70E740481C1C}">
                <a14:useLocalDpi xmlns:a14="http://schemas.microsoft.com/office/drawing/2010/main" val="0"/>
              </a:ext>
            </a:extLst>
          </a:blip>
          <a:srcRect r="71419"/>
          <a:stretch>
            <a:fillRect/>
          </a:stretch>
        </p:blipFill>
        <p:spPr>
          <a:xfrm>
            <a:off x="193905" y="122669"/>
            <a:ext cx="659535" cy="610870"/>
          </a:xfrm>
          <a:prstGeom prst="rect">
            <a:avLst/>
          </a:prstGeom>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内容页-白底">
    <p:spTree>
      <p:nvGrpSpPr>
        <p:cNvPr id="1" name=""/>
        <p:cNvGrpSpPr/>
        <p:nvPr/>
      </p:nvGrpSpPr>
      <p:grpSpPr>
        <a:xfrm>
          <a:off x="0" y="0"/>
          <a:ext cx="0" cy="0"/>
          <a:chOff x="0" y="0"/>
          <a:chExt cx="0" cy="0"/>
        </a:xfrm>
      </p:grpSpPr>
      <p:sp>
        <p:nvSpPr>
          <p:cNvPr id="2" name="矩形 1"/>
          <p:cNvSpPr/>
          <p:nvPr userDrawn="1"/>
        </p:nvSpPr>
        <p:spPr>
          <a:xfrm>
            <a:off x="0" y="6728059"/>
            <a:ext cx="12192000" cy="12994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 name="组合 2"/>
          <p:cNvGrpSpPr/>
          <p:nvPr userDrawn="1"/>
        </p:nvGrpSpPr>
        <p:grpSpPr>
          <a:xfrm>
            <a:off x="-1" y="-1"/>
            <a:ext cx="12182477" cy="856212"/>
            <a:chOff x="-1" y="-1"/>
            <a:chExt cx="12182477" cy="856212"/>
          </a:xfrm>
        </p:grpSpPr>
        <p:sp>
          <p:nvSpPr>
            <p:cNvPr id="4" name="矩形 3"/>
            <p:cNvSpPr/>
            <p:nvPr userDrawn="1"/>
          </p:nvSpPr>
          <p:spPr>
            <a:xfrm>
              <a:off x="0" y="-1"/>
              <a:ext cx="12182476" cy="856212"/>
            </a:xfrm>
            <a:prstGeom prst="rect">
              <a:avLst/>
            </a:prstGeom>
            <a:gradFill>
              <a:gsLst>
                <a:gs pos="0">
                  <a:schemeClr val="accent1">
                    <a:alpha val="77000"/>
                  </a:schemeClr>
                </a:gs>
                <a:gs pos="100000">
                  <a:schemeClr val="accent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微软雅黑" panose="020B0503020204020204" pitchFamily="34" charset="-122"/>
                <a:ea typeface="微软雅黑" panose="020B0503020204020204" pitchFamily="34" charset="-122"/>
              </a:endParaRPr>
            </a:p>
          </p:txBody>
        </p:sp>
        <p:pic>
          <p:nvPicPr>
            <p:cNvPr id="8" name="图片 7"/>
            <p:cNvPicPr>
              <a:picLocks noChangeAspect="1"/>
            </p:cNvPicPr>
            <p:nvPr userDrawn="1"/>
          </p:nvPicPr>
          <p:blipFill rotWithShape="1">
            <a:blip r:embed="rId2" cstate="print">
              <a:extLst>
                <a:ext uri="{BEBA8EAE-BF5A-486C-A8C5-ECC9F3942E4B}">
                  <a14:imgProps xmlns:a14="http://schemas.microsoft.com/office/drawing/2010/main">
                    <a14:imgLayer r:embed="rId3">
                      <a14:imgEffect>
                        <a14:brightnessContrast bright="100000" contrast="100000"/>
                      </a14:imgEffect>
                      <a14:imgEffect>
                        <a14:colorTemperature colorTemp="1500"/>
                      </a14:imgEffect>
                      <a14:imgEffect>
                        <a14:saturation sat="0"/>
                      </a14:imgEffect>
                    </a14:imgLayer>
                  </a14:imgProps>
                </a:ext>
              </a:extLst>
            </a:blip>
            <a:srcRect l="606" t="-18105" r="1201" b="1"/>
            <a:stretch>
              <a:fillRect/>
            </a:stretch>
          </p:blipFill>
          <p:spPr>
            <a:xfrm>
              <a:off x="-1" y="248846"/>
              <a:ext cx="12182477" cy="516766"/>
            </a:xfrm>
            <a:prstGeom prst="rect">
              <a:avLst/>
            </a:prstGeom>
          </p:spPr>
        </p:pic>
        <p:sp>
          <p:nvSpPr>
            <p:cNvPr id="10" name="矩形 9"/>
            <p:cNvSpPr/>
            <p:nvPr userDrawn="1"/>
          </p:nvSpPr>
          <p:spPr>
            <a:xfrm>
              <a:off x="9524" y="-1"/>
              <a:ext cx="12172952" cy="856211"/>
            </a:xfrm>
            <a:prstGeom prst="rect">
              <a:avLst/>
            </a:prstGeom>
            <a:gradFill>
              <a:gsLst>
                <a:gs pos="0">
                  <a:schemeClr val="accent1">
                    <a:alpha val="0"/>
                  </a:schemeClr>
                </a:gs>
                <a:gs pos="100000">
                  <a:schemeClr val="accent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微软雅黑" panose="020B0503020204020204" pitchFamily="34" charset="-122"/>
                <a:ea typeface="微软雅黑" panose="020B0503020204020204" pitchFamily="34" charset="-122"/>
              </a:endParaRPr>
            </a:p>
          </p:txBody>
        </p:sp>
        <p:pic>
          <p:nvPicPr>
            <p:cNvPr id="9" name="图片 8"/>
            <p:cNvPicPr>
              <a:picLocks noChangeAspect="1"/>
            </p:cNvPicPr>
            <p:nvPr userDrawn="1"/>
          </p:nvPicPr>
          <p:blipFill rotWithShape="1">
            <a:blip r:embed="rId4" cstate="print">
              <a:extLst>
                <a:ext uri="{BEBA8EAE-BF5A-486C-A8C5-ECC9F3942E4B}">
                  <a14:imgProps xmlns:a14="http://schemas.microsoft.com/office/drawing/2010/main">
                    <a14:imgLayer r:embed="rId5">
                      <a14:imgEffect>
                        <a14:brightnessContrast bright="20000" contrast="-40000"/>
                      </a14:imgEffect>
                    </a14:imgLayer>
                  </a14:imgProps>
                </a:ext>
                <a:ext uri="{28A0092B-C50C-407E-A947-70E740481C1C}">
                  <a14:useLocalDpi xmlns:a14="http://schemas.microsoft.com/office/drawing/2010/main" val="0"/>
                </a:ext>
              </a:extLst>
            </a:blip>
            <a:srcRect r="71419"/>
            <a:stretch>
              <a:fillRect/>
            </a:stretch>
          </p:blipFill>
          <p:spPr>
            <a:xfrm>
              <a:off x="193905" y="122669"/>
              <a:ext cx="659535" cy="610870"/>
            </a:xfrm>
            <a:prstGeom prst="rect">
              <a:avLst/>
            </a:prstGeom>
          </p:spPr>
        </p:pic>
      </p:grpSp>
      <p:sp>
        <p:nvSpPr>
          <p:cNvPr id="11" name="文本占位符 11"/>
          <p:cNvSpPr>
            <a:spLocks noGrp="1"/>
          </p:cNvSpPr>
          <p:nvPr>
            <p:ph type="body" sz="quarter" idx="10" hasCustomPrompt="1"/>
          </p:nvPr>
        </p:nvSpPr>
        <p:spPr>
          <a:xfrm>
            <a:off x="9524" y="1"/>
            <a:ext cx="12172952" cy="856210"/>
          </a:xfrm>
        </p:spPr>
        <p:txBody>
          <a:bodyPr lIns="144000" tIns="144000" rIns="144000" bIns="144000" anchor="ctr" anchorCtr="0">
            <a:noAutofit/>
          </a:bodyPr>
          <a:lstStyle>
            <a:lvl1pPr marL="0" indent="0" algn="ctr">
              <a:buNone/>
              <a:defRPr sz="3600" b="1">
                <a:solidFill>
                  <a:schemeClr val="bg1"/>
                </a:solidFill>
                <a:effectLst>
                  <a:outerShdw blurRad="38100" dist="38100" dir="2700000" algn="tl">
                    <a:srgbClr val="000000">
                      <a:alpha val="43137"/>
                    </a:srgbClr>
                  </a:outerShdw>
                </a:effectLst>
                <a:latin typeface="+mj-ea"/>
                <a:ea typeface="+mj-ea"/>
              </a:defRPr>
            </a:lvl1pPr>
          </a:lstStyle>
          <a:p>
            <a:pPr lvl="0"/>
            <a:r>
              <a:rPr lang="zh-CN" altLang="en-US" dirty="0"/>
              <a:t>单击此处编辑标题</a:t>
            </a:r>
            <a:endParaRPr lang="zh-CN" altLang="en-US" dirty="0"/>
          </a:p>
        </p:txBody>
      </p:sp>
      <p:sp>
        <p:nvSpPr>
          <p:cNvPr id="13" name="灯片编号占位符 2"/>
          <p:cNvSpPr>
            <a:spLocks noGrp="1"/>
          </p:cNvSpPr>
          <p:nvPr>
            <p:ph type="sldNum" sz="quarter" idx="12"/>
          </p:nvPr>
        </p:nvSpPr>
        <p:spPr>
          <a:xfrm>
            <a:off x="10982973" y="6348122"/>
            <a:ext cx="1037230" cy="342900"/>
          </a:xfrm>
        </p:spPr>
        <p:txBody>
          <a:bodyPr/>
          <a:lstStyle/>
          <a:p>
            <a:fld id="{6C53781C-E1F6-4315-A39D-61273F2E0596}" type="slidenum">
              <a:rPr lang="zh-CN" altLang="en-US" smtClean="0"/>
            </a:fld>
            <a:endParaRPr lang="zh-CN" altLang="en-US"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内容页-白底">
    <p:spTree>
      <p:nvGrpSpPr>
        <p:cNvPr id="1" name=""/>
        <p:cNvGrpSpPr/>
        <p:nvPr/>
      </p:nvGrpSpPr>
      <p:grpSpPr>
        <a:xfrm>
          <a:off x="0" y="0"/>
          <a:ext cx="0" cy="0"/>
          <a:chOff x="0" y="0"/>
          <a:chExt cx="0" cy="0"/>
        </a:xfrm>
      </p:grpSpPr>
      <p:sp>
        <p:nvSpPr>
          <p:cNvPr id="2" name="矩形 1"/>
          <p:cNvSpPr/>
          <p:nvPr userDrawn="1"/>
        </p:nvSpPr>
        <p:spPr>
          <a:xfrm>
            <a:off x="0" y="6728059"/>
            <a:ext cx="12192000" cy="12994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 name="组合 2"/>
          <p:cNvGrpSpPr/>
          <p:nvPr userDrawn="1"/>
        </p:nvGrpSpPr>
        <p:grpSpPr>
          <a:xfrm>
            <a:off x="-1" y="-1"/>
            <a:ext cx="12182477" cy="856212"/>
            <a:chOff x="-1" y="-1"/>
            <a:chExt cx="12182477" cy="856212"/>
          </a:xfrm>
        </p:grpSpPr>
        <p:sp>
          <p:nvSpPr>
            <p:cNvPr id="4" name="矩形 3"/>
            <p:cNvSpPr/>
            <p:nvPr userDrawn="1"/>
          </p:nvSpPr>
          <p:spPr>
            <a:xfrm>
              <a:off x="0" y="-1"/>
              <a:ext cx="12182476" cy="856212"/>
            </a:xfrm>
            <a:prstGeom prst="rect">
              <a:avLst/>
            </a:prstGeom>
            <a:gradFill>
              <a:gsLst>
                <a:gs pos="0">
                  <a:schemeClr val="accent1">
                    <a:alpha val="77000"/>
                  </a:schemeClr>
                </a:gs>
                <a:gs pos="100000">
                  <a:schemeClr val="accent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微软雅黑" panose="020B0503020204020204" pitchFamily="34" charset="-122"/>
                <a:ea typeface="微软雅黑" panose="020B0503020204020204" pitchFamily="34" charset="-122"/>
              </a:endParaRPr>
            </a:p>
          </p:txBody>
        </p:sp>
        <p:pic>
          <p:nvPicPr>
            <p:cNvPr id="8" name="图片 7"/>
            <p:cNvPicPr>
              <a:picLocks noChangeAspect="1"/>
            </p:cNvPicPr>
            <p:nvPr userDrawn="1"/>
          </p:nvPicPr>
          <p:blipFill rotWithShape="1">
            <a:blip r:embed="rId2" cstate="print">
              <a:extLst>
                <a:ext uri="{BEBA8EAE-BF5A-486C-A8C5-ECC9F3942E4B}">
                  <a14:imgProps xmlns:a14="http://schemas.microsoft.com/office/drawing/2010/main">
                    <a14:imgLayer r:embed="rId3">
                      <a14:imgEffect>
                        <a14:brightnessContrast bright="100000" contrast="100000"/>
                      </a14:imgEffect>
                      <a14:imgEffect>
                        <a14:colorTemperature colorTemp="1500"/>
                      </a14:imgEffect>
                      <a14:imgEffect>
                        <a14:saturation sat="0"/>
                      </a14:imgEffect>
                    </a14:imgLayer>
                  </a14:imgProps>
                </a:ext>
              </a:extLst>
            </a:blip>
            <a:srcRect l="606" t="-18105" r="1201" b="1"/>
            <a:stretch>
              <a:fillRect/>
            </a:stretch>
          </p:blipFill>
          <p:spPr>
            <a:xfrm>
              <a:off x="-1" y="248846"/>
              <a:ext cx="12182477" cy="516766"/>
            </a:xfrm>
            <a:prstGeom prst="rect">
              <a:avLst/>
            </a:prstGeom>
          </p:spPr>
        </p:pic>
        <p:sp>
          <p:nvSpPr>
            <p:cNvPr id="10" name="矩形 9"/>
            <p:cNvSpPr/>
            <p:nvPr userDrawn="1"/>
          </p:nvSpPr>
          <p:spPr>
            <a:xfrm>
              <a:off x="9524" y="-1"/>
              <a:ext cx="12172952" cy="856211"/>
            </a:xfrm>
            <a:prstGeom prst="rect">
              <a:avLst/>
            </a:prstGeom>
            <a:gradFill>
              <a:gsLst>
                <a:gs pos="0">
                  <a:schemeClr val="accent1">
                    <a:alpha val="0"/>
                  </a:schemeClr>
                </a:gs>
                <a:gs pos="100000">
                  <a:schemeClr val="accent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微软雅黑" panose="020B0503020204020204" pitchFamily="34" charset="-122"/>
                <a:ea typeface="微软雅黑" panose="020B0503020204020204" pitchFamily="34" charset="-122"/>
              </a:endParaRPr>
            </a:p>
          </p:txBody>
        </p:sp>
        <p:pic>
          <p:nvPicPr>
            <p:cNvPr id="9" name="图片 8"/>
            <p:cNvPicPr>
              <a:picLocks noChangeAspect="1"/>
            </p:cNvPicPr>
            <p:nvPr userDrawn="1"/>
          </p:nvPicPr>
          <p:blipFill rotWithShape="1">
            <a:blip r:embed="rId4" cstate="print">
              <a:extLst>
                <a:ext uri="{BEBA8EAE-BF5A-486C-A8C5-ECC9F3942E4B}">
                  <a14:imgProps xmlns:a14="http://schemas.microsoft.com/office/drawing/2010/main">
                    <a14:imgLayer r:embed="rId5">
                      <a14:imgEffect>
                        <a14:brightnessContrast bright="20000" contrast="-40000"/>
                      </a14:imgEffect>
                    </a14:imgLayer>
                  </a14:imgProps>
                </a:ext>
                <a:ext uri="{28A0092B-C50C-407E-A947-70E740481C1C}">
                  <a14:useLocalDpi xmlns:a14="http://schemas.microsoft.com/office/drawing/2010/main" val="0"/>
                </a:ext>
              </a:extLst>
            </a:blip>
            <a:srcRect r="71419"/>
            <a:stretch>
              <a:fillRect/>
            </a:stretch>
          </p:blipFill>
          <p:spPr>
            <a:xfrm>
              <a:off x="193905" y="122669"/>
              <a:ext cx="659535" cy="610870"/>
            </a:xfrm>
            <a:prstGeom prst="rect">
              <a:avLst/>
            </a:prstGeom>
          </p:spPr>
        </p:pic>
      </p:grpSp>
      <p:sp>
        <p:nvSpPr>
          <p:cNvPr id="11" name="文本占位符 11"/>
          <p:cNvSpPr>
            <a:spLocks noGrp="1"/>
          </p:cNvSpPr>
          <p:nvPr>
            <p:ph type="body" sz="quarter" idx="10" hasCustomPrompt="1"/>
          </p:nvPr>
        </p:nvSpPr>
        <p:spPr>
          <a:xfrm>
            <a:off x="9524" y="1"/>
            <a:ext cx="12172952" cy="856210"/>
          </a:xfrm>
        </p:spPr>
        <p:txBody>
          <a:bodyPr lIns="144000" tIns="144000" rIns="144000" bIns="144000" anchor="ctr" anchorCtr="0">
            <a:noAutofit/>
          </a:bodyPr>
          <a:lstStyle>
            <a:lvl1pPr marL="0" indent="0" algn="ctr">
              <a:buNone/>
              <a:defRPr sz="3600" b="1">
                <a:solidFill>
                  <a:schemeClr val="bg1"/>
                </a:solidFill>
                <a:effectLst>
                  <a:outerShdw blurRad="38100" dist="38100" dir="2700000" algn="tl">
                    <a:srgbClr val="000000">
                      <a:alpha val="43137"/>
                    </a:srgbClr>
                  </a:outerShdw>
                </a:effectLst>
                <a:latin typeface="+mj-ea"/>
                <a:ea typeface="+mj-ea"/>
              </a:defRPr>
            </a:lvl1pPr>
          </a:lstStyle>
          <a:p>
            <a:pPr lvl="0"/>
            <a:r>
              <a:rPr lang="zh-CN" altLang="en-US" dirty="0"/>
              <a:t>单击此处编辑标题</a:t>
            </a:r>
            <a:endParaRPr lang="zh-CN" altLang="en-US" dirty="0"/>
          </a:p>
        </p:txBody>
      </p:sp>
      <p:sp>
        <p:nvSpPr>
          <p:cNvPr id="13" name="灯片编号占位符 2"/>
          <p:cNvSpPr>
            <a:spLocks noGrp="1"/>
          </p:cNvSpPr>
          <p:nvPr>
            <p:ph type="sldNum" sz="quarter" idx="12"/>
          </p:nvPr>
        </p:nvSpPr>
        <p:spPr>
          <a:xfrm>
            <a:off x="10982973" y="6348122"/>
            <a:ext cx="1037230" cy="342900"/>
          </a:xfrm>
        </p:spPr>
        <p:txBody>
          <a:bodyPr/>
          <a:lstStyle/>
          <a:p>
            <a:fld id="{6C53781C-E1F6-4315-A39D-61273F2E0596}" type="slidenum">
              <a:rPr lang="zh-CN" altLang="en-US" smtClean="0"/>
            </a:fld>
            <a:endParaRPr lang="zh-CN" altLang="en-US" dirty="0"/>
          </a:p>
        </p:txBody>
      </p:sp>
      <p:sp>
        <p:nvSpPr>
          <p:cNvPr id="12" name="矩形 11"/>
          <p:cNvSpPr/>
          <p:nvPr userDrawn="1"/>
        </p:nvSpPr>
        <p:spPr>
          <a:xfrm>
            <a:off x="140671" y="6291045"/>
            <a:ext cx="5669757" cy="307777"/>
          </a:xfrm>
          <a:prstGeom prst="rect">
            <a:avLst/>
          </a:prstGeom>
        </p:spPr>
        <p:txBody>
          <a:bodyPr wrap="none">
            <a:spAutoFit/>
          </a:bodyPr>
          <a:lstStyle/>
          <a:p>
            <a:r>
              <a:rPr lang="en-US" altLang="zh-CN" sz="1400" dirty="0">
                <a:solidFill>
                  <a:schemeClr val="bg1">
                    <a:lumMod val="75000"/>
                  </a:schemeClr>
                </a:solidFill>
              </a:rPr>
              <a:t>SJTU ICON LIBRARY Copyright © 2021 Invictus. All rights reserved. </a:t>
            </a:r>
            <a:endParaRPr lang="zh-CN" altLang="en-US" sz="1400" dirty="0">
              <a:solidFill>
                <a:schemeClr val="bg1">
                  <a:lumMod val="75000"/>
                </a:schemeClr>
              </a:solidFil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纯白">
    <p:spTree>
      <p:nvGrpSpPr>
        <p:cNvPr id="1" name=""/>
        <p:cNvGrpSpPr/>
        <p:nvPr/>
      </p:nvGrpSpPr>
      <p:grpSpPr>
        <a:xfrm>
          <a:off x="0" y="0"/>
          <a:ext cx="0" cy="0"/>
          <a:chOff x="0" y="0"/>
          <a:chExt cx="0" cy="0"/>
        </a:xfrm>
      </p:grpSpPr>
      <p:sp>
        <p:nvSpPr>
          <p:cNvPr id="3" name="灯片编号占位符 2"/>
          <p:cNvSpPr>
            <a:spLocks noGrp="1"/>
          </p:cNvSpPr>
          <p:nvPr>
            <p:ph type="sldNum" sz="quarter" idx="12"/>
          </p:nvPr>
        </p:nvSpPr>
        <p:spPr>
          <a:xfrm>
            <a:off x="10982973" y="6348122"/>
            <a:ext cx="1037230" cy="342900"/>
          </a:xfrm>
        </p:spPr>
        <p:txBody>
          <a:bodyPr/>
          <a:lstStyle/>
          <a:p>
            <a:fld id="{6C53781C-E1F6-4315-A39D-61273F2E0596}" type="slidenum">
              <a:rPr lang="zh-CN" altLang="en-US" smtClean="0"/>
            </a:fld>
            <a:endParaRPr lang="zh-CN" alt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封底-1">
    <p:spTree>
      <p:nvGrpSpPr>
        <p:cNvPr id="1" name=""/>
        <p:cNvGrpSpPr/>
        <p:nvPr/>
      </p:nvGrpSpPr>
      <p:grpSpPr>
        <a:xfrm>
          <a:off x="0" y="0"/>
          <a:ext cx="0" cy="0"/>
          <a:chOff x="0" y="0"/>
          <a:chExt cx="0" cy="0"/>
        </a:xfrm>
      </p:grpSpPr>
      <p:sp>
        <p:nvSpPr>
          <p:cNvPr id="5" name="矩形 4"/>
          <p:cNvSpPr/>
          <p:nvPr userDrawn="1"/>
        </p:nvSpPr>
        <p:spPr>
          <a:xfrm>
            <a:off x="0" y="0"/>
            <a:ext cx="12192000" cy="6858000"/>
          </a:xfrm>
          <a:prstGeom prst="rect">
            <a:avLst/>
          </a:prstGeom>
          <a:blipFill dpi="0" rotWithShape="1">
            <a:blip r:embed="rId2">
              <a:duotone>
                <a:schemeClr val="bg2">
                  <a:shade val="45000"/>
                  <a:satMod val="135000"/>
                </a:schemeClr>
                <a:prstClr val="white"/>
              </a:duotone>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 name="矩形 5"/>
          <p:cNvSpPr/>
          <p:nvPr userDrawn="1"/>
        </p:nvSpPr>
        <p:spPr>
          <a:xfrm>
            <a:off x="0" y="573058"/>
            <a:ext cx="12192000" cy="3887182"/>
          </a:xfrm>
          <a:prstGeom prst="rect">
            <a:avLst/>
          </a:prstGeom>
          <a:gradFill>
            <a:gsLst>
              <a:gs pos="0">
                <a:schemeClr val="accent1"/>
              </a:gs>
              <a:gs pos="100000">
                <a:schemeClr val="accent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zh-CN" altLang="en-US" sz="2400">
              <a:latin typeface="微软雅黑" panose="020B0503020204020204" pitchFamily="34" charset="-122"/>
              <a:ea typeface="微软雅黑" panose="020B0503020204020204" pitchFamily="34" charset="-122"/>
            </a:endParaRPr>
          </a:p>
        </p:txBody>
      </p:sp>
      <p:pic>
        <p:nvPicPr>
          <p:cNvPr id="10" name="图片 9"/>
          <p:cNvPicPr>
            <a:picLocks noChangeAspect="1"/>
          </p:cNvPicPr>
          <p:nvPr userDrawn="1"/>
        </p:nvPicPr>
        <p:blipFill rotWithShape="1">
          <a:blip r:embed="rId3" cstate="print">
            <a:extLst>
              <a:ext uri="{BEBA8EAE-BF5A-486C-A8C5-ECC9F3942E4B}">
                <a14:imgProps xmlns:a14="http://schemas.microsoft.com/office/drawing/2010/main">
                  <a14:imgLayer r:embed="rId4">
                    <a14:imgEffect>
                      <a14:brightnessContrast bright="100000" contrast="100000"/>
                    </a14:imgEffect>
                    <a14:imgEffect>
                      <a14:colorTemperature colorTemp="1500"/>
                    </a14:imgEffect>
                    <a14:imgEffect>
                      <a14:saturation sat="0"/>
                    </a14:imgEffect>
                  </a14:imgLayer>
                </a14:imgProps>
              </a:ext>
            </a:extLst>
          </a:blip>
          <a:srcRect l="26009" t="-18105" r="1201" b="1"/>
          <a:stretch>
            <a:fillRect/>
          </a:stretch>
        </p:blipFill>
        <p:spPr>
          <a:xfrm>
            <a:off x="-8468" y="3503541"/>
            <a:ext cx="12200467" cy="660689"/>
          </a:xfrm>
          <a:prstGeom prst="rect">
            <a:avLst/>
          </a:prstGeom>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封底-2">
    <p:spTree>
      <p:nvGrpSpPr>
        <p:cNvPr id="1" name=""/>
        <p:cNvGrpSpPr/>
        <p:nvPr/>
      </p:nvGrpSpPr>
      <p:grpSpPr>
        <a:xfrm>
          <a:off x="0" y="0"/>
          <a:ext cx="0" cy="0"/>
          <a:chOff x="0" y="0"/>
          <a:chExt cx="0" cy="0"/>
        </a:xfrm>
      </p:grpSpPr>
      <p:grpSp>
        <p:nvGrpSpPr>
          <p:cNvPr id="3" name="组合 2"/>
          <p:cNvGrpSpPr/>
          <p:nvPr userDrawn="1"/>
        </p:nvGrpSpPr>
        <p:grpSpPr>
          <a:xfrm>
            <a:off x="-1" y="0"/>
            <a:ext cx="12192001" cy="6858000"/>
            <a:chOff x="-1" y="0"/>
            <a:chExt cx="12192001" cy="5409398"/>
          </a:xfrm>
        </p:grpSpPr>
        <p:sp>
          <p:nvSpPr>
            <p:cNvPr id="2" name="矩形 1"/>
            <p:cNvSpPr/>
            <p:nvPr userDrawn="1"/>
          </p:nvSpPr>
          <p:spPr>
            <a:xfrm>
              <a:off x="0" y="3295018"/>
              <a:ext cx="12192000" cy="2114380"/>
            </a:xfrm>
            <a:prstGeom prst="rect">
              <a:avLst/>
            </a:prstGeom>
            <a:gradFill>
              <a:gsLst>
                <a:gs pos="0">
                  <a:schemeClr val="accent1">
                    <a:alpha val="62000"/>
                  </a:schemeClr>
                </a:gs>
                <a:gs pos="100000">
                  <a:schemeClr val="accent1"/>
                </a:gs>
              </a:gsLst>
              <a:lin ang="16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userDrawn="1"/>
          </p:nvSpPr>
          <p:spPr>
            <a:xfrm>
              <a:off x="-1" y="0"/>
              <a:ext cx="12192001" cy="329501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pic>
        <p:nvPicPr>
          <p:cNvPr id="6" name="图片 5"/>
          <p:cNvPicPr>
            <a:picLocks noChangeAspect="1"/>
          </p:cNvPicPr>
          <p:nvPr userDrawn="1"/>
        </p:nvPicPr>
        <p:blipFill rotWithShape="1">
          <a:blip r:embed="rId2" cstate="print">
            <a:extLst>
              <a:ext uri="{BEBA8EAE-BF5A-486C-A8C5-ECC9F3942E4B}">
                <a14:imgProps xmlns:a14="http://schemas.microsoft.com/office/drawing/2010/main">
                  <a14:imgLayer r:embed="rId3">
                    <a14:imgEffect>
                      <a14:brightnessContrast bright="100000" contrast="100000"/>
                    </a14:imgEffect>
                    <a14:imgEffect>
                      <a14:colorTemperature colorTemp="1500"/>
                    </a14:imgEffect>
                    <a14:imgEffect>
                      <a14:saturation sat="0"/>
                    </a14:imgEffect>
                  </a14:imgLayer>
                </a14:imgProps>
              </a:ext>
            </a:extLst>
          </a:blip>
          <a:srcRect l="26009" t="-18105" r="1201" b="1"/>
          <a:stretch>
            <a:fillRect/>
          </a:stretch>
        </p:blipFill>
        <p:spPr>
          <a:xfrm>
            <a:off x="0" y="5877294"/>
            <a:ext cx="12200467" cy="660689"/>
          </a:xfrm>
          <a:prstGeom prst="rect">
            <a:avLst/>
          </a:prstGeom>
        </p:spPr>
      </p:pic>
      <p:pic>
        <p:nvPicPr>
          <p:cNvPr id="9" name="图片 8"/>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4838640" y="350311"/>
            <a:ext cx="2534311" cy="2067465"/>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7" Type="http://schemas.openxmlformats.org/officeDocument/2006/relationships/theme" Target="../theme/theme1.xml"/><Relationship Id="rId16" Type="http://schemas.openxmlformats.org/officeDocument/2006/relationships/slideLayout" Target="../slideLayouts/slideLayout16.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endParaRPr lang="zh-CN" altLang="en-US"/>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5F4518D-F1E1-42FE-ADB3-4B6EED642878}" type="datetimeFigureOut">
              <a:rPr lang="zh-CN" altLang="en-US" smtClean="0"/>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F756E6-AE62-4EF0-9CF6-DF3EBBB7839F}"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9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9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9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11.xml"/><Relationship Id="rId1" Type="http://schemas.openxmlformats.org/officeDocument/2006/relationships/image" Target="../media/image21.png"/></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11.xml"/><Relationship Id="rId2" Type="http://schemas.openxmlformats.org/officeDocument/2006/relationships/image" Target="../media/image23.png"/><Relationship Id="rId1" Type="http://schemas.openxmlformats.org/officeDocument/2006/relationships/image" Target="../media/image2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slideLayout" Target="../slideLayouts/slideLayout11.xml"/><Relationship Id="rId1" Type="http://schemas.openxmlformats.org/officeDocument/2006/relationships/image" Target="../media/image24.png"/></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11.xml"/><Relationship Id="rId1" Type="http://schemas.openxmlformats.org/officeDocument/2006/relationships/image" Target="../media/image25.png"/></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11.xml"/><Relationship Id="rId2" Type="http://schemas.openxmlformats.org/officeDocument/2006/relationships/image" Target="../media/image27.png"/><Relationship Id="rId1" Type="http://schemas.openxmlformats.org/officeDocument/2006/relationships/image" Target="../media/image2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2" Type="http://schemas.openxmlformats.org/officeDocument/2006/relationships/slideLayout" Target="../slideLayouts/slideLayout11.xml"/><Relationship Id="rId1" Type="http://schemas.openxmlformats.org/officeDocument/2006/relationships/tags" Target="../tags/tag1.xml"/></Relationships>
</file>

<file path=ppt/slides/_rels/slide16.xml.rels><?xml version="1.0" encoding="UTF-8" standalone="yes"?>
<Relationships xmlns="http://schemas.openxmlformats.org/package/2006/relationships"><Relationship Id="rId2" Type="http://schemas.openxmlformats.org/officeDocument/2006/relationships/slideLayout" Target="../slideLayouts/slideLayout11.xml"/><Relationship Id="rId1" Type="http://schemas.openxmlformats.org/officeDocument/2006/relationships/image" Target="../media/image28.png"/></Relationships>
</file>

<file path=ppt/slides/_rels/slide17.xml.rels><?xml version="1.0" encoding="UTF-8" standalone="yes"?>
<Relationships xmlns="http://schemas.openxmlformats.org/package/2006/relationships"><Relationship Id="rId2" Type="http://schemas.openxmlformats.org/officeDocument/2006/relationships/slideLayout" Target="../slideLayouts/slideLayout11.xml"/><Relationship Id="rId1" Type="http://schemas.openxmlformats.org/officeDocument/2006/relationships/image" Target="../media/image29.png"/></Relationships>
</file>

<file path=ppt/slides/_rels/slide18.xml.rels><?xml version="1.0" encoding="UTF-8" standalone="yes"?>
<Relationships xmlns="http://schemas.openxmlformats.org/package/2006/relationships"><Relationship Id="rId2" Type="http://schemas.openxmlformats.org/officeDocument/2006/relationships/slideLayout" Target="../slideLayouts/slideLayout11.xml"/><Relationship Id="rId1" Type="http://schemas.openxmlformats.org/officeDocument/2006/relationships/image" Target="../media/image3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11"/>
          <p:cNvSpPr txBox="1"/>
          <p:nvPr/>
        </p:nvSpPr>
        <p:spPr>
          <a:xfrm>
            <a:off x="628650" y="1098957"/>
            <a:ext cx="10982325" cy="1447800"/>
          </a:xfrm>
          <a:prstGeom prst="rect">
            <a:avLst/>
          </a:prstGeom>
        </p:spPr>
        <p:txBody>
          <a:bodyPr lIns="144000" tIns="144000" rIns="144000" bIns="144000" anchor="ctr" anchorCtr="0">
            <a:normAutofit fontScale="47500" lnSpcReduction="20000"/>
          </a:bodyPr>
          <a:lstStyle>
            <a:lvl1pPr marL="0" indent="0" algn="ctr" defTabSz="914400" rtl="0" eaLnBrk="1" latinLnBrk="0" hangingPunct="1">
              <a:lnSpc>
                <a:spcPct val="90000"/>
              </a:lnSpc>
              <a:spcBef>
                <a:spcPts val="1000"/>
              </a:spcBef>
              <a:buFont typeface="Arial" panose="020B0604020202090204" pitchFamily="34" charset="0"/>
              <a:buNone/>
              <a:defRPr sz="6600" b="1" kern="1200">
                <a:solidFill>
                  <a:schemeClr val="bg1"/>
                </a:solidFill>
                <a:effectLst>
                  <a:outerShdw blurRad="38100" dist="38100" dir="2700000" algn="tl">
                    <a:srgbClr val="000000">
                      <a:alpha val="43137"/>
                    </a:srgbClr>
                  </a:outerShdw>
                </a:effectLst>
                <a:latin typeface="+mj-ea"/>
                <a:ea typeface="+mj-ea"/>
                <a:cs typeface="+mn-cs"/>
              </a:defRPr>
            </a:lvl1pPr>
            <a:lvl2pPr marL="685800" indent="-228600" algn="l" defTabSz="914400" rtl="0" eaLnBrk="1" latinLnBrk="0" hangingPunct="1">
              <a:lnSpc>
                <a:spcPct val="90000"/>
              </a:lnSpc>
              <a:spcBef>
                <a:spcPts val="500"/>
              </a:spcBef>
              <a:buFont typeface="Arial" panose="020B060402020209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9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a:lstStyle>
          <a:p>
            <a:pPr>
              <a:lnSpc>
                <a:spcPct val="170000"/>
              </a:lnSpc>
            </a:pPr>
            <a:r>
              <a:rPr lang="zh-CN" altLang="en-US" dirty="0"/>
              <a:t>面向生成式多模态大模型的内容生成与表征嵌入统一框架研究</a:t>
            </a:r>
            <a:endParaRPr lang="en-US" altLang="zh-CN" dirty="0"/>
          </a:p>
        </p:txBody>
      </p:sp>
      <p:sp>
        <p:nvSpPr>
          <p:cNvPr id="6" name="文本占位符 11"/>
          <p:cNvSpPr txBox="1"/>
          <p:nvPr/>
        </p:nvSpPr>
        <p:spPr>
          <a:xfrm>
            <a:off x="2382933" y="3634988"/>
            <a:ext cx="7385241" cy="771882"/>
          </a:xfrm>
          <a:prstGeom prst="rect">
            <a:avLst/>
          </a:prstGeom>
        </p:spPr>
        <p:txBody>
          <a:bodyPr lIns="144000" tIns="144000" rIns="144000" bIns="144000" anchor="ctr" anchorCtr="0">
            <a:noAutofit/>
          </a:bodyPr>
          <a:lstStyle>
            <a:lvl1pPr marL="0" indent="0" algn="ctr" defTabSz="914400" rtl="0" eaLnBrk="1" latinLnBrk="0" hangingPunct="1">
              <a:lnSpc>
                <a:spcPct val="100000"/>
              </a:lnSpc>
              <a:spcBef>
                <a:spcPts val="600"/>
              </a:spcBef>
              <a:buFont typeface="Arial" panose="020B0604020202090204" pitchFamily="34" charset="0"/>
              <a:buNone/>
              <a:defRPr sz="3600" b="1" kern="1200">
                <a:solidFill>
                  <a:schemeClr val="accent1"/>
                </a:solidFill>
                <a:latin typeface="+mj-ea"/>
                <a:ea typeface="+mj-ea"/>
                <a:cs typeface="+mn-cs"/>
              </a:defRPr>
            </a:lvl1pPr>
            <a:lvl2pPr marL="685800" indent="-228600" algn="l" defTabSz="914400" rtl="0" eaLnBrk="1" latinLnBrk="0" hangingPunct="1">
              <a:lnSpc>
                <a:spcPct val="90000"/>
              </a:lnSpc>
              <a:spcBef>
                <a:spcPts val="500"/>
              </a:spcBef>
              <a:buFont typeface="Arial" panose="020B060402020209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9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a:lstStyle>
          <a:p>
            <a:r>
              <a:rPr lang="zh-CN" altLang="en-US" dirty="0"/>
              <a:t>中期验收</a:t>
            </a:r>
            <a:endParaRPr lang="zh-CN" altLang="en-US" dirty="0"/>
          </a:p>
        </p:txBody>
      </p:sp>
      <p:sp>
        <p:nvSpPr>
          <p:cNvPr id="3" name="TextBox 2"/>
          <p:cNvSpPr txBox="1"/>
          <p:nvPr/>
        </p:nvSpPr>
        <p:spPr>
          <a:xfrm>
            <a:off x="5681230" y="4712532"/>
            <a:ext cx="877163" cy="646331"/>
          </a:xfrm>
          <a:prstGeom prst="rect">
            <a:avLst/>
          </a:prstGeom>
          <a:noFill/>
        </p:spPr>
        <p:txBody>
          <a:bodyPr wrap="none" rtlCol="0">
            <a:spAutoFit/>
          </a:bodyPr>
          <a:lstStyle/>
          <a:p>
            <a:r>
              <a:rPr lang="en-US" dirty="0"/>
              <a:t>刘卫文</a:t>
            </a:r>
            <a:endParaRPr lang="en-US" dirty="0"/>
          </a:p>
          <a:p>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4910975" y="1360031"/>
            <a:ext cx="697345" cy="697345"/>
          </a:xfrm>
          <a:prstGeom prst="rect">
            <a:avLst/>
          </a:prstGeom>
          <a:noFill/>
          <a:ln w="1270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3200" dirty="0">
                <a:solidFill>
                  <a:schemeClr val="accent6"/>
                </a:solidFill>
                <a:latin typeface="+mn-ea"/>
              </a:rPr>
              <a:t>1</a:t>
            </a:r>
            <a:endParaRPr lang="zh-CN" altLang="en-US" sz="3200" dirty="0">
              <a:solidFill>
                <a:schemeClr val="accent6"/>
              </a:solidFill>
              <a:latin typeface="+mn-ea"/>
            </a:endParaRPr>
          </a:p>
        </p:txBody>
      </p:sp>
      <p:sp>
        <p:nvSpPr>
          <p:cNvPr id="3" name="矩形 2"/>
          <p:cNvSpPr/>
          <p:nvPr/>
        </p:nvSpPr>
        <p:spPr>
          <a:xfrm>
            <a:off x="4910974" y="2502731"/>
            <a:ext cx="697345" cy="697345"/>
          </a:xfrm>
          <a:prstGeom prst="rect">
            <a:avLst/>
          </a:prstGeom>
          <a:noFill/>
          <a:ln w="1270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3200" dirty="0">
                <a:solidFill>
                  <a:schemeClr val="accent6"/>
                </a:solidFill>
                <a:latin typeface="+mn-ea"/>
              </a:rPr>
              <a:t>2</a:t>
            </a:r>
            <a:endParaRPr lang="zh-CN" altLang="en-US" sz="3200" dirty="0">
              <a:solidFill>
                <a:schemeClr val="accent6"/>
              </a:solidFill>
              <a:latin typeface="+mn-ea"/>
            </a:endParaRPr>
          </a:p>
        </p:txBody>
      </p:sp>
      <p:sp>
        <p:nvSpPr>
          <p:cNvPr id="5" name="矩形 4"/>
          <p:cNvSpPr/>
          <p:nvPr/>
        </p:nvSpPr>
        <p:spPr>
          <a:xfrm>
            <a:off x="4910974" y="3645431"/>
            <a:ext cx="697345" cy="697345"/>
          </a:xfrm>
          <a:prstGeom prst="rect">
            <a:avLst/>
          </a:prstGeom>
          <a:noFill/>
          <a:ln w="1270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3200" dirty="0">
                <a:solidFill>
                  <a:schemeClr val="accent6"/>
                </a:solidFill>
                <a:latin typeface="+mn-ea"/>
              </a:rPr>
              <a:t>3</a:t>
            </a:r>
            <a:endParaRPr lang="zh-CN" altLang="en-US" sz="3200" dirty="0">
              <a:solidFill>
                <a:schemeClr val="accent6"/>
              </a:solidFill>
              <a:latin typeface="+mn-ea"/>
            </a:endParaRPr>
          </a:p>
        </p:txBody>
      </p:sp>
      <p:sp>
        <p:nvSpPr>
          <p:cNvPr id="7" name="矩形 6"/>
          <p:cNvSpPr/>
          <p:nvPr/>
        </p:nvSpPr>
        <p:spPr>
          <a:xfrm>
            <a:off x="5815215" y="1360031"/>
            <a:ext cx="5523345" cy="697345"/>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3200" b="1" dirty="0">
                <a:solidFill>
                  <a:schemeClr val="bg2">
                    <a:lumMod val="50000"/>
                  </a:schemeClr>
                </a:solidFill>
                <a:latin typeface="+mn-ea"/>
              </a:rPr>
              <a:t>背景和目标</a:t>
            </a:r>
            <a:endParaRPr lang="zh-CN" altLang="en-US" sz="3200" b="1" dirty="0">
              <a:solidFill>
                <a:schemeClr val="bg2">
                  <a:lumMod val="50000"/>
                </a:schemeClr>
              </a:solidFill>
              <a:latin typeface="+mn-ea"/>
            </a:endParaRPr>
          </a:p>
        </p:txBody>
      </p:sp>
      <p:sp>
        <p:nvSpPr>
          <p:cNvPr id="8" name="矩形 7"/>
          <p:cNvSpPr/>
          <p:nvPr/>
        </p:nvSpPr>
        <p:spPr>
          <a:xfrm>
            <a:off x="5815214" y="2502731"/>
            <a:ext cx="5523345" cy="697345"/>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3200" b="1" dirty="0">
                <a:solidFill>
                  <a:schemeClr val="bg2">
                    <a:lumMod val="50000"/>
                  </a:schemeClr>
                </a:solidFill>
                <a:latin typeface="+mn-ea"/>
              </a:rPr>
              <a:t>研究成果</a:t>
            </a:r>
            <a:endParaRPr lang="zh-CN" altLang="en-US" sz="3200" b="1" dirty="0">
              <a:solidFill>
                <a:schemeClr val="bg2">
                  <a:lumMod val="50000"/>
                </a:schemeClr>
              </a:solidFill>
              <a:latin typeface="+mn-ea"/>
            </a:endParaRPr>
          </a:p>
        </p:txBody>
      </p:sp>
      <p:sp>
        <p:nvSpPr>
          <p:cNvPr id="9" name="矩形 8"/>
          <p:cNvSpPr/>
          <p:nvPr/>
        </p:nvSpPr>
        <p:spPr>
          <a:xfrm>
            <a:off x="5815215" y="3645431"/>
            <a:ext cx="5523345" cy="697345"/>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3200" b="1" dirty="0">
                <a:solidFill>
                  <a:schemeClr val="bg2">
                    <a:lumMod val="50000"/>
                  </a:schemeClr>
                </a:solidFill>
                <a:latin typeface="+mn-ea"/>
              </a:rPr>
              <a:t>下阶段计划</a:t>
            </a:r>
            <a:endParaRPr lang="zh-CN" altLang="en-US" sz="3200" b="1" dirty="0">
              <a:solidFill>
                <a:schemeClr val="bg2">
                  <a:lumMod val="50000"/>
                </a:schemeClr>
              </a:solidFill>
              <a:latin typeface="+mn-ea"/>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11"/>
          <p:cNvSpPr>
            <a:spLocks noGrp="1"/>
          </p:cNvSpPr>
          <p:nvPr>
            <p:ph type="body" sz="quarter" idx="4294967295" hasCustomPrompt="1"/>
          </p:nvPr>
        </p:nvSpPr>
        <p:spPr>
          <a:xfrm>
            <a:off x="5943600" y="1908279"/>
            <a:ext cx="5467350" cy="1638300"/>
          </a:xfrm>
        </p:spPr>
        <p:txBody>
          <a:bodyPr lIns="144000" tIns="144000" rIns="144000" bIns="144000" anchor="ctr" anchorCtr="0">
            <a:normAutofit/>
          </a:bodyPr>
          <a:lstStyle>
            <a:lvl1pPr marL="0" indent="0" algn="ctr">
              <a:lnSpc>
                <a:spcPct val="100000"/>
              </a:lnSpc>
              <a:buNone/>
              <a:defRPr sz="6000" b="1">
                <a:solidFill>
                  <a:schemeClr val="bg1"/>
                </a:solidFill>
                <a:effectLst>
                  <a:outerShdw blurRad="38100" dist="38100" dir="2700000" algn="tl">
                    <a:srgbClr val="000000">
                      <a:alpha val="43137"/>
                    </a:srgbClr>
                  </a:outerShdw>
                </a:effectLst>
                <a:latin typeface="+mj-ea"/>
                <a:ea typeface="+mj-ea"/>
              </a:defRPr>
            </a:lvl1pPr>
          </a:lstStyle>
          <a:p>
            <a:pPr lvl="0"/>
            <a:r>
              <a:rPr lang="zh-CN" altLang="en-US" dirty="0"/>
              <a:t>背景和目标</a:t>
            </a:r>
            <a:endParaRPr lang="zh-CN" alt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r>
              <a:rPr lang="en-US" dirty="0"/>
              <a:t>项目研究目标总览</a:t>
            </a:r>
            <a:endParaRPr lang="en-US" dirty="0"/>
          </a:p>
        </p:txBody>
      </p:sp>
      <p:graphicFrame>
        <p:nvGraphicFramePr>
          <p:cNvPr id="4" name="Content Placeholder 3"/>
          <p:cNvGraphicFramePr>
            <a:graphicFrameLocks noGrp="1"/>
          </p:cNvGraphicFramePr>
          <p:nvPr>
            <p:ph sz="quarter" idx="11"/>
          </p:nvPr>
        </p:nvGraphicFramePr>
        <p:xfrm>
          <a:off x="1839238" y="1275309"/>
          <a:ext cx="8513524" cy="4307382"/>
        </p:xfrm>
        <a:graphic>
          <a:graphicData uri="http://schemas.openxmlformats.org/drawingml/2006/table">
            <a:tbl>
              <a:tblPr firstRow="1" firstCol="1" bandRow="1">
                <a:tableStyleId>{5C22544A-7EE6-4342-B048-85BDC9FD1C3A}</a:tableStyleId>
              </a:tblPr>
              <a:tblGrid>
                <a:gridCol w="2381994"/>
                <a:gridCol w="6131530"/>
              </a:tblGrid>
              <a:tr h="276339">
                <a:tc>
                  <a:txBody>
                    <a:bodyPr/>
                    <a:lstStyle/>
                    <a:p>
                      <a:pPr algn="l">
                        <a:spcAft>
                          <a:spcPts val="360"/>
                        </a:spcAft>
                      </a:pPr>
                      <a:r>
                        <a:rPr lang="zh-CN" sz="1050" kern="100">
                          <a:effectLst/>
                        </a:rPr>
                        <a:t>交付物</a:t>
                      </a:r>
                      <a:endParaRPr lang="en-US" sz="1050" kern="100">
                        <a:effectLst/>
                        <a:latin typeface="Times New Roman" panose="02020503050405090304" pitchFamily="18" charset="0"/>
                        <a:ea typeface="宋体" panose="02010600030101010101" pitchFamily="2" charset="-122"/>
                      </a:endParaRPr>
                    </a:p>
                  </a:txBody>
                  <a:tcPr marL="68580" marR="68580" marT="0" marB="0" anchor="ctr"/>
                </a:tc>
                <a:tc>
                  <a:txBody>
                    <a:bodyPr/>
                    <a:lstStyle/>
                    <a:p>
                      <a:pPr algn="l">
                        <a:spcAft>
                          <a:spcPts val="360"/>
                        </a:spcAft>
                      </a:pPr>
                      <a:r>
                        <a:rPr lang="zh-CN" sz="1050" kern="100">
                          <a:effectLst/>
                        </a:rPr>
                        <a:t>描述、指标、参数</a:t>
                      </a:r>
                      <a:endParaRPr lang="en-US" sz="1050" kern="100">
                        <a:effectLst/>
                        <a:latin typeface="Times New Roman" panose="02020503050405090304" pitchFamily="18" charset="0"/>
                        <a:ea typeface="宋体" panose="02010600030101010101" pitchFamily="2" charset="-122"/>
                      </a:endParaRPr>
                    </a:p>
                  </a:txBody>
                  <a:tcPr marL="68580" marR="68580" marT="0" marB="0" anchor="ctr"/>
                </a:tc>
              </a:tr>
              <a:tr h="552678">
                <a:tc>
                  <a:txBody>
                    <a:bodyPr/>
                    <a:lstStyle/>
                    <a:p>
                      <a:pPr algn="l">
                        <a:spcAft>
                          <a:spcPts val="360"/>
                        </a:spcAft>
                      </a:pPr>
                      <a:r>
                        <a:rPr lang="zh-CN" sz="1050" kern="100">
                          <a:effectLst/>
                        </a:rPr>
                        <a:t>调研报告</a:t>
                      </a:r>
                      <a:endParaRPr lang="en-US" sz="1050" kern="100">
                        <a:effectLst/>
                        <a:latin typeface="Times New Roman" panose="02020503050405090304" pitchFamily="18" charset="0"/>
                        <a:ea typeface="宋体" panose="02010600030101010101" pitchFamily="2" charset="-122"/>
                      </a:endParaRPr>
                    </a:p>
                  </a:txBody>
                  <a:tcPr marL="68580" marR="68580" marT="0" marB="0" anchor="ctr"/>
                </a:tc>
                <a:tc>
                  <a:txBody>
                    <a:bodyPr/>
                    <a:lstStyle/>
                    <a:p>
                      <a:pPr algn="l">
                        <a:spcAft>
                          <a:spcPts val="360"/>
                        </a:spcAft>
                      </a:pPr>
                      <a:r>
                        <a:rPr lang="zh-CN" sz="1050" kern="100">
                          <a:effectLst/>
                        </a:rPr>
                        <a:t>调研报告</a:t>
                      </a:r>
                      <a:r>
                        <a:rPr lang="en-US" sz="1050" kern="100">
                          <a:effectLst/>
                        </a:rPr>
                        <a:t>1</a:t>
                      </a:r>
                      <a:r>
                        <a:rPr lang="zh-CN" sz="1050" kern="100">
                          <a:effectLst/>
                        </a:rPr>
                        <a:t>份，包含业界已有的工作的优缺点分析，包含基线算法的实验结果，并分析改进方向。</a:t>
                      </a:r>
                      <a:endParaRPr lang="en-US" sz="1050" kern="100">
                        <a:effectLst/>
                        <a:latin typeface="Times New Roman" panose="02020503050405090304" pitchFamily="18" charset="0"/>
                        <a:ea typeface="宋体" panose="02010600030101010101" pitchFamily="2" charset="-122"/>
                      </a:endParaRPr>
                    </a:p>
                  </a:txBody>
                  <a:tcPr marL="68580" marR="68580" marT="0" marB="0" anchor="ctr"/>
                </a:tc>
              </a:tr>
              <a:tr h="2925687">
                <a:tc>
                  <a:txBody>
                    <a:bodyPr/>
                    <a:lstStyle/>
                    <a:p>
                      <a:pPr algn="l">
                        <a:spcAft>
                          <a:spcPts val="360"/>
                        </a:spcAft>
                      </a:pPr>
                      <a:r>
                        <a:rPr lang="zh-CN" sz="1050" kern="100">
                          <a:effectLst/>
                        </a:rPr>
                        <a:t>多模态内容生成和表征算法</a:t>
                      </a:r>
                      <a:r>
                        <a:rPr lang="en-US" sz="1050" kern="100">
                          <a:effectLst/>
                        </a:rPr>
                        <a:t>/</a:t>
                      </a:r>
                      <a:r>
                        <a:rPr lang="zh-CN" sz="1050" kern="100">
                          <a:effectLst/>
                        </a:rPr>
                        <a:t>模型</a:t>
                      </a:r>
                      <a:endParaRPr lang="en-US" sz="1050" kern="100">
                        <a:effectLst/>
                        <a:latin typeface="Times New Roman" panose="02020503050405090304" pitchFamily="18" charset="0"/>
                        <a:ea typeface="宋体" panose="02010600030101010101" pitchFamily="2" charset="-122"/>
                      </a:endParaRPr>
                    </a:p>
                  </a:txBody>
                  <a:tcPr marL="68580" marR="68580" marT="0" marB="0" anchor="ctr"/>
                </a:tc>
                <a:tc>
                  <a:txBody>
                    <a:bodyPr/>
                    <a:lstStyle/>
                    <a:p>
                      <a:pPr algn="l">
                        <a:spcAft>
                          <a:spcPts val="360"/>
                        </a:spcAft>
                      </a:pPr>
                      <a:r>
                        <a:rPr lang="zh-CN" sz="1050" kern="100" dirty="0">
                          <a:effectLst/>
                        </a:rPr>
                        <a:t>预期技术效果</a:t>
                      </a:r>
                      <a:endParaRPr lang="en-US" sz="1050" kern="100" dirty="0">
                        <a:effectLst/>
                      </a:endParaRPr>
                    </a:p>
                    <a:p>
                      <a:pPr algn="l">
                        <a:spcAft>
                          <a:spcPts val="360"/>
                        </a:spcAft>
                      </a:pPr>
                      <a:r>
                        <a:rPr lang="en-US" sz="1050" kern="100" dirty="0">
                          <a:effectLst/>
                        </a:rPr>
                        <a:t>1. </a:t>
                      </a:r>
                      <a:r>
                        <a:rPr lang="zh-CN" sz="1050" b="1" kern="100" dirty="0">
                          <a:effectLst/>
                        </a:rPr>
                        <a:t>生成式内容理解效果：</a:t>
                      </a:r>
                      <a:r>
                        <a:rPr lang="en-US" sz="1050" kern="100" dirty="0">
                          <a:effectLst/>
                        </a:rPr>
                        <a:t>dense caption</a:t>
                      </a:r>
                      <a:r>
                        <a:rPr lang="zh-CN" sz="1050" kern="100" dirty="0">
                          <a:effectLst/>
                        </a:rPr>
                        <a:t>、标题等生成内容在离线测试集上</a:t>
                      </a:r>
                      <a:r>
                        <a:rPr lang="en-US" sz="1050" kern="100" dirty="0" err="1">
                          <a:effectLst/>
                        </a:rPr>
                        <a:t>CIDEr</a:t>
                      </a:r>
                      <a:r>
                        <a:rPr lang="zh-CN" sz="1050" kern="100" dirty="0">
                          <a:effectLst/>
                        </a:rPr>
                        <a:t>、</a:t>
                      </a:r>
                      <a:r>
                        <a:rPr lang="en-US" sz="1050" kern="100" dirty="0">
                          <a:effectLst/>
                        </a:rPr>
                        <a:t>BLUE</a:t>
                      </a:r>
                      <a:r>
                        <a:rPr lang="zh-CN" sz="1050" kern="100" dirty="0">
                          <a:effectLst/>
                        </a:rPr>
                        <a:t>、</a:t>
                      </a:r>
                      <a:r>
                        <a:rPr lang="en-US" sz="1050" kern="100" dirty="0">
                          <a:effectLst/>
                        </a:rPr>
                        <a:t>SPICE</a:t>
                      </a:r>
                      <a:r>
                        <a:rPr lang="zh-CN" sz="1050" kern="100" dirty="0">
                          <a:effectLst/>
                        </a:rPr>
                        <a:t>等准确率指标相对当前基线提升</a:t>
                      </a:r>
                      <a:r>
                        <a:rPr lang="en-US" sz="1050" kern="100" dirty="0">
                          <a:effectLst/>
                        </a:rPr>
                        <a:t>3%</a:t>
                      </a:r>
                      <a:r>
                        <a:rPr lang="zh-CN" sz="1050" kern="100" dirty="0">
                          <a:effectLst/>
                        </a:rPr>
                        <a:t>；学术界公开测试集上相关指标（如</a:t>
                      </a:r>
                      <a:r>
                        <a:rPr lang="en-US" sz="1050" kern="100" dirty="0" err="1">
                          <a:effectLst/>
                        </a:rPr>
                        <a:t>CIDEr</a:t>
                      </a:r>
                      <a:r>
                        <a:rPr lang="zh-CN" sz="1050" kern="100" dirty="0">
                          <a:effectLst/>
                        </a:rPr>
                        <a:t>）达到</a:t>
                      </a:r>
                      <a:r>
                        <a:rPr lang="en-US" sz="1050" kern="100" dirty="0">
                          <a:effectLst/>
                        </a:rPr>
                        <a:t>SOTA</a:t>
                      </a:r>
                      <a:endParaRPr lang="en-US" sz="1050" kern="100" dirty="0">
                        <a:effectLst/>
                      </a:endParaRPr>
                    </a:p>
                    <a:p>
                      <a:pPr algn="l">
                        <a:spcAft>
                          <a:spcPts val="360"/>
                        </a:spcAft>
                      </a:pPr>
                      <a:r>
                        <a:rPr lang="en-US" sz="1050" kern="100" dirty="0">
                          <a:effectLst/>
                        </a:rPr>
                        <a:t>2. </a:t>
                      </a:r>
                      <a:r>
                        <a:rPr lang="zh-CN" sz="1050" b="1" kern="100" dirty="0">
                          <a:effectLst/>
                        </a:rPr>
                        <a:t>内容表征效果：</a:t>
                      </a:r>
                      <a:r>
                        <a:rPr lang="zh-CN" sz="1050" kern="100" dirty="0">
                          <a:effectLst/>
                        </a:rPr>
                        <a:t>在搜索、推荐排序离线评估集上</a:t>
                      </a:r>
                      <a:r>
                        <a:rPr lang="en-US" sz="1050" kern="100" dirty="0" err="1">
                          <a:effectLst/>
                        </a:rPr>
                        <a:t>auc</a:t>
                      </a:r>
                      <a:r>
                        <a:rPr lang="zh-CN" sz="1050" kern="100" dirty="0">
                          <a:effectLst/>
                        </a:rPr>
                        <a:t>相对当前基线提升</a:t>
                      </a:r>
                      <a:r>
                        <a:rPr lang="en-US" sz="1050" kern="100" dirty="0">
                          <a:effectLst/>
                        </a:rPr>
                        <a:t>0.2%+</a:t>
                      </a:r>
                      <a:r>
                        <a:rPr lang="zh-CN" sz="1050" kern="100" dirty="0">
                          <a:effectLst/>
                        </a:rPr>
                        <a:t>；学术界公开测试集上相关指标（如</a:t>
                      </a:r>
                      <a:r>
                        <a:rPr lang="en-US" sz="1050" kern="100" dirty="0">
                          <a:effectLst/>
                        </a:rPr>
                        <a:t>NDCG@10</a:t>
                      </a:r>
                      <a:r>
                        <a:rPr lang="zh-CN" sz="1050" kern="100" dirty="0">
                          <a:effectLst/>
                        </a:rPr>
                        <a:t>，</a:t>
                      </a:r>
                      <a:r>
                        <a:rPr lang="en-US" sz="1050" kern="100" dirty="0">
                          <a:effectLst/>
                        </a:rPr>
                        <a:t>Recall@10</a:t>
                      </a:r>
                      <a:r>
                        <a:rPr lang="zh-CN" sz="1050" kern="100" dirty="0">
                          <a:effectLst/>
                        </a:rPr>
                        <a:t>等）达到</a:t>
                      </a:r>
                      <a:r>
                        <a:rPr lang="en-US" sz="1050" kern="100" dirty="0">
                          <a:effectLst/>
                        </a:rPr>
                        <a:t>SOTA</a:t>
                      </a:r>
                      <a:endParaRPr lang="en-US" sz="1050" kern="100" dirty="0">
                        <a:effectLst/>
                      </a:endParaRPr>
                    </a:p>
                    <a:p>
                      <a:pPr algn="l">
                        <a:spcAft>
                          <a:spcPts val="360"/>
                        </a:spcAft>
                      </a:pPr>
                      <a:r>
                        <a:rPr lang="en-US" sz="1050" kern="100" dirty="0">
                          <a:effectLst/>
                        </a:rPr>
                        <a:t> </a:t>
                      </a:r>
                      <a:endParaRPr lang="en-US" sz="1050" kern="100" dirty="0">
                        <a:effectLst/>
                      </a:endParaRPr>
                    </a:p>
                    <a:p>
                      <a:pPr algn="l">
                        <a:spcAft>
                          <a:spcPts val="360"/>
                        </a:spcAft>
                      </a:pPr>
                      <a:r>
                        <a:rPr lang="zh-CN" sz="1050" kern="100" dirty="0">
                          <a:effectLst/>
                        </a:rPr>
                        <a:t>预期业务效果（挑战目标）：</a:t>
                      </a:r>
                      <a:endParaRPr lang="en-US" sz="1050" kern="100" dirty="0">
                        <a:effectLst/>
                      </a:endParaRPr>
                    </a:p>
                    <a:p>
                      <a:pPr algn="l">
                        <a:spcAft>
                          <a:spcPts val="360"/>
                        </a:spcAft>
                      </a:pPr>
                      <a:r>
                        <a:rPr lang="zh-CN" sz="1050" kern="100" dirty="0">
                          <a:effectLst/>
                        </a:rPr>
                        <a:t>搜索、推荐场景取得置信核心指标提升（如搜索</a:t>
                      </a:r>
                      <a:r>
                        <a:rPr lang="en-US" sz="1050" kern="100" dirty="0">
                          <a:effectLst/>
                        </a:rPr>
                        <a:t>QV</a:t>
                      </a:r>
                      <a:r>
                        <a:rPr lang="zh-CN" sz="1050" kern="100" dirty="0">
                          <a:effectLst/>
                        </a:rPr>
                        <a:t>、</a:t>
                      </a:r>
                      <a:r>
                        <a:rPr lang="en-US" sz="1050" kern="100" dirty="0">
                          <a:effectLst/>
                        </a:rPr>
                        <a:t>QV_CTR</a:t>
                      </a:r>
                      <a:r>
                        <a:rPr lang="zh-CN" sz="1050" kern="100" dirty="0">
                          <a:effectLst/>
                        </a:rPr>
                        <a:t>、信息流推荐人均时长等）</a:t>
                      </a:r>
                      <a:endParaRPr lang="en-US" sz="1050" kern="100" dirty="0">
                        <a:effectLst/>
                        <a:latin typeface="Times New Roman" panose="02020503050405090304" pitchFamily="18" charset="0"/>
                        <a:ea typeface="宋体" panose="02010600030101010101" pitchFamily="2" charset="-122"/>
                      </a:endParaRPr>
                    </a:p>
                  </a:txBody>
                  <a:tcPr marL="68580" marR="68580" marT="0" marB="0" anchor="ctr"/>
                </a:tc>
              </a:tr>
              <a:tr h="276339">
                <a:tc>
                  <a:txBody>
                    <a:bodyPr/>
                    <a:lstStyle/>
                    <a:p>
                      <a:pPr algn="l">
                        <a:spcAft>
                          <a:spcPts val="360"/>
                        </a:spcAft>
                      </a:pPr>
                      <a:r>
                        <a:rPr lang="zh-CN" sz="1050" kern="100">
                          <a:effectLst/>
                        </a:rPr>
                        <a:t>代码</a:t>
                      </a:r>
                      <a:endParaRPr lang="en-US" sz="1050" kern="100">
                        <a:effectLst/>
                        <a:latin typeface="Times New Roman" panose="02020503050405090304" pitchFamily="18" charset="0"/>
                        <a:ea typeface="宋体" panose="02010600030101010101" pitchFamily="2" charset="-122"/>
                      </a:endParaRPr>
                    </a:p>
                  </a:txBody>
                  <a:tcPr marL="68580" marR="68580" marT="0" marB="0" anchor="ctr"/>
                </a:tc>
                <a:tc>
                  <a:txBody>
                    <a:bodyPr/>
                    <a:lstStyle/>
                    <a:p>
                      <a:pPr algn="l">
                        <a:spcAft>
                          <a:spcPts val="360"/>
                        </a:spcAft>
                      </a:pPr>
                      <a:r>
                        <a:rPr lang="zh-CN" sz="1050" kern="100">
                          <a:effectLst/>
                        </a:rPr>
                        <a:t>方案配套的可执行代码</a:t>
                      </a:r>
                      <a:r>
                        <a:rPr lang="en-US" sz="1050" kern="100">
                          <a:effectLst/>
                        </a:rPr>
                        <a:t>1</a:t>
                      </a:r>
                      <a:r>
                        <a:rPr lang="zh-CN" sz="1050" kern="100">
                          <a:effectLst/>
                        </a:rPr>
                        <a:t>份。</a:t>
                      </a:r>
                      <a:endParaRPr lang="en-US" sz="1050" kern="100">
                        <a:effectLst/>
                        <a:latin typeface="Times New Roman" panose="02020503050405090304" pitchFamily="18" charset="0"/>
                        <a:ea typeface="宋体" panose="02010600030101010101" pitchFamily="2" charset="-122"/>
                      </a:endParaRPr>
                    </a:p>
                  </a:txBody>
                  <a:tcPr marL="68580" marR="68580" marT="0" marB="0" anchor="ctr"/>
                </a:tc>
              </a:tr>
              <a:tr h="276339">
                <a:tc>
                  <a:txBody>
                    <a:bodyPr/>
                    <a:lstStyle/>
                    <a:p>
                      <a:pPr algn="l">
                        <a:spcAft>
                          <a:spcPts val="360"/>
                        </a:spcAft>
                      </a:pPr>
                      <a:r>
                        <a:rPr lang="zh-CN" sz="1050" kern="100">
                          <a:effectLst/>
                        </a:rPr>
                        <a:t>论文</a:t>
                      </a:r>
                      <a:endParaRPr lang="en-US" sz="1050" kern="100">
                        <a:effectLst/>
                        <a:latin typeface="Times New Roman" panose="02020503050405090304" pitchFamily="18" charset="0"/>
                        <a:ea typeface="宋体" panose="02010600030101010101" pitchFamily="2" charset="-122"/>
                      </a:endParaRPr>
                    </a:p>
                  </a:txBody>
                  <a:tcPr marL="68580" marR="68580" marT="0" marB="0" anchor="ctr"/>
                </a:tc>
                <a:tc>
                  <a:txBody>
                    <a:bodyPr/>
                    <a:lstStyle/>
                    <a:p>
                      <a:pPr algn="l">
                        <a:spcAft>
                          <a:spcPts val="360"/>
                        </a:spcAft>
                      </a:pPr>
                      <a:r>
                        <a:rPr lang="en-US" sz="1050" kern="100" dirty="0">
                          <a:effectLst/>
                        </a:rPr>
                        <a:t>1</a:t>
                      </a:r>
                      <a:r>
                        <a:rPr lang="zh-CN" sz="1050" kern="100" dirty="0">
                          <a:effectLst/>
                        </a:rPr>
                        <a:t>篇，预期发表于</a:t>
                      </a:r>
                      <a:r>
                        <a:rPr lang="en-US" sz="1050" kern="100" dirty="0">
                          <a:effectLst/>
                        </a:rPr>
                        <a:t>KDD/SIGIR/WWW</a:t>
                      </a:r>
                      <a:r>
                        <a:rPr lang="zh-CN" sz="1050" kern="100" dirty="0">
                          <a:effectLst/>
                        </a:rPr>
                        <a:t>或同级别会议</a:t>
                      </a:r>
                      <a:endParaRPr lang="en-US" sz="1050" kern="100" dirty="0">
                        <a:effectLst/>
                        <a:latin typeface="Times New Roman" panose="02020503050405090304" pitchFamily="18" charset="0"/>
                        <a:ea typeface="宋体" panose="02010600030101010101" pitchFamily="2" charset="-122"/>
                      </a:endParaRPr>
                    </a:p>
                  </a:txBody>
                  <a:tcPr marL="68580" marR="68580" marT="0" marB="0" anchor="ct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r>
              <a:rPr lang="en-US" dirty="0"/>
              <a:t>阶段验收目标</a:t>
            </a:r>
            <a:endParaRPr lang="en-US" dirty="0"/>
          </a:p>
        </p:txBody>
      </p:sp>
      <p:graphicFrame>
        <p:nvGraphicFramePr>
          <p:cNvPr id="5" name="Content Placeholder 4"/>
          <p:cNvGraphicFramePr>
            <a:graphicFrameLocks noGrp="1"/>
          </p:cNvGraphicFramePr>
          <p:nvPr>
            <p:ph sz="quarter" idx="11"/>
          </p:nvPr>
        </p:nvGraphicFramePr>
        <p:xfrm>
          <a:off x="1719409" y="2154171"/>
          <a:ext cx="8753182" cy="3040520"/>
        </p:xfrm>
        <a:graphic>
          <a:graphicData uri="http://schemas.openxmlformats.org/drawingml/2006/table">
            <a:tbl>
              <a:tblPr firstRow="1" firstCol="1" bandRow="1">
                <a:tableStyleId>{5C22544A-7EE6-4342-B048-85BDC9FD1C3A}</a:tableStyleId>
              </a:tblPr>
              <a:tblGrid>
                <a:gridCol w="1254058"/>
                <a:gridCol w="2070226"/>
                <a:gridCol w="2714449"/>
                <a:gridCol w="2714449"/>
              </a:tblGrid>
              <a:tr h="458260">
                <a:tc>
                  <a:txBody>
                    <a:bodyPr/>
                    <a:lstStyle/>
                    <a:p>
                      <a:pPr algn="l">
                        <a:spcAft>
                          <a:spcPts val="360"/>
                        </a:spcAft>
                      </a:pPr>
                      <a:r>
                        <a:rPr lang="zh-CN" altLang="en-US" sz="1050" kern="100" dirty="0">
                          <a:effectLst/>
                          <a:latin typeface="+mj-ea"/>
                          <a:ea typeface="+mj-ea"/>
                        </a:rPr>
                        <a:t>验收时间</a:t>
                      </a:r>
                      <a:endParaRPr lang="en-US" sz="1050" kern="100" dirty="0">
                        <a:effectLst/>
                        <a:latin typeface="+mj-ea"/>
                        <a:ea typeface="+mj-ea"/>
                      </a:endParaRPr>
                    </a:p>
                  </a:txBody>
                  <a:tcPr marL="68580" marR="68580" marT="0" marB="0" anchor="ctr"/>
                </a:tc>
                <a:tc>
                  <a:txBody>
                    <a:bodyPr/>
                    <a:lstStyle/>
                    <a:p>
                      <a:pPr algn="l">
                        <a:spcAft>
                          <a:spcPts val="360"/>
                        </a:spcAft>
                      </a:pPr>
                      <a:r>
                        <a:rPr lang="zh-CN" sz="1050" kern="100">
                          <a:effectLst/>
                          <a:latin typeface="+mj-ea"/>
                          <a:ea typeface="+mj-ea"/>
                        </a:rPr>
                        <a:t>研发内容</a:t>
                      </a:r>
                      <a:endParaRPr lang="en-US" sz="1050" kern="100">
                        <a:effectLst/>
                        <a:latin typeface="+mj-ea"/>
                        <a:ea typeface="+mj-ea"/>
                      </a:endParaRPr>
                    </a:p>
                  </a:txBody>
                  <a:tcPr marL="68580" marR="68580" marT="0" marB="0" anchor="ctr"/>
                </a:tc>
                <a:tc>
                  <a:txBody>
                    <a:bodyPr/>
                    <a:lstStyle/>
                    <a:p>
                      <a:pPr algn="l">
                        <a:spcAft>
                          <a:spcPts val="360"/>
                        </a:spcAft>
                      </a:pPr>
                      <a:r>
                        <a:rPr lang="zh-CN" sz="1050" kern="100" dirty="0">
                          <a:effectLst/>
                          <a:latin typeface="+mj-ea"/>
                          <a:ea typeface="+mj-ea"/>
                        </a:rPr>
                        <a:t>阶段</a:t>
                      </a:r>
                      <a:r>
                        <a:rPr lang="zh-CN" altLang="en-US" sz="1050" kern="100" dirty="0">
                          <a:effectLst/>
                          <a:latin typeface="+mj-ea"/>
                          <a:ea typeface="+mj-ea"/>
                        </a:rPr>
                        <a:t>预期</a:t>
                      </a:r>
                      <a:r>
                        <a:rPr lang="zh-CN" sz="1050" kern="100" dirty="0">
                          <a:effectLst/>
                          <a:latin typeface="+mj-ea"/>
                          <a:ea typeface="+mj-ea"/>
                        </a:rPr>
                        <a:t>交付成果</a:t>
                      </a:r>
                      <a:endParaRPr lang="en-US" sz="1050" kern="100" dirty="0">
                        <a:effectLst/>
                        <a:latin typeface="+mj-ea"/>
                        <a:ea typeface="+mj-ea"/>
                      </a:endParaRPr>
                    </a:p>
                  </a:txBody>
                  <a:tcPr marL="68580" marR="68580" marT="0" marB="0" anchor="ctr"/>
                </a:tc>
                <a:tc>
                  <a:txBody>
                    <a:bodyPr/>
                    <a:lstStyle/>
                    <a:p>
                      <a:pPr algn="l">
                        <a:spcAft>
                          <a:spcPts val="360"/>
                        </a:spcAft>
                      </a:pPr>
                      <a:r>
                        <a:rPr lang="en-US" sz="1050" kern="100" dirty="0">
                          <a:effectLst/>
                          <a:latin typeface="+mj-ea"/>
                          <a:ea typeface="+mj-ea"/>
                        </a:rPr>
                        <a:t>阶段实际交付成果</a:t>
                      </a:r>
                      <a:endParaRPr lang="en-US" sz="1050" kern="100" dirty="0">
                        <a:effectLst/>
                        <a:latin typeface="+mj-ea"/>
                        <a:ea typeface="+mj-ea"/>
                      </a:endParaRPr>
                    </a:p>
                  </a:txBody>
                  <a:tcPr marL="68580" marR="68580" marT="0" marB="0" anchor="ctr"/>
                </a:tc>
              </a:tr>
              <a:tr h="2582260">
                <a:tc>
                  <a:txBody>
                    <a:bodyPr/>
                    <a:lstStyle/>
                    <a:p>
                      <a:pPr algn="l">
                        <a:spcAft>
                          <a:spcPts val="360"/>
                        </a:spcAft>
                      </a:pPr>
                      <a:r>
                        <a:rPr lang="en-US" sz="1050" kern="100" dirty="0">
                          <a:effectLst/>
                          <a:latin typeface="+mj-ea"/>
                          <a:ea typeface="+mj-ea"/>
                        </a:rPr>
                        <a:t>202</a:t>
                      </a:r>
                      <a:r>
                        <a:rPr lang="en-US" altLang="zh-CN" sz="1050" kern="100" dirty="0">
                          <a:effectLst/>
                          <a:latin typeface="+mj-ea"/>
                          <a:ea typeface="+mj-ea"/>
                        </a:rPr>
                        <a:t>6</a:t>
                      </a:r>
                      <a:r>
                        <a:rPr lang="en-US" sz="1050" kern="100" dirty="0">
                          <a:effectLst/>
                          <a:latin typeface="+mj-ea"/>
                          <a:ea typeface="+mj-ea"/>
                        </a:rPr>
                        <a:t>/1/</a:t>
                      </a:r>
                      <a:r>
                        <a:rPr lang="en-US" altLang="zh-CN" sz="1050" kern="100" dirty="0">
                          <a:effectLst/>
                          <a:latin typeface="+mj-ea"/>
                          <a:ea typeface="+mj-ea"/>
                        </a:rPr>
                        <a:t>26</a:t>
                      </a:r>
                      <a:endParaRPr lang="en-US" sz="1050" kern="100" dirty="0">
                        <a:effectLst/>
                        <a:latin typeface="+mj-ea"/>
                        <a:ea typeface="+mj-ea"/>
                      </a:endParaRPr>
                    </a:p>
                    <a:p>
                      <a:pPr algn="l">
                        <a:spcAft>
                          <a:spcPts val="360"/>
                        </a:spcAft>
                      </a:pPr>
                      <a:r>
                        <a:rPr lang="zh-CN" sz="1050" kern="100" dirty="0">
                          <a:effectLst/>
                          <a:latin typeface="+mj-ea"/>
                          <a:ea typeface="+mj-ea"/>
                        </a:rPr>
                        <a:t>（中期验收）</a:t>
                      </a:r>
                      <a:endParaRPr lang="en-US" sz="1050" kern="100" dirty="0">
                        <a:effectLst/>
                        <a:latin typeface="+mj-ea"/>
                        <a:ea typeface="+mj-ea"/>
                      </a:endParaRPr>
                    </a:p>
                  </a:txBody>
                  <a:tcPr marL="68580" marR="68580" marT="0" marB="0" anchor="ctr"/>
                </a:tc>
                <a:tc>
                  <a:txBody>
                    <a:bodyPr/>
                    <a:lstStyle/>
                    <a:p>
                      <a:pPr algn="l">
                        <a:spcAft>
                          <a:spcPts val="360"/>
                        </a:spcAft>
                      </a:pPr>
                      <a:r>
                        <a:rPr lang="en-US" sz="1050" kern="100" dirty="0">
                          <a:effectLst/>
                          <a:latin typeface="+mj-ea"/>
                          <a:ea typeface="+mj-ea"/>
                        </a:rPr>
                        <a:t>1.</a:t>
                      </a:r>
                      <a:r>
                        <a:rPr lang="zh-CN" sz="1050" kern="100" dirty="0">
                          <a:effectLst/>
                          <a:latin typeface="+mj-ea"/>
                          <a:ea typeface="+mj-ea"/>
                        </a:rPr>
                        <a:t>探索用户兴趣驱动的可控多模态内容生成技术</a:t>
                      </a:r>
                      <a:endParaRPr lang="en-US" sz="1050" kern="100" dirty="0">
                        <a:effectLst/>
                        <a:latin typeface="+mj-ea"/>
                        <a:ea typeface="+mj-ea"/>
                      </a:endParaRPr>
                    </a:p>
                    <a:p>
                      <a:pPr algn="l">
                        <a:spcAft>
                          <a:spcPts val="360"/>
                        </a:spcAft>
                      </a:pPr>
                      <a:r>
                        <a:rPr lang="en-US" sz="1050" kern="100" dirty="0">
                          <a:effectLst/>
                          <a:latin typeface="+mj-ea"/>
                          <a:ea typeface="+mj-ea"/>
                        </a:rPr>
                        <a:t>2.</a:t>
                      </a:r>
                      <a:r>
                        <a:rPr lang="zh-CN" sz="1050" kern="100" dirty="0">
                          <a:effectLst/>
                          <a:latin typeface="+mj-ea"/>
                          <a:ea typeface="+mj-ea"/>
                        </a:rPr>
                        <a:t>探索多模态异构数据统一表征建模技术</a:t>
                      </a:r>
                      <a:endParaRPr lang="en-US" sz="1050" kern="100" dirty="0">
                        <a:effectLst/>
                        <a:latin typeface="+mj-ea"/>
                        <a:ea typeface="+mj-ea"/>
                      </a:endParaRPr>
                    </a:p>
                    <a:p>
                      <a:pPr algn="l">
                        <a:spcAft>
                          <a:spcPts val="360"/>
                        </a:spcAft>
                      </a:pPr>
                      <a:r>
                        <a:rPr lang="en-US" sz="1050" kern="100" dirty="0">
                          <a:effectLst/>
                          <a:latin typeface="+mj-ea"/>
                          <a:ea typeface="+mj-ea"/>
                        </a:rPr>
                        <a:t>3.</a:t>
                      </a:r>
                      <a:r>
                        <a:rPr lang="zh-CN" sz="1050" kern="100" dirty="0">
                          <a:effectLst/>
                          <a:latin typeface="+mj-ea"/>
                          <a:ea typeface="+mj-ea"/>
                        </a:rPr>
                        <a:t>公开数据集如</a:t>
                      </a:r>
                      <a:r>
                        <a:rPr lang="en-US" sz="1050" kern="100" dirty="0">
                          <a:effectLst/>
                          <a:latin typeface="+mj-ea"/>
                          <a:ea typeface="+mj-ea"/>
                        </a:rPr>
                        <a:t>Amazon</a:t>
                      </a:r>
                      <a:r>
                        <a:rPr lang="zh-CN" sz="1050" kern="100" dirty="0">
                          <a:effectLst/>
                          <a:latin typeface="+mj-ea"/>
                          <a:ea typeface="+mj-ea"/>
                        </a:rPr>
                        <a:t>数据集等上进行效果验证</a:t>
                      </a:r>
                      <a:endParaRPr lang="en-US" sz="1050" kern="100" dirty="0">
                        <a:effectLst/>
                        <a:latin typeface="+mj-ea"/>
                        <a:ea typeface="+mj-ea"/>
                      </a:endParaRPr>
                    </a:p>
                  </a:txBody>
                  <a:tcPr marL="68580" marR="68580" marT="0" marB="0" anchor="ctr"/>
                </a:tc>
                <a:tc>
                  <a:txBody>
                    <a:bodyPr/>
                    <a:lstStyle/>
                    <a:p>
                      <a:pPr algn="l">
                        <a:spcAft>
                          <a:spcPts val="360"/>
                        </a:spcAft>
                      </a:pPr>
                      <a:r>
                        <a:rPr lang="en-US" sz="1050" kern="100" dirty="0">
                          <a:effectLst/>
                          <a:latin typeface="+mj-ea"/>
                          <a:ea typeface="+mj-ea"/>
                        </a:rPr>
                        <a:t>1. </a:t>
                      </a:r>
                      <a:r>
                        <a:rPr lang="zh-CN" sz="1050" kern="100" dirty="0">
                          <a:effectLst/>
                          <a:latin typeface="+mj-ea"/>
                          <a:ea typeface="+mj-ea"/>
                        </a:rPr>
                        <a:t>多模态内容生成和表征算法</a:t>
                      </a:r>
                      <a:endParaRPr lang="en-US" sz="1050" kern="100" dirty="0">
                        <a:effectLst/>
                        <a:latin typeface="+mj-ea"/>
                        <a:ea typeface="+mj-ea"/>
                      </a:endParaRPr>
                    </a:p>
                    <a:p>
                      <a:pPr algn="l">
                        <a:spcAft>
                          <a:spcPts val="360"/>
                        </a:spcAft>
                      </a:pPr>
                      <a:r>
                        <a:rPr lang="en-US" sz="1050" kern="100" dirty="0">
                          <a:effectLst/>
                          <a:latin typeface="+mj-ea"/>
                          <a:ea typeface="+mj-ea"/>
                        </a:rPr>
                        <a:t>2. </a:t>
                      </a:r>
                      <a:r>
                        <a:rPr lang="zh-CN" sz="1050" kern="100" dirty="0">
                          <a:effectLst/>
                          <a:latin typeface="+mj-ea"/>
                          <a:ea typeface="+mj-ea"/>
                        </a:rPr>
                        <a:t>方案配套的可执行代码</a:t>
                      </a:r>
                      <a:r>
                        <a:rPr lang="en-US" sz="1050" kern="100" dirty="0">
                          <a:effectLst/>
                          <a:latin typeface="+mj-ea"/>
                          <a:ea typeface="+mj-ea"/>
                        </a:rPr>
                        <a:t>1</a:t>
                      </a:r>
                      <a:r>
                        <a:rPr lang="zh-CN" sz="1050" kern="100" dirty="0">
                          <a:effectLst/>
                          <a:latin typeface="+mj-ea"/>
                          <a:ea typeface="+mj-ea"/>
                        </a:rPr>
                        <a:t>份</a:t>
                      </a:r>
                      <a:endParaRPr lang="en-US" sz="1050" kern="100" dirty="0">
                        <a:effectLst/>
                        <a:latin typeface="+mj-ea"/>
                        <a:ea typeface="+mj-ea"/>
                      </a:endParaRPr>
                    </a:p>
                  </a:txBody>
                  <a:tcPr marL="68580" marR="68580" marT="0" marB="0" anchor="ctr"/>
                </a:tc>
                <a:tc>
                  <a:txBody>
                    <a:bodyPr/>
                    <a:lstStyle/>
                    <a:p>
                      <a:pPr algn="l">
                        <a:spcAft>
                          <a:spcPts val="360"/>
                        </a:spcAft>
                      </a:pPr>
                      <a:r>
                        <a:rPr lang="en-US" altLang="zh-CN" sz="1050" kern="100" dirty="0">
                          <a:effectLst/>
                          <a:latin typeface="+mj-ea"/>
                          <a:ea typeface="+mj-ea"/>
                        </a:rPr>
                        <a:t>1.</a:t>
                      </a:r>
                      <a:r>
                        <a:rPr lang="zh-CN" altLang="en-US" sz="1050" kern="100" dirty="0">
                          <a:effectLst/>
                          <a:latin typeface="+mj-ea"/>
                          <a:ea typeface="+mj-ea"/>
                        </a:rPr>
                        <a:t> 内容生成和表征算法已整理归档，交付成果符合预期</a:t>
                      </a:r>
                      <a:endParaRPr lang="en-US" sz="1050" kern="100" dirty="0">
                        <a:effectLst/>
                        <a:latin typeface="+mj-ea"/>
                        <a:ea typeface="+mj-ea"/>
                      </a:endParaRPr>
                    </a:p>
                  </a:txBody>
                  <a:tcPr marL="68580" marR="68580" marT="0" marB="0" anchor="ctr"/>
                </a:tc>
              </a:tr>
            </a:tbl>
          </a:graphicData>
        </a:graphic>
      </p:graphicFrame>
      <p:sp>
        <p:nvSpPr>
          <p:cNvPr id="6" name="TextBox 5"/>
          <p:cNvSpPr txBox="1"/>
          <p:nvPr/>
        </p:nvSpPr>
        <p:spPr>
          <a:xfrm>
            <a:off x="1363185" y="1351966"/>
            <a:ext cx="4955203" cy="369332"/>
          </a:xfrm>
          <a:prstGeom prst="rect">
            <a:avLst/>
          </a:prstGeom>
          <a:noFill/>
        </p:spPr>
        <p:txBody>
          <a:bodyPr wrap="none" rtlCol="0">
            <a:spAutoFit/>
          </a:bodyPr>
          <a:lstStyle/>
          <a:p>
            <a:r>
              <a:rPr lang="en-US" dirty="0"/>
              <a:t>项目共分</a:t>
            </a:r>
            <a:r>
              <a:rPr lang="en-US" altLang="zh-CN" dirty="0"/>
              <a:t>3</a:t>
            </a:r>
            <a:r>
              <a:rPr lang="zh-CN" altLang="en-US" dirty="0"/>
              <a:t>阶段验收，项目整体完成度符合预期</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r>
              <a:rPr lang="en-US" dirty="0"/>
              <a:t>项目背景</a:t>
            </a:r>
            <a:endParaRPr lang="en-US" dirty="0"/>
          </a:p>
        </p:txBody>
      </p:sp>
      <p:sp>
        <p:nvSpPr>
          <p:cNvPr id="3" name="Content Placeholder 2"/>
          <p:cNvSpPr>
            <a:spLocks noGrp="1"/>
          </p:cNvSpPr>
          <p:nvPr>
            <p:ph sz="quarter" idx="11"/>
          </p:nvPr>
        </p:nvSpPr>
        <p:spPr/>
        <p:txBody>
          <a:bodyPr>
            <a:normAutofit/>
          </a:bodyPr>
          <a:lstStyle/>
          <a:p>
            <a:r>
              <a:rPr lang="en-US" sz="1600" dirty="0"/>
              <a:t>在规模化趋势下</a:t>
            </a:r>
            <a:r>
              <a:rPr lang="zh-CN" altLang="en-US" sz="1600" dirty="0"/>
              <a:t>，传统判别式推荐系统面临</a:t>
            </a:r>
            <a:r>
              <a:rPr lang="zh-CN" altLang="en-US" sz="1600" b="1" dirty="0">
                <a:solidFill>
                  <a:srgbClr val="C00000"/>
                </a:solidFill>
              </a:rPr>
              <a:t>巨大挑战</a:t>
            </a:r>
            <a:r>
              <a:rPr lang="zh-CN" altLang="en-US" sz="1600" dirty="0"/>
              <a:t>：</a:t>
            </a:r>
            <a:r>
              <a:rPr lang="en-US" altLang="zh-CN" sz="1600" dirty="0"/>
              <a:t>1</a:t>
            </a:r>
            <a:r>
              <a:rPr lang="zh-CN" altLang="en-US" sz="1600" dirty="0"/>
              <a:t>）表征稀疏；</a:t>
            </a:r>
            <a:r>
              <a:rPr lang="en-US" altLang="zh-CN" sz="1600" dirty="0"/>
              <a:t>2</a:t>
            </a:r>
            <a:r>
              <a:rPr lang="zh-CN" altLang="en-US" sz="1600" dirty="0"/>
              <a:t>）利用率低；</a:t>
            </a:r>
            <a:r>
              <a:rPr lang="en-US" altLang="zh-CN" sz="1600" dirty="0"/>
              <a:t>3</a:t>
            </a:r>
            <a:r>
              <a:rPr lang="zh-CN" altLang="en-US" sz="1600" dirty="0"/>
              <a:t>）多阶段累计误差</a:t>
            </a:r>
            <a:endParaRPr lang="en-US" sz="1600" dirty="0"/>
          </a:p>
        </p:txBody>
      </p:sp>
      <p:pic>
        <p:nvPicPr>
          <p:cNvPr id="6" name="Picture 5"/>
          <p:cNvPicPr>
            <a:picLocks noChangeAspect="1"/>
          </p:cNvPicPr>
          <p:nvPr/>
        </p:nvPicPr>
        <p:blipFill rotWithShape="1">
          <a:blip r:embed="rId1">
            <a:extLst>
              <a:ext uri="{28A0092B-C50C-407E-A947-70E740481C1C}">
                <a14:useLocalDpi xmlns:a14="http://schemas.microsoft.com/office/drawing/2010/main" val="0"/>
              </a:ext>
            </a:extLst>
          </a:blip>
          <a:srcRect t="10141" b="7353"/>
          <a:stretch>
            <a:fillRect/>
          </a:stretch>
        </p:blipFill>
        <p:spPr>
          <a:xfrm>
            <a:off x="2235994" y="1951284"/>
            <a:ext cx="7772400" cy="4275141"/>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r>
              <a:rPr lang="en-US" dirty="0"/>
              <a:t>项目背景</a:t>
            </a:r>
            <a:endParaRPr lang="en-US" dirty="0"/>
          </a:p>
        </p:txBody>
      </p:sp>
      <p:sp>
        <p:nvSpPr>
          <p:cNvPr id="3" name="Content Placeholder 2"/>
          <p:cNvSpPr>
            <a:spLocks noGrp="1"/>
          </p:cNvSpPr>
          <p:nvPr>
            <p:ph sz="quarter" idx="11"/>
          </p:nvPr>
        </p:nvSpPr>
        <p:spPr/>
        <p:txBody>
          <a:bodyPr>
            <a:normAutofit/>
          </a:bodyPr>
          <a:lstStyle/>
          <a:p>
            <a:r>
              <a:rPr lang="en-US" sz="2000" dirty="0"/>
              <a:t>端到端生成式推荐成为业界关注重点</a:t>
            </a:r>
            <a:endParaRPr lang="en-US" sz="2000" dirty="0"/>
          </a:p>
        </p:txBody>
      </p:sp>
      <p:pic>
        <p:nvPicPr>
          <p:cNvPr id="5" name="Picture 4"/>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320260" y="2103681"/>
            <a:ext cx="2511946" cy="4053831"/>
          </a:xfrm>
          <a:prstGeom prst="rect">
            <a:avLst/>
          </a:prstGeom>
        </p:spPr>
      </p:pic>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13220" y="2003035"/>
            <a:ext cx="5189753" cy="411419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p:cNvSpPr/>
          <p:nvPr/>
        </p:nvSpPr>
        <p:spPr>
          <a:xfrm>
            <a:off x="886351" y="1590913"/>
            <a:ext cx="10731577" cy="437566"/>
          </a:xfrm>
          <a:prstGeom prst="rect">
            <a:avLst/>
          </a:prstGeom>
          <a:gradFill flip="none" rotWithShape="1">
            <a:gsLst>
              <a:gs pos="0">
                <a:schemeClr val="tx2">
                  <a:lumMod val="75000"/>
                  <a:lumOff val="25000"/>
                  <a:tint val="66000"/>
                  <a:satMod val="160000"/>
                </a:schemeClr>
              </a:gs>
              <a:gs pos="50000">
                <a:schemeClr val="tx2">
                  <a:lumMod val="75000"/>
                  <a:lumOff val="25000"/>
                  <a:tint val="44500"/>
                  <a:satMod val="160000"/>
                </a:schemeClr>
              </a:gs>
              <a:gs pos="100000">
                <a:schemeClr val="tx2">
                  <a:lumMod val="75000"/>
                  <a:lumOff val="25000"/>
                  <a:tint val="23500"/>
                  <a:satMod val="160000"/>
                </a:schemeClr>
              </a:gs>
            </a:gsLst>
            <a:lin ang="0" scaled="1"/>
            <a:tileRect/>
          </a:gra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 Placeholder 1"/>
          <p:cNvSpPr>
            <a:spLocks noGrp="1"/>
          </p:cNvSpPr>
          <p:nvPr>
            <p:ph type="body" sz="quarter" idx="10"/>
          </p:nvPr>
        </p:nvSpPr>
        <p:spPr/>
        <p:txBody>
          <a:bodyPr/>
          <a:lstStyle/>
          <a:p>
            <a:r>
              <a:rPr lang="en-US" dirty="0"/>
              <a:t>项目背景</a:t>
            </a:r>
            <a:endParaRPr lang="en-US" dirty="0"/>
          </a:p>
        </p:txBody>
      </p:sp>
      <p:sp>
        <p:nvSpPr>
          <p:cNvPr id="5" name="TextBox 4"/>
          <p:cNvSpPr txBox="1"/>
          <p:nvPr/>
        </p:nvSpPr>
        <p:spPr>
          <a:xfrm>
            <a:off x="1936790" y="1489202"/>
            <a:ext cx="8076732" cy="500009"/>
          </a:xfrm>
          <a:prstGeom prst="rect">
            <a:avLst/>
          </a:prstGeom>
          <a:noFill/>
        </p:spPr>
        <p:txBody>
          <a:bodyPr wrap="square">
            <a:spAutoFit/>
          </a:bodyPr>
          <a:lstStyle/>
          <a:p>
            <a:pPr algn="ctr">
              <a:lnSpc>
                <a:spcPct val="170000"/>
              </a:lnSpc>
            </a:pPr>
            <a:r>
              <a:rPr lang="zh-CN" altLang="en-US" dirty="0"/>
              <a:t>面向生成式多模态大模型的内容生成与表征嵌入统一框架研究</a:t>
            </a:r>
            <a:endParaRPr lang="en-US" altLang="zh-CN" dirty="0"/>
          </a:p>
        </p:txBody>
      </p:sp>
      <p:sp>
        <p:nvSpPr>
          <p:cNvPr id="7" name="Rectangle 6"/>
          <p:cNvSpPr/>
          <p:nvPr/>
        </p:nvSpPr>
        <p:spPr>
          <a:xfrm>
            <a:off x="936839" y="2631004"/>
            <a:ext cx="2170999" cy="129586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r>
              <a:rPr lang="en-US" dirty="0"/>
              <a:t>研究内容一</a:t>
            </a:r>
            <a:r>
              <a:rPr lang="zh-CN" altLang="en-US" dirty="0"/>
              <a:t>：</a:t>
            </a:r>
            <a:endParaRPr lang="en-US" dirty="0"/>
          </a:p>
          <a:p>
            <a:pPr algn="ctr">
              <a:lnSpc>
                <a:spcPct val="150000"/>
              </a:lnSpc>
            </a:pPr>
            <a:r>
              <a:rPr lang="en-US" dirty="0"/>
              <a:t>多模态内容生成</a:t>
            </a:r>
            <a:endParaRPr lang="en-US" dirty="0"/>
          </a:p>
        </p:txBody>
      </p:sp>
      <p:sp>
        <p:nvSpPr>
          <p:cNvPr id="8" name="Rectangle 7"/>
          <p:cNvSpPr/>
          <p:nvPr/>
        </p:nvSpPr>
        <p:spPr>
          <a:xfrm>
            <a:off x="936838" y="4529396"/>
            <a:ext cx="2170999" cy="129586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r>
              <a:rPr lang="en-US" dirty="0"/>
              <a:t>研究内容二</a:t>
            </a:r>
            <a:r>
              <a:rPr lang="zh-CN" altLang="en-US" dirty="0"/>
              <a:t>：</a:t>
            </a:r>
            <a:endParaRPr lang="en-US" dirty="0"/>
          </a:p>
          <a:p>
            <a:pPr algn="ctr">
              <a:lnSpc>
                <a:spcPct val="150000"/>
              </a:lnSpc>
            </a:pPr>
            <a:r>
              <a:rPr lang="en-US" dirty="0"/>
              <a:t>表征嵌入</a:t>
            </a:r>
            <a:endParaRPr lang="en-US" dirty="0"/>
          </a:p>
        </p:txBody>
      </p:sp>
      <p:sp>
        <p:nvSpPr>
          <p:cNvPr id="10" name="Rectangle 9"/>
          <p:cNvSpPr/>
          <p:nvPr/>
        </p:nvSpPr>
        <p:spPr>
          <a:xfrm>
            <a:off x="3377109" y="2631004"/>
            <a:ext cx="4689806" cy="1295867"/>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p:cNvSpPr txBox="1"/>
          <p:nvPr/>
        </p:nvSpPr>
        <p:spPr>
          <a:xfrm>
            <a:off x="3455646" y="2692474"/>
            <a:ext cx="4532731" cy="1156792"/>
          </a:xfrm>
          <a:prstGeom prst="rect">
            <a:avLst/>
          </a:prstGeom>
          <a:noFill/>
        </p:spPr>
        <p:txBody>
          <a:bodyPr wrap="square" rtlCol="0">
            <a:spAutoFit/>
          </a:bodyPr>
          <a:lstStyle/>
          <a:p>
            <a:pPr>
              <a:lnSpc>
                <a:spcPct val="150000"/>
              </a:lnSpc>
            </a:pPr>
            <a:r>
              <a:rPr lang="zh-CN" altLang="en-US" sz="1600" kern="100" dirty="0">
                <a:effectLst/>
                <a:latin typeface="+mj-ea"/>
                <a:ea typeface="+mj-ea"/>
                <a:cs typeface="Times New Roman" panose="02020503050405090304" pitchFamily="18" charset="0"/>
              </a:rPr>
              <a:t>构建</a:t>
            </a:r>
            <a:r>
              <a:rPr lang="zh-CN" altLang="en-US" sz="1600" kern="100" dirty="0">
                <a:effectLst/>
                <a:latin typeface="+mj-ea"/>
                <a:ea typeface="+mj-ea"/>
                <a:cs typeface="Times New Roman" panose="02020503050405090304" pitchFamily="18" charset="0"/>
              </a:rPr>
              <a:t>端到端多模态内容生成范式，联合用户行为偏好以及文本空间语义信号，通过规模化有监督微调或者强化学习新训练范式。</a:t>
            </a:r>
            <a:endParaRPr lang="en-US" sz="1600" dirty="0">
              <a:latin typeface="+mj-ea"/>
              <a:ea typeface="+mj-ea"/>
            </a:endParaRPr>
          </a:p>
        </p:txBody>
      </p:sp>
      <p:sp>
        <p:nvSpPr>
          <p:cNvPr id="12" name="Rectangle 11"/>
          <p:cNvSpPr/>
          <p:nvPr/>
        </p:nvSpPr>
        <p:spPr>
          <a:xfrm>
            <a:off x="3377109" y="4529396"/>
            <a:ext cx="4689806" cy="1295867"/>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p:cNvSpPr txBox="1"/>
          <p:nvPr/>
        </p:nvSpPr>
        <p:spPr>
          <a:xfrm>
            <a:off x="3455646" y="4590866"/>
            <a:ext cx="4532731" cy="1156792"/>
          </a:xfrm>
          <a:prstGeom prst="rect">
            <a:avLst/>
          </a:prstGeom>
          <a:noFill/>
        </p:spPr>
        <p:txBody>
          <a:bodyPr wrap="square" rtlCol="0">
            <a:spAutoFit/>
          </a:bodyPr>
          <a:lstStyle/>
          <a:p>
            <a:pPr>
              <a:lnSpc>
                <a:spcPct val="150000"/>
              </a:lnSpc>
            </a:pPr>
            <a:r>
              <a:rPr lang="zh-CN" sz="1600" kern="100" dirty="0">
                <a:effectLst/>
                <a:latin typeface="+mj-ea"/>
                <a:ea typeface="+mj-ea"/>
                <a:cs typeface="Times New Roman" panose="02020503050405090304" pitchFamily="18" charset="0"/>
              </a:rPr>
              <a:t>现有的表征对齐方式通常忽略了不同模态之间复杂的关联关系</a:t>
            </a:r>
            <a:r>
              <a:rPr lang="zh-CN" altLang="en-US" sz="1600" kern="100" dirty="0">
                <a:effectLst/>
                <a:latin typeface="+mj-ea"/>
                <a:ea typeface="+mj-ea"/>
                <a:cs typeface="Times New Roman" panose="02020503050405090304" pitchFamily="18" charset="0"/>
              </a:rPr>
              <a:t>，本项目计划探索在统一嵌入空间中实现多模态语义信号与协同信号的联合对齐 。</a:t>
            </a:r>
            <a:r>
              <a:rPr lang="en-US" sz="1600" dirty="0">
                <a:effectLst/>
                <a:latin typeface="+mj-ea"/>
                <a:ea typeface="+mj-ea"/>
              </a:rPr>
              <a:t> </a:t>
            </a:r>
            <a:endParaRPr lang="en-US" sz="1600" dirty="0">
              <a:latin typeface="+mj-ea"/>
              <a:ea typeface="+mj-ea"/>
            </a:endParaRPr>
          </a:p>
        </p:txBody>
      </p:sp>
      <p:sp>
        <p:nvSpPr>
          <p:cNvPr id="14" name="Rectangle 13"/>
          <p:cNvSpPr/>
          <p:nvPr/>
        </p:nvSpPr>
        <p:spPr>
          <a:xfrm>
            <a:off x="8381065" y="2631004"/>
            <a:ext cx="3236863" cy="454395"/>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项目价值</a:t>
            </a:r>
            <a:endParaRPr lang="en-US" dirty="0"/>
          </a:p>
        </p:txBody>
      </p:sp>
      <p:sp>
        <p:nvSpPr>
          <p:cNvPr id="15" name="Rectangle 14"/>
          <p:cNvSpPr/>
          <p:nvPr/>
        </p:nvSpPr>
        <p:spPr>
          <a:xfrm>
            <a:off x="8381064" y="3318207"/>
            <a:ext cx="3236863" cy="454395"/>
          </a:xfrm>
          <a:prstGeom prst="rect">
            <a:avLst/>
          </a:prstGeom>
          <a:solidFill>
            <a:srgbClr val="17479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t>技术价值：推动前沿技术突破与理论创新</a:t>
            </a:r>
            <a:endParaRPr lang="zh-CN" altLang="en-US" sz="1200" dirty="0"/>
          </a:p>
        </p:txBody>
      </p:sp>
      <p:sp>
        <p:nvSpPr>
          <p:cNvPr id="16" name="Rectangle 15"/>
          <p:cNvSpPr/>
          <p:nvPr/>
        </p:nvSpPr>
        <p:spPr>
          <a:xfrm>
            <a:off x="8395090" y="4086220"/>
            <a:ext cx="3236863" cy="454395"/>
          </a:xfrm>
          <a:prstGeom prst="rect">
            <a:avLst/>
          </a:prstGeom>
          <a:solidFill>
            <a:srgbClr val="17479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t>产品价值：打造下一代智能推荐用户体验</a:t>
            </a:r>
            <a:endParaRPr lang="zh-CN" altLang="en-US" sz="1200" dirty="0"/>
          </a:p>
        </p:txBody>
      </p:sp>
      <p:sp>
        <p:nvSpPr>
          <p:cNvPr id="17" name="Rectangle 16"/>
          <p:cNvSpPr/>
          <p:nvPr/>
        </p:nvSpPr>
        <p:spPr>
          <a:xfrm>
            <a:off x="8395090" y="4804093"/>
            <a:ext cx="3236863" cy="454395"/>
          </a:xfrm>
          <a:prstGeom prst="rect">
            <a:avLst/>
          </a:prstGeom>
          <a:solidFill>
            <a:srgbClr val="17479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t>战略价值：构建</a:t>
            </a:r>
            <a:r>
              <a:rPr lang="zh-CN" altLang="en-US" sz="1200" dirty="0"/>
              <a:t>点评</a:t>
            </a:r>
            <a:r>
              <a:rPr lang="zh-CN" altLang="en-US" sz="1200" dirty="0"/>
              <a:t>智能生态入口</a:t>
            </a:r>
            <a:endParaRPr lang="zh-CN" alt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11"/>
          <p:cNvSpPr txBox="1"/>
          <p:nvPr/>
        </p:nvSpPr>
        <p:spPr>
          <a:xfrm>
            <a:off x="5943600" y="1908279"/>
            <a:ext cx="5467350" cy="1638300"/>
          </a:xfrm>
          <a:prstGeom prst="rect">
            <a:avLst/>
          </a:prstGeom>
        </p:spPr>
        <p:txBody>
          <a:bodyPr vert="horz" lIns="144000" tIns="144000" rIns="144000" bIns="144000" rtlCol="0" anchor="ctr" anchorCtr="0">
            <a:normAutofit/>
          </a:bodyPr>
          <a:lstStyle>
            <a:lvl1pPr marL="0" indent="0" algn="ctr" defTabSz="914400" rtl="0" eaLnBrk="1" latinLnBrk="0" hangingPunct="1">
              <a:lnSpc>
                <a:spcPct val="100000"/>
              </a:lnSpc>
              <a:spcBef>
                <a:spcPts val="1000"/>
              </a:spcBef>
              <a:buFont typeface="Arial" panose="020B0604020202090204" pitchFamily="34" charset="0"/>
              <a:buNone/>
              <a:defRPr sz="6000" b="1" kern="1200">
                <a:solidFill>
                  <a:schemeClr val="bg1"/>
                </a:solidFill>
                <a:effectLst>
                  <a:outerShdw blurRad="38100" dist="38100" dir="2700000" algn="tl">
                    <a:srgbClr val="000000">
                      <a:alpha val="43137"/>
                    </a:srgbClr>
                  </a:outerShdw>
                </a:effectLst>
                <a:latin typeface="+mj-ea"/>
                <a:ea typeface="+mj-ea"/>
                <a:cs typeface="+mn-cs"/>
              </a:defRPr>
            </a:lvl1pPr>
            <a:lvl2pPr marL="685800" indent="-228600" algn="l" defTabSz="914400" rtl="0" eaLnBrk="1" latinLnBrk="0" hangingPunct="1">
              <a:lnSpc>
                <a:spcPct val="90000"/>
              </a:lnSpc>
              <a:spcBef>
                <a:spcPts val="500"/>
              </a:spcBef>
              <a:buFont typeface="Arial" panose="020B060402020209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9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a:lstStyle>
          <a:p>
            <a:r>
              <a:rPr lang="zh-CN" altLang="en-US" dirty="0"/>
              <a:t>研究内容</a:t>
            </a:r>
            <a:endParaRPr lang="zh-CN" alt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p:cNvSpPr>
            <a:spLocks noGrp="1"/>
          </p:cNvSpPr>
          <p:nvPr>
            <p:ph type="body" sz="quarter" idx="10"/>
          </p:nvPr>
        </p:nvSpPr>
        <p:spPr/>
        <p:txBody>
          <a:bodyPr/>
          <a:lstStyle/>
          <a:p>
            <a:r>
              <a:rPr lang="en-US" altLang="zh-CN" sz="2800" dirty="0"/>
              <a:t>【</a:t>
            </a:r>
            <a:r>
              <a:rPr lang="zh-CN" altLang="en-US" sz="2800" dirty="0"/>
              <a:t>课题一</a:t>
            </a:r>
            <a:r>
              <a:rPr lang="en-US" altLang="zh-CN" sz="2800" dirty="0"/>
              <a:t>】</a:t>
            </a:r>
            <a:r>
              <a:rPr lang="zh-CN" altLang="en-US" sz="2800" dirty="0"/>
              <a:t>统一生成式强化学习范式</a:t>
            </a:r>
            <a:r>
              <a:rPr lang="en-US" altLang="zh-CN" sz="2800" dirty="0"/>
              <a:t>SeqRec-R1</a:t>
            </a:r>
            <a:r>
              <a:rPr lang="zh-CN" altLang="en-US" sz="2800" dirty="0"/>
              <a:t>：核心挑战</a:t>
            </a:r>
            <a:endParaRPr lang="zh-CN" altLang="en-US" sz="2800" dirty="0"/>
          </a:p>
        </p:txBody>
      </p:sp>
      <p:pic>
        <p:nvPicPr>
          <p:cNvPr id="8" name="图片 7"/>
          <p:cNvPicPr>
            <a:picLocks noChangeAspect="1"/>
          </p:cNvPicPr>
          <p:nvPr/>
        </p:nvPicPr>
        <p:blipFill>
          <a:blip r:embed="rId1"/>
          <a:srcRect l="2430" t="4673" r="2268"/>
          <a:stretch>
            <a:fillRect/>
          </a:stretch>
        </p:blipFill>
        <p:spPr>
          <a:xfrm>
            <a:off x="94584" y="1513183"/>
            <a:ext cx="7549117" cy="4006703"/>
          </a:xfrm>
          <a:prstGeom prst="rect">
            <a:avLst/>
          </a:prstGeom>
        </p:spPr>
      </p:pic>
      <p:sp>
        <p:nvSpPr>
          <p:cNvPr id="10" name="文本框 9"/>
          <p:cNvSpPr txBox="1"/>
          <p:nvPr/>
        </p:nvSpPr>
        <p:spPr>
          <a:xfrm>
            <a:off x="7899991" y="1513183"/>
            <a:ext cx="4008474" cy="3416320"/>
          </a:xfrm>
          <a:prstGeom prst="rect">
            <a:avLst/>
          </a:prstGeom>
          <a:noFill/>
        </p:spPr>
        <p:txBody>
          <a:bodyPr wrap="square" rtlCol="0">
            <a:spAutoFit/>
          </a:bodyPr>
          <a:lstStyle/>
          <a:p>
            <a:r>
              <a:rPr kumimoji="1" lang="zh-CN" altLang="en-US" b="1" dirty="0"/>
              <a:t>核心挑战一</a:t>
            </a:r>
            <a:endParaRPr kumimoji="1" lang="en-US" altLang="zh-CN" b="1" dirty="0"/>
          </a:p>
          <a:p>
            <a:endParaRPr kumimoji="1" lang="en-US" altLang="zh-CN" b="1" dirty="0"/>
          </a:p>
          <a:p>
            <a:pPr marL="285750" indent="-285750">
              <a:lnSpc>
                <a:spcPct val="150000"/>
              </a:lnSpc>
              <a:buFont typeface="Arial" panose="020B0604020202090204" pitchFamily="34" charset="0"/>
              <a:buChar char="•"/>
            </a:pPr>
            <a:r>
              <a:rPr kumimoji="1" lang="zh-CN" altLang="en-US" sz="1600" b="1" dirty="0"/>
              <a:t>数据稀疏性：</a:t>
            </a:r>
            <a:r>
              <a:rPr kumimoji="1" lang="zh-CN" altLang="en-US" sz="1600" dirty="0"/>
              <a:t>物品</a:t>
            </a:r>
            <a:r>
              <a:rPr kumimoji="1" lang="en-US" altLang="zh-CN" sz="1600" dirty="0"/>
              <a:t>Token</a:t>
            </a:r>
            <a:r>
              <a:rPr kumimoji="1" lang="zh-CN" altLang="en-US" sz="1600" dirty="0"/>
              <a:t>表征空间大，组合</a:t>
            </a:r>
            <a:r>
              <a:rPr kumimoji="1" lang="zh-CN" altLang="en-US" sz="1600" dirty="0"/>
              <a:t>物品</a:t>
            </a:r>
            <a:r>
              <a:rPr kumimoji="1" lang="zh-CN" altLang="en-US" sz="1600" dirty="0"/>
              <a:t>序列轨迹稀疏，导致模型难以泛化。</a:t>
            </a:r>
            <a:endParaRPr kumimoji="1" lang="en-US" altLang="zh-CN" sz="1600" dirty="0"/>
          </a:p>
          <a:p>
            <a:pPr marL="285750" indent="-285750">
              <a:lnSpc>
                <a:spcPct val="150000"/>
              </a:lnSpc>
              <a:buFont typeface="Arial" panose="020B0604020202090204" pitchFamily="34" charset="0"/>
              <a:buChar char="•"/>
            </a:pPr>
            <a:r>
              <a:rPr kumimoji="1" lang="zh-CN" altLang="en-US" sz="1600" b="1" dirty="0"/>
              <a:t>奖励稀疏性：</a:t>
            </a:r>
            <a:r>
              <a:rPr kumimoji="1" lang="zh-CN" altLang="en-US" sz="1600" dirty="0"/>
              <a:t>传统基于规则的奖励方式仅奖励完全正确的标签，使得奖励信号也极其地稀疏，导致优势消失的问题</a:t>
            </a:r>
            <a:endParaRPr kumimoji="1" lang="en-US" altLang="zh-CN" sz="1600" dirty="0"/>
          </a:p>
          <a:p>
            <a:pPr marL="342900" indent="-342900">
              <a:buAutoNum type="ea1ChsPeriod"/>
            </a:pPr>
            <a:endParaRPr kumimoji="1" lang="en-US" altLang="zh-CN" dirty="0"/>
          </a:p>
          <a:p>
            <a:endParaRPr kumimoji="1" lang="en-US" altLang="zh-CN"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p:cNvSpPr>
            <a:spLocks noGrp="1"/>
          </p:cNvSpPr>
          <p:nvPr>
            <p:ph type="body" sz="quarter" idx="10"/>
          </p:nvPr>
        </p:nvSpPr>
        <p:spPr/>
        <p:txBody>
          <a:bodyPr/>
          <a:lstStyle/>
          <a:p>
            <a:r>
              <a:rPr lang="en-US" altLang="zh-CN" sz="2800" dirty="0"/>
              <a:t>【</a:t>
            </a:r>
            <a:r>
              <a:rPr lang="zh-CN" altLang="en-US" sz="2800" dirty="0"/>
              <a:t>课题一</a:t>
            </a:r>
            <a:r>
              <a:rPr lang="en-US" altLang="zh-CN" sz="2800" dirty="0"/>
              <a:t>】</a:t>
            </a:r>
            <a:r>
              <a:rPr lang="zh-CN" altLang="en-US" sz="2800" dirty="0"/>
              <a:t>统一生成式强化学习范式</a:t>
            </a:r>
            <a:r>
              <a:rPr lang="en-US" altLang="zh-CN" sz="2800" dirty="0"/>
              <a:t>SeqRec-R1</a:t>
            </a:r>
            <a:r>
              <a:rPr lang="zh-CN" altLang="en-US" sz="2800" dirty="0"/>
              <a:t>：核心挑战</a:t>
            </a:r>
            <a:endParaRPr lang="zh-CN" altLang="en-US" sz="2800" dirty="0"/>
          </a:p>
        </p:txBody>
      </p:sp>
      <p:sp>
        <p:nvSpPr>
          <p:cNvPr id="10" name="文本框 9"/>
          <p:cNvSpPr txBox="1"/>
          <p:nvPr/>
        </p:nvSpPr>
        <p:spPr>
          <a:xfrm>
            <a:off x="7634178" y="1305341"/>
            <a:ext cx="4263654" cy="4801314"/>
          </a:xfrm>
          <a:prstGeom prst="rect">
            <a:avLst/>
          </a:prstGeom>
          <a:noFill/>
        </p:spPr>
        <p:txBody>
          <a:bodyPr wrap="square" rtlCol="0">
            <a:spAutoFit/>
          </a:bodyPr>
          <a:lstStyle/>
          <a:p>
            <a:pPr>
              <a:lnSpc>
                <a:spcPct val="150000"/>
              </a:lnSpc>
            </a:pPr>
            <a:r>
              <a:rPr kumimoji="1" lang="zh-CN" altLang="en-US" sz="1400" b="1" dirty="0"/>
              <a:t>核心挑战二</a:t>
            </a:r>
            <a:endParaRPr kumimoji="1" lang="en-US" altLang="zh-CN" sz="1400" b="1" dirty="0"/>
          </a:p>
          <a:p>
            <a:pPr>
              <a:lnSpc>
                <a:spcPct val="150000"/>
              </a:lnSpc>
            </a:pPr>
            <a:endParaRPr kumimoji="1" lang="en-US" altLang="zh-CN" sz="1400" b="1" dirty="0"/>
          </a:p>
          <a:p>
            <a:pPr marL="285750" indent="-285750">
              <a:lnSpc>
                <a:spcPct val="150000"/>
              </a:lnSpc>
              <a:buFont typeface="Arial" panose="020B0604020202090204" pitchFamily="34" charset="0"/>
              <a:buChar char="•"/>
            </a:pPr>
            <a:r>
              <a:rPr kumimoji="1" lang="zh-CN" altLang="en-US" sz="1400" b="1" dirty="0"/>
              <a:t>梯度冲突：</a:t>
            </a:r>
            <a:r>
              <a:rPr kumimoji="1" lang="zh-CN" altLang="en-US" sz="1400" dirty="0"/>
              <a:t>只有在完全匹配正确答案的情况下，才能获得奖励激励。</a:t>
            </a:r>
            <a:r>
              <a:rPr kumimoji="1" lang="en-US" altLang="zh-CN" sz="1400" dirty="0"/>
              <a:t>Prediction</a:t>
            </a:r>
            <a:r>
              <a:rPr kumimoji="1" lang="zh-CN" altLang="en-US" sz="1400" dirty="0"/>
              <a:t> </a:t>
            </a:r>
            <a:r>
              <a:rPr kumimoji="1" lang="en-US" altLang="zh-CN" sz="1400" dirty="0"/>
              <a:t>1,</a:t>
            </a:r>
            <a:r>
              <a:rPr kumimoji="1" lang="zh-CN" altLang="en-US" sz="1400" dirty="0"/>
              <a:t> </a:t>
            </a:r>
            <a:r>
              <a:rPr kumimoji="1" lang="en-US" altLang="zh-CN" sz="1400" dirty="0"/>
              <a:t>Prediction</a:t>
            </a:r>
            <a:r>
              <a:rPr kumimoji="1" lang="zh-CN" altLang="en-US" sz="1400" dirty="0"/>
              <a:t> </a:t>
            </a:r>
            <a:r>
              <a:rPr kumimoji="1" lang="en-US" altLang="zh-CN" sz="1400" dirty="0"/>
              <a:t>2</a:t>
            </a:r>
            <a:r>
              <a:rPr kumimoji="1" lang="zh-CN" altLang="en-US" sz="1400" dirty="0"/>
              <a:t> 尽管前缀预测正确（</a:t>
            </a:r>
            <a:r>
              <a:rPr kumimoji="1" lang="en-US" altLang="zh-CN" sz="1400" dirty="0"/>
              <a:t>&lt;a_1&gt;</a:t>
            </a:r>
            <a:r>
              <a:rPr kumimoji="1" lang="zh-CN" altLang="en-US" sz="1400" dirty="0"/>
              <a:t>），但仍然得到了反向的梯度（抑制信号）。</a:t>
            </a:r>
            <a:endParaRPr kumimoji="1" lang="en-US" altLang="zh-CN" sz="1400" dirty="0"/>
          </a:p>
          <a:p>
            <a:pPr marL="285750" indent="-285750">
              <a:lnSpc>
                <a:spcPct val="150000"/>
              </a:lnSpc>
              <a:buFont typeface="Arial" panose="020B0604020202090204" pitchFamily="34" charset="0"/>
              <a:buChar char="•"/>
            </a:pPr>
            <a:endParaRPr kumimoji="1" lang="en-US" altLang="zh-CN" sz="1400" dirty="0"/>
          </a:p>
          <a:p>
            <a:pPr marL="285750" indent="-285750">
              <a:lnSpc>
                <a:spcPct val="150000"/>
              </a:lnSpc>
              <a:buFont typeface="Arial" panose="020B0604020202090204" pitchFamily="34" charset="0"/>
              <a:buChar char="•"/>
            </a:pPr>
            <a:r>
              <a:rPr kumimoji="1" lang="zh-CN" altLang="en-US" sz="1400" dirty="0"/>
              <a:t>对于同样的前缀，</a:t>
            </a:r>
            <a:r>
              <a:rPr kumimoji="1" lang="en-US" altLang="zh-CN" sz="1400" dirty="0"/>
              <a:t>&lt;a_1&gt;&lt;b_2&gt;</a:t>
            </a:r>
            <a:r>
              <a:rPr kumimoji="1" lang="zh-CN" altLang="en-US" sz="1400" dirty="0"/>
              <a:t> 获得了相反的梯度更新方向，导致了</a:t>
            </a:r>
            <a:r>
              <a:rPr kumimoji="1" lang="zh-CN" altLang="en-US" sz="1400" dirty="0">
                <a:solidFill>
                  <a:srgbClr val="FF0000"/>
                </a:solidFill>
              </a:rPr>
              <a:t>梯度冲突</a:t>
            </a:r>
            <a:r>
              <a:rPr kumimoji="1" lang="zh-CN" altLang="en-US" sz="1400" dirty="0"/>
              <a:t>的问题</a:t>
            </a:r>
            <a:endParaRPr kumimoji="1" lang="en-US" altLang="zh-CN" sz="1400" dirty="0"/>
          </a:p>
          <a:p>
            <a:pPr marL="285750" indent="-285750">
              <a:lnSpc>
                <a:spcPct val="150000"/>
              </a:lnSpc>
              <a:buFont typeface="Arial" panose="020B0604020202090204" pitchFamily="34" charset="0"/>
              <a:buChar char="•"/>
            </a:pPr>
            <a:endParaRPr kumimoji="1" lang="en-US" altLang="zh-CN" sz="1400" dirty="0"/>
          </a:p>
          <a:p>
            <a:pPr marL="285750" indent="-285750">
              <a:lnSpc>
                <a:spcPct val="150000"/>
              </a:lnSpc>
              <a:buFont typeface="Arial" panose="020B0604020202090204" pitchFamily="34" charset="0"/>
              <a:buChar char="•"/>
            </a:pPr>
            <a:r>
              <a:rPr kumimoji="1" lang="zh-CN" altLang="en-US" sz="1400" dirty="0"/>
              <a:t>该问题的本质在于，</a:t>
            </a:r>
            <a:r>
              <a:rPr kumimoji="1" lang="zh-CN" altLang="en-US" sz="1400" dirty="0">
                <a:solidFill>
                  <a:srgbClr val="FF0000"/>
                </a:solidFill>
              </a:rPr>
              <a:t>预测正确的前缀未能得到激励信号，反而因为整体预测错误而被抑制。</a:t>
            </a:r>
            <a:endParaRPr kumimoji="1" lang="en-US" altLang="zh-CN" sz="1400" dirty="0">
              <a:solidFill>
                <a:srgbClr val="FF0000"/>
              </a:solidFill>
            </a:endParaRPr>
          </a:p>
          <a:p>
            <a:pPr marL="342900" indent="-342900">
              <a:buAutoNum type="ea1ChsPeriod"/>
            </a:pPr>
            <a:endParaRPr kumimoji="1" lang="en-US" altLang="zh-CN" b="1" dirty="0"/>
          </a:p>
          <a:p>
            <a:pPr marL="342900" indent="-342900">
              <a:buAutoNum type="ea1ChsPeriod"/>
            </a:pPr>
            <a:endParaRPr kumimoji="1" lang="en-US" altLang="zh-CN" dirty="0"/>
          </a:p>
          <a:p>
            <a:endParaRPr kumimoji="1" lang="en-US" altLang="zh-CN" dirty="0"/>
          </a:p>
        </p:txBody>
      </p:sp>
      <p:pic>
        <p:nvPicPr>
          <p:cNvPr id="4" name="图片 3"/>
          <p:cNvPicPr>
            <a:picLocks noChangeAspect="1"/>
          </p:cNvPicPr>
          <p:nvPr/>
        </p:nvPicPr>
        <p:blipFill>
          <a:blip r:embed="rId1"/>
          <a:stretch>
            <a:fillRect/>
          </a:stretch>
        </p:blipFill>
        <p:spPr>
          <a:xfrm>
            <a:off x="168348" y="1305341"/>
            <a:ext cx="7307448" cy="4234222"/>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p:cNvSpPr>
            <a:spLocks noGrp="1"/>
          </p:cNvSpPr>
          <p:nvPr>
            <p:ph type="body" sz="quarter" idx="10"/>
          </p:nvPr>
        </p:nvSpPr>
        <p:spPr>
          <a:xfrm>
            <a:off x="19048" y="0"/>
            <a:ext cx="12172952" cy="856210"/>
          </a:xfrm>
        </p:spPr>
        <p:txBody>
          <a:bodyPr/>
          <a:lstStyle/>
          <a:p>
            <a:r>
              <a:rPr lang="en-US" altLang="zh-CN" sz="2800" dirty="0"/>
              <a:t>【</a:t>
            </a:r>
            <a:r>
              <a:rPr lang="zh-CN" altLang="en-US" sz="2800" dirty="0"/>
              <a:t>课题一</a:t>
            </a:r>
            <a:r>
              <a:rPr lang="en-US" altLang="zh-CN" sz="2800" dirty="0"/>
              <a:t>】</a:t>
            </a:r>
            <a:r>
              <a:rPr lang="zh-CN" altLang="en-US" sz="2800" dirty="0"/>
              <a:t>统一生成式强化学习范式</a:t>
            </a:r>
            <a:r>
              <a:rPr lang="en-US" altLang="zh-CN" sz="2800" dirty="0"/>
              <a:t>SeqRec-R1</a:t>
            </a:r>
            <a:endParaRPr lang="zh-CN" altLang="en-US" sz="2800" dirty="0"/>
          </a:p>
        </p:txBody>
      </p:sp>
      <p:sp>
        <p:nvSpPr>
          <p:cNvPr id="10" name="文本框 9"/>
          <p:cNvSpPr txBox="1"/>
          <p:nvPr/>
        </p:nvSpPr>
        <p:spPr>
          <a:xfrm>
            <a:off x="7559749" y="1403497"/>
            <a:ext cx="4338083" cy="2262158"/>
          </a:xfrm>
          <a:prstGeom prst="rect">
            <a:avLst/>
          </a:prstGeom>
          <a:noFill/>
        </p:spPr>
        <p:txBody>
          <a:bodyPr wrap="square" rtlCol="0">
            <a:spAutoFit/>
          </a:bodyPr>
          <a:lstStyle/>
          <a:p>
            <a:pPr>
              <a:lnSpc>
                <a:spcPct val="150000"/>
              </a:lnSpc>
            </a:pPr>
            <a:r>
              <a:rPr kumimoji="1" lang="zh-CN" altLang="en-US" sz="1400" b="1" dirty="0"/>
              <a:t>梯度冲突</a:t>
            </a:r>
            <a:endParaRPr kumimoji="1" lang="en-US" altLang="zh-CN" sz="1400" b="1" dirty="0"/>
          </a:p>
          <a:p>
            <a:pPr marL="285750" indent="-285750">
              <a:lnSpc>
                <a:spcPct val="150000"/>
              </a:lnSpc>
              <a:buFont typeface="Arial" panose="020B0604020202090204" pitchFamily="34" charset="0"/>
              <a:buChar char="•"/>
            </a:pPr>
            <a:r>
              <a:rPr kumimoji="1" lang="en-US" altLang="zh-CN" sz="1400" b="1" dirty="0"/>
              <a:t>Prefix</a:t>
            </a:r>
            <a:r>
              <a:rPr kumimoji="1" lang="zh-CN" altLang="en-US" sz="1400" b="1" dirty="0"/>
              <a:t> </a:t>
            </a:r>
            <a:r>
              <a:rPr kumimoji="1" lang="en-US" altLang="zh-CN" sz="1400" b="1" dirty="0"/>
              <a:t>Token-level</a:t>
            </a:r>
            <a:r>
              <a:rPr kumimoji="1" lang="zh-CN" altLang="en-US" sz="1400" b="1" dirty="0"/>
              <a:t>奖励机制：</a:t>
            </a:r>
            <a:r>
              <a:rPr kumimoji="1" lang="zh-CN" altLang="en-US" sz="1400" dirty="0"/>
              <a:t>设计</a:t>
            </a:r>
            <a:r>
              <a:rPr kumimoji="1" lang="en-US" altLang="zh-CN" sz="1400" dirty="0"/>
              <a:t>Token-level</a:t>
            </a:r>
            <a:r>
              <a:rPr kumimoji="1" lang="zh-CN" altLang="en-US" sz="1400" dirty="0"/>
              <a:t>的奖励机制，即不仅仅在完全匹配的情况下提供奖励信号。</a:t>
            </a:r>
            <a:r>
              <a:rPr kumimoji="1" lang="zh-CN" altLang="en-US" sz="1400" dirty="0">
                <a:solidFill>
                  <a:srgbClr val="FF0000"/>
                </a:solidFill>
              </a:rPr>
              <a:t>模型正确预测前缀也应该有部分奖励激励。</a:t>
            </a:r>
            <a:endParaRPr kumimoji="1" lang="en-US" altLang="zh-CN" sz="1400" dirty="0">
              <a:solidFill>
                <a:srgbClr val="FF0000"/>
              </a:solidFill>
            </a:endParaRPr>
          </a:p>
          <a:p>
            <a:pPr marL="342900" indent="-342900">
              <a:buAutoNum type="ea1ChsPeriod"/>
            </a:pPr>
            <a:endParaRPr kumimoji="1" lang="en-US" altLang="zh-CN" dirty="0"/>
          </a:p>
          <a:p>
            <a:endParaRPr kumimoji="1" lang="en-US" altLang="zh-CN" dirty="0"/>
          </a:p>
        </p:txBody>
      </p:sp>
      <p:sp>
        <p:nvSpPr>
          <p:cNvPr id="2" name="文本框 1"/>
          <p:cNvSpPr txBox="1"/>
          <p:nvPr/>
        </p:nvSpPr>
        <p:spPr>
          <a:xfrm>
            <a:off x="382773" y="1305341"/>
            <a:ext cx="6804836" cy="3277820"/>
          </a:xfrm>
          <a:prstGeom prst="rect">
            <a:avLst/>
          </a:prstGeom>
          <a:noFill/>
        </p:spPr>
        <p:txBody>
          <a:bodyPr wrap="square" rtlCol="0">
            <a:spAutoFit/>
          </a:bodyPr>
          <a:lstStyle/>
          <a:p>
            <a:pPr>
              <a:lnSpc>
                <a:spcPct val="150000"/>
              </a:lnSpc>
            </a:pPr>
            <a:r>
              <a:rPr kumimoji="1" lang="zh-CN" altLang="en-US" sz="1400" b="1" dirty="0"/>
              <a:t>数据和奖励的稀疏性</a:t>
            </a:r>
            <a:endParaRPr kumimoji="1" lang="en-US" altLang="zh-CN" sz="1400" b="1" dirty="0"/>
          </a:p>
          <a:p>
            <a:pPr marL="285750" indent="-285750">
              <a:lnSpc>
                <a:spcPct val="150000"/>
              </a:lnSpc>
              <a:buFont typeface="Arial" panose="020B0604020202090204" pitchFamily="34" charset="0"/>
              <a:buChar char="•"/>
            </a:pPr>
            <a:r>
              <a:rPr kumimoji="1" lang="zh-CN" altLang="en-US" sz="1400" b="1" dirty="0"/>
              <a:t>多领统一表征：</a:t>
            </a:r>
            <a:r>
              <a:rPr kumimoji="1" lang="zh-CN" altLang="en-US" sz="1400" dirty="0"/>
              <a:t>对于数据的稀疏性，</a:t>
            </a:r>
            <a:r>
              <a:rPr kumimoji="1" lang="zh-CN" altLang="en-US" sz="1400" dirty="0">
                <a:solidFill>
                  <a:srgbClr val="FF0000"/>
                </a:solidFill>
              </a:rPr>
              <a:t>融合多域数据</a:t>
            </a:r>
            <a:r>
              <a:rPr kumimoji="1" lang="zh-CN" altLang="en-US" sz="1400" dirty="0"/>
              <a:t>，统一进行编码和离散化处理，使多域数据</a:t>
            </a:r>
            <a:r>
              <a:rPr kumimoji="1" lang="zh-CN" altLang="en-US" sz="1400" dirty="0">
                <a:solidFill>
                  <a:srgbClr val="FF0000"/>
                </a:solidFill>
              </a:rPr>
              <a:t>共享同一个</a:t>
            </a:r>
            <a:r>
              <a:rPr kumimoji="1" lang="en-US" altLang="zh-CN" sz="1400" dirty="0">
                <a:solidFill>
                  <a:srgbClr val="FF0000"/>
                </a:solidFill>
              </a:rPr>
              <a:t>Token</a:t>
            </a:r>
            <a:r>
              <a:rPr kumimoji="1" lang="zh-CN" altLang="en-US" sz="1400" dirty="0">
                <a:solidFill>
                  <a:srgbClr val="FF0000"/>
                </a:solidFill>
              </a:rPr>
              <a:t>表征空间，</a:t>
            </a:r>
            <a:r>
              <a:rPr kumimoji="1" lang="zh-CN" altLang="en-US" sz="1400" dirty="0"/>
              <a:t>并同步进行</a:t>
            </a:r>
            <a:r>
              <a:rPr kumimoji="1" lang="en-US" altLang="zh-CN" sz="1400" dirty="0"/>
              <a:t>SFT</a:t>
            </a:r>
            <a:r>
              <a:rPr kumimoji="1" lang="zh-CN" altLang="en-US" sz="1400" dirty="0"/>
              <a:t>训练，提高模型在</a:t>
            </a:r>
            <a:r>
              <a:rPr kumimoji="1" lang="en-US" altLang="zh-CN" sz="1400" dirty="0"/>
              <a:t>SFT</a:t>
            </a:r>
            <a:r>
              <a:rPr kumimoji="1" lang="zh-CN" altLang="en-US" sz="1400" dirty="0"/>
              <a:t>阶段对整个</a:t>
            </a:r>
            <a:r>
              <a:rPr kumimoji="1" lang="en-US" altLang="zh-CN" sz="1400" dirty="0"/>
              <a:t>Token</a:t>
            </a:r>
            <a:r>
              <a:rPr kumimoji="1" lang="zh-CN" altLang="en-US" sz="1400" dirty="0"/>
              <a:t>空间的理解能力，并强化新</a:t>
            </a:r>
            <a:r>
              <a:rPr kumimoji="1" lang="en-US" altLang="zh-CN" sz="1400" dirty="0"/>
              <a:t>Token</a:t>
            </a:r>
            <a:r>
              <a:rPr kumimoji="1" lang="zh-CN" altLang="en-US" sz="1400" dirty="0"/>
              <a:t>与原始词表的融合。</a:t>
            </a:r>
            <a:endParaRPr kumimoji="1" lang="en-US" altLang="zh-CN" sz="1400" dirty="0"/>
          </a:p>
          <a:p>
            <a:pPr marL="285750" indent="-285750">
              <a:lnSpc>
                <a:spcPct val="150000"/>
              </a:lnSpc>
              <a:buFont typeface="Arial" panose="020B0604020202090204" pitchFamily="34" charset="0"/>
              <a:buChar char="•"/>
            </a:pPr>
            <a:r>
              <a:rPr kumimoji="1" lang="zh-CN" altLang="en-US" sz="1400" b="1" dirty="0"/>
              <a:t>数据扩增：</a:t>
            </a:r>
            <a:r>
              <a:rPr kumimoji="1" lang="zh-CN" altLang="en-US" sz="1400" dirty="0"/>
              <a:t>在</a:t>
            </a:r>
            <a:r>
              <a:rPr kumimoji="1" lang="en-US" altLang="zh-CN" sz="1400" dirty="0"/>
              <a:t>RL</a:t>
            </a:r>
            <a:r>
              <a:rPr kumimoji="1" lang="zh-CN" altLang="en-US" sz="1400" dirty="0"/>
              <a:t>阶段，进一步进行数据的扩充，即原始的一条训练样本可被分解为多条样本进行训练，进行部分</a:t>
            </a:r>
            <a:r>
              <a:rPr kumimoji="1" lang="en-US" altLang="zh-CN" sz="1400" dirty="0"/>
              <a:t>Token</a:t>
            </a:r>
            <a:r>
              <a:rPr kumimoji="1" lang="zh-CN" altLang="en-US" sz="1400" dirty="0"/>
              <a:t>训练</a:t>
            </a:r>
            <a:endParaRPr kumimoji="1" lang="en-US" altLang="zh-CN" sz="1400" dirty="0"/>
          </a:p>
          <a:p>
            <a:pPr marL="285750" indent="-285750">
              <a:lnSpc>
                <a:spcPct val="150000"/>
              </a:lnSpc>
              <a:buFont typeface="Arial" panose="020B0604020202090204" pitchFamily="34" charset="0"/>
              <a:buChar char="•"/>
            </a:pPr>
            <a:r>
              <a:rPr kumimoji="1" lang="en-US" altLang="zh-CN" sz="1400" b="1" dirty="0"/>
              <a:t>SFT-RL</a:t>
            </a:r>
            <a:r>
              <a:rPr kumimoji="1" lang="zh-CN" altLang="en-US" sz="1400" b="1" dirty="0"/>
              <a:t>统一训练范式：</a:t>
            </a:r>
            <a:r>
              <a:rPr kumimoji="1" lang="zh-CN" altLang="en-US" sz="1400" dirty="0"/>
              <a:t>对于奖励信号的稀疏性，在</a:t>
            </a:r>
            <a:r>
              <a:rPr kumimoji="1" lang="en-US" altLang="zh-CN" sz="1400" dirty="0"/>
              <a:t>RL</a:t>
            </a:r>
            <a:r>
              <a:rPr kumimoji="1" lang="zh-CN" altLang="en-US" sz="1400" dirty="0"/>
              <a:t>阶段，</a:t>
            </a:r>
            <a:r>
              <a:rPr kumimoji="1" lang="zh-CN" altLang="en-US" sz="1400" dirty="0">
                <a:solidFill>
                  <a:srgbClr val="FF0000"/>
                </a:solidFill>
              </a:rPr>
              <a:t>引入 </a:t>
            </a:r>
            <a:r>
              <a:rPr kumimoji="1" lang="en-US" altLang="zh-CN" sz="1400" dirty="0">
                <a:solidFill>
                  <a:srgbClr val="FF0000"/>
                </a:solidFill>
              </a:rPr>
              <a:t>RL</a:t>
            </a:r>
            <a:r>
              <a:rPr kumimoji="1" lang="zh-CN" altLang="en-US" sz="1400" dirty="0">
                <a:solidFill>
                  <a:srgbClr val="FF0000"/>
                </a:solidFill>
              </a:rPr>
              <a:t> 与 </a:t>
            </a:r>
            <a:r>
              <a:rPr kumimoji="1" lang="en-US" altLang="zh-CN" sz="1400" dirty="0">
                <a:solidFill>
                  <a:srgbClr val="FF0000"/>
                </a:solidFill>
              </a:rPr>
              <a:t>SFT</a:t>
            </a:r>
            <a:r>
              <a:rPr kumimoji="1" lang="zh-CN" altLang="en-US" sz="1400" dirty="0">
                <a:solidFill>
                  <a:srgbClr val="FF0000"/>
                </a:solidFill>
              </a:rPr>
              <a:t> 的共同监督信号</a:t>
            </a:r>
            <a:r>
              <a:rPr kumimoji="1" lang="zh-CN" altLang="en-US" sz="1400" dirty="0"/>
              <a:t>。</a:t>
            </a:r>
            <a:r>
              <a:rPr kumimoji="1" lang="en-US" altLang="zh-CN" sz="1400" dirty="0"/>
              <a:t>RL</a:t>
            </a:r>
            <a:r>
              <a:rPr kumimoji="1" lang="zh-CN" altLang="en-US" sz="1400" dirty="0"/>
              <a:t> </a:t>
            </a:r>
            <a:r>
              <a:rPr kumimoji="1" lang="en-US" altLang="zh-CN" sz="1400" dirty="0"/>
              <a:t>Loss</a:t>
            </a:r>
            <a:r>
              <a:rPr kumimoji="1" lang="zh-CN" altLang="en-US" sz="1400" dirty="0"/>
              <a:t>提高模型的泛化预测能力，</a:t>
            </a:r>
            <a:r>
              <a:rPr kumimoji="1" lang="en-US" altLang="zh-CN" sz="1400" dirty="0"/>
              <a:t>SFT</a:t>
            </a:r>
            <a:r>
              <a:rPr kumimoji="1" lang="zh-CN" altLang="en-US" sz="1400" dirty="0"/>
              <a:t> </a:t>
            </a:r>
            <a:r>
              <a:rPr kumimoji="1" lang="en-US" altLang="zh-CN" sz="1400" dirty="0"/>
              <a:t>Loss</a:t>
            </a:r>
            <a:r>
              <a:rPr kumimoji="1" lang="zh-CN" altLang="en-US" sz="1400" dirty="0"/>
              <a:t> 可以避免梯度完全消失的情况，辅助模型的记忆和更新。</a:t>
            </a:r>
            <a:endParaRPr kumimoji="1" lang="en-US" altLang="zh-CN" sz="1400" dirty="0"/>
          </a:p>
          <a:p>
            <a:endParaRPr kumimoji="1" lang="en-US" altLang="zh-CN" dirty="0"/>
          </a:p>
        </p:txBody>
      </p:sp>
      <p:sp>
        <p:nvSpPr>
          <p:cNvPr id="5" name="AutoShape 2" descr="飞书文档 - 图片"/>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zh-CN" altLang="en-US"/>
          </a:p>
        </p:txBody>
      </p:sp>
      <p:sp>
        <p:nvSpPr>
          <p:cNvPr id="6" name="Rectangle 4"/>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zh-CN" altLang="en-US"/>
          </a:p>
        </p:txBody>
      </p:sp>
      <p:pic>
        <p:nvPicPr>
          <p:cNvPr id="9" name="Picture 8"/>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2299252" y="4581277"/>
            <a:ext cx="2743200" cy="1790700"/>
          </a:xfrm>
          <a:prstGeom prst="rect">
            <a:avLst/>
          </a:prstGeom>
        </p:spPr>
      </p:pic>
      <p:pic>
        <p:nvPicPr>
          <p:cNvPr id="12" name="Picture 1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579440" y="4729645"/>
            <a:ext cx="2298700" cy="11557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p:cNvSpPr>
            <a:spLocks noGrp="1"/>
          </p:cNvSpPr>
          <p:nvPr>
            <p:ph type="body" sz="quarter" idx="10"/>
          </p:nvPr>
        </p:nvSpPr>
        <p:spPr>
          <a:xfrm>
            <a:off x="19048" y="0"/>
            <a:ext cx="12172952" cy="856210"/>
          </a:xfrm>
        </p:spPr>
        <p:txBody>
          <a:bodyPr/>
          <a:lstStyle/>
          <a:p>
            <a:r>
              <a:rPr lang="en-US" altLang="zh-CN" sz="2800" dirty="0"/>
              <a:t>【</a:t>
            </a:r>
            <a:r>
              <a:rPr lang="zh-CN" altLang="en-US" sz="2800" dirty="0"/>
              <a:t>课题一</a:t>
            </a:r>
            <a:r>
              <a:rPr lang="en-US" altLang="zh-CN" sz="2800" dirty="0"/>
              <a:t>】</a:t>
            </a:r>
            <a:r>
              <a:rPr lang="zh-CN" altLang="en-US" sz="2800" dirty="0"/>
              <a:t>统一生成式强化学习范式</a:t>
            </a:r>
            <a:r>
              <a:rPr lang="en-US" altLang="zh-CN" sz="2800" dirty="0"/>
              <a:t>SeqRec-R1</a:t>
            </a:r>
            <a:r>
              <a:rPr lang="zh-CN" altLang="en-US" sz="2800" dirty="0"/>
              <a:t>：实验结果</a:t>
            </a:r>
            <a:endParaRPr lang="zh-CN" altLang="en-US" sz="2800" dirty="0"/>
          </a:p>
        </p:txBody>
      </p:sp>
      <p:sp>
        <p:nvSpPr>
          <p:cNvPr id="10" name="文本框 9"/>
          <p:cNvSpPr txBox="1"/>
          <p:nvPr/>
        </p:nvSpPr>
        <p:spPr>
          <a:xfrm>
            <a:off x="7581014" y="1305341"/>
            <a:ext cx="4316818" cy="646331"/>
          </a:xfrm>
          <a:prstGeom prst="rect">
            <a:avLst/>
          </a:prstGeom>
          <a:noFill/>
        </p:spPr>
        <p:txBody>
          <a:bodyPr wrap="square" rtlCol="0">
            <a:spAutoFit/>
          </a:bodyPr>
          <a:lstStyle/>
          <a:p>
            <a:pPr marL="342900" indent="-342900">
              <a:buAutoNum type="ea1ChsPeriod"/>
            </a:pPr>
            <a:endParaRPr kumimoji="1" lang="en-US" altLang="zh-CN" dirty="0"/>
          </a:p>
          <a:p>
            <a:endParaRPr kumimoji="1" lang="en-US" altLang="zh-CN" dirty="0"/>
          </a:p>
        </p:txBody>
      </p:sp>
      <p:sp>
        <p:nvSpPr>
          <p:cNvPr id="5" name="AutoShape 2" descr="飞书文档 - 图片"/>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zh-CN" altLang="en-US"/>
          </a:p>
        </p:txBody>
      </p:sp>
      <p:sp>
        <p:nvSpPr>
          <p:cNvPr id="6" name="Rectangle 4"/>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zh-CN" altLang="en-US"/>
          </a:p>
        </p:txBody>
      </p:sp>
      <p:sp>
        <p:nvSpPr>
          <p:cNvPr id="7" name="文本框 6"/>
          <p:cNvSpPr txBox="1"/>
          <p:nvPr/>
        </p:nvSpPr>
        <p:spPr>
          <a:xfrm>
            <a:off x="485775" y="1184275"/>
            <a:ext cx="11068685" cy="4246245"/>
          </a:xfrm>
          <a:prstGeom prst="rect">
            <a:avLst/>
          </a:prstGeom>
          <a:noFill/>
        </p:spPr>
        <p:txBody>
          <a:bodyPr wrap="square" rtlCol="0">
            <a:spAutoFit/>
          </a:bodyPr>
          <a:lstStyle/>
          <a:p>
            <a:r>
              <a:rPr lang="zh-CN" altLang="en-US" b="1" dirty="0"/>
              <a:t>一</a:t>
            </a:r>
            <a:r>
              <a:rPr lang="en-US" altLang="zh-CN" b="1" dirty="0"/>
              <a:t>、Baseline </a:t>
            </a:r>
            <a:r>
              <a:rPr lang="zh-CN" altLang="en-US" b="1" dirty="0"/>
              <a:t>完整复现</a:t>
            </a:r>
            <a:endParaRPr lang="zh-CN" altLang="en-US" b="1" dirty="0"/>
          </a:p>
          <a:p>
            <a:endParaRPr lang="en-US" altLang="zh-CN" dirty="0"/>
          </a:p>
          <a:p>
            <a:r>
              <a:rPr lang="zh-CN" altLang="en-US" dirty="0"/>
              <a:t>在当前数据设置下，完整复现了</a:t>
            </a:r>
            <a:r>
              <a:rPr lang="en-US" altLang="zh-CN" dirty="0"/>
              <a:t> TIGER</a:t>
            </a:r>
            <a:r>
              <a:rPr lang="zh-CN" altLang="en-US" dirty="0"/>
              <a:t>、</a:t>
            </a:r>
            <a:r>
              <a:rPr lang="en-US" altLang="zh-CN" dirty="0"/>
              <a:t>LC-Rec</a:t>
            </a:r>
            <a:r>
              <a:rPr lang="zh-CN" altLang="en-US" dirty="0"/>
              <a:t>、</a:t>
            </a:r>
            <a:r>
              <a:rPr lang="en-US" altLang="zh-CN" dirty="0"/>
              <a:t>MQL4GRec </a:t>
            </a:r>
            <a:r>
              <a:rPr lang="zh-CN" altLang="en-US" dirty="0"/>
              <a:t>等主流方法，打通数据预处理、训练脚本和统一评测流程。</a:t>
            </a:r>
            <a:endParaRPr lang="zh-CN" altLang="en-US" dirty="0"/>
          </a:p>
          <a:p>
            <a:r>
              <a:rPr lang="zh-CN" altLang="en-US" dirty="0">
                <a:solidFill>
                  <a:srgbClr val="FF0000"/>
                </a:solidFill>
              </a:rPr>
              <a:t>对比论文与公开实现，</a:t>
            </a:r>
            <a:r>
              <a:rPr lang="en-US" altLang="zh-CN" dirty="0" err="1">
                <a:solidFill>
                  <a:srgbClr val="FF0000"/>
                </a:solidFill>
              </a:rPr>
              <a:t>Hit@K</a:t>
            </a:r>
            <a:r>
              <a:rPr lang="en-US" altLang="zh-CN" dirty="0">
                <a:solidFill>
                  <a:srgbClr val="FF0000"/>
                </a:solidFill>
              </a:rPr>
              <a:t> / NDCG@K </a:t>
            </a:r>
            <a:r>
              <a:rPr lang="zh-CN" altLang="en-US" dirty="0">
                <a:solidFill>
                  <a:srgbClr val="FF0000"/>
                </a:solidFill>
              </a:rPr>
              <a:t>等核心指标基本对齐，为后续方法提供了可信的对照基线和统一</a:t>
            </a:r>
            <a:r>
              <a:rPr lang="en-US" altLang="zh-CN" dirty="0">
                <a:solidFill>
                  <a:srgbClr val="FF0000"/>
                </a:solidFill>
              </a:rPr>
              <a:t> benchmark</a:t>
            </a:r>
            <a:r>
              <a:rPr lang="zh-CN" altLang="en-US" dirty="0">
                <a:solidFill>
                  <a:srgbClr val="FF0000"/>
                </a:solidFill>
              </a:rPr>
              <a:t>。</a:t>
            </a:r>
            <a:endParaRPr lang="zh-CN" altLang="en-US" dirty="0">
              <a:solidFill>
                <a:srgbClr val="FF0000"/>
              </a:solidFill>
            </a:endParaRPr>
          </a:p>
          <a:p>
            <a:endParaRPr lang="zh-CN" altLang="en-US" dirty="0"/>
          </a:p>
          <a:p>
            <a:r>
              <a:rPr lang="zh-CN" altLang="en-US" b="1" dirty="0"/>
              <a:t>二</a:t>
            </a:r>
            <a:r>
              <a:rPr lang="en-US" altLang="zh-CN" b="1" dirty="0"/>
              <a:t>、</a:t>
            </a:r>
            <a:r>
              <a:rPr lang="zh-CN" altLang="en-US" b="1" dirty="0"/>
              <a:t>多模态大模型</a:t>
            </a:r>
            <a:r>
              <a:rPr lang="en-US" altLang="zh-CN" b="1" dirty="0"/>
              <a:t> SFT </a:t>
            </a:r>
            <a:r>
              <a:rPr lang="zh-CN" altLang="en-US" b="1" dirty="0"/>
              <a:t>流程搭建与最优</a:t>
            </a:r>
            <a:r>
              <a:rPr lang="en-US" altLang="zh-CN" b="1" dirty="0"/>
              <a:t> setting </a:t>
            </a:r>
            <a:r>
              <a:rPr lang="zh-CN" altLang="en-US" b="1" dirty="0"/>
              <a:t>确定</a:t>
            </a:r>
            <a:endParaRPr lang="zh-CN" altLang="en-US" b="1" dirty="0"/>
          </a:p>
          <a:p>
            <a:endParaRPr lang="en-US" altLang="zh-CN" dirty="0"/>
          </a:p>
          <a:p>
            <a:r>
              <a:rPr lang="zh-CN" altLang="en-US" dirty="0"/>
              <a:t>在多模态大模型上搭建了整体训练流程，支持推荐序列预测（</a:t>
            </a:r>
            <a:r>
              <a:rPr lang="en-US" altLang="zh-CN" dirty="0" err="1"/>
              <a:t>seqrec</a:t>
            </a:r>
            <a:r>
              <a:rPr lang="zh-CN" altLang="en-US" dirty="0"/>
              <a:t>）和物品</a:t>
            </a:r>
            <a:r>
              <a:rPr lang="en-US" altLang="en-US" dirty="0"/>
              <a:t>→</a:t>
            </a:r>
            <a:r>
              <a:rPr lang="en-US" altLang="zh-CN" dirty="0"/>
              <a:t>token </a:t>
            </a:r>
            <a:r>
              <a:rPr lang="zh-CN" altLang="en-US" dirty="0"/>
              <a:t>对齐等任务。</a:t>
            </a:r>
            <a:endParaRPr lang="zh-CN" altLang="en-US" dirty="0"/>
          </a:p>
          <a:p>
            <a:r>
              <a:rPr lang="zh-CN" altLang="en-US" dirty="0"/>
              <a:t>系统对比了多种任务组合（如纯</a:t>
            </a:r>
            <a:r>
              <a:rPr lang="en-US" altLang="zh-CN" dirty="0"/>
              <a:t> </a:t>
            </a:r>
            <a:r>
              <a:rPr lang="en-US" altLang="zh-CN" dirty="0" err="1"/>
              <a:t>seqrec</a:t>
            </a:r>
            <a:r>
              <a:rPr lang="zh-CN" altLang="en-US" dirty="0"/>
              <a:t>、</a:t>
            </a:r>
            <a:r>
              <a:rPr lang="en-US" altLang="zh-CN" dirty="0"/>
              <a:t>seqrec+item2index</a:t>
            </a:r>
            <a:r>
              <a:rPr lang="zh-CN" altLang="en-US" dirty="0"/>
              <a:t>、</a:t>
            </a:r>
            <a:r>
              <a:rPr lang="en-US" altLang="zh-CN" dirty="0"/>
              <a:t>seqrec+index2item </a:t>
            </a:r>
            <a:r>
              <a:rPr lang="zh-CN" altLang="en-US" dirty="0"/>
              <a:t>等），从收敛速度和推荐指标两方面进行评估。</a:t>
            </a:r>
            <a:endParaRPr lang="zh-CN" altLang="en-US" dirty="0"/>
          </a:p>
          <a:p>
            <a:r>
              <a:rPr lang="zh-CN" altLang="en-US" dirty="0"/>
              <a:t>当前结论是：</a:t>
            </a:r>
            <a:r>
              <a:rPr lang="en-US" altLang="zh-CN" dirty="0"/>
              <a:t>“</a:t>
            </a:r>
            <a:r>
              <a:rPr lang="zh-CN" altLang="en-US" dirty="0"/>
              <a:t>推荐序列预测</a:t>
            </a:r>
            <a:r>
              <a:rPr lang="en-US" altLang="zh-CN" dirty="0"/>
              <a:t> + </a:t>
            </a:r>
            <a:r>
              <a:rPr lang="zh-CN" altLang="en-US" dirty="0"/>
              <a:t>物品</a:t>
            </a:r>
            <a:r>
              <a:rPr lang="en-US" altLang="en-US" dirty="0"/>
              <a:t>→</a:t>
            </a:r>
            <a:r>
              <a:rPr lang="en-US" altLang="zh-CN" dirty="0"/>
              <a:t>token </a:t>
            </a:r>
            <a:r>
              <a:rPr lang="zh-CN" altLang="en-US" dirty="0"/>
              <a:t>对齐</a:t>
            </a:r>
            <a:r>
              <a:rPr lang="en-US" altLang="zh-CN" dirty="0"/>
              <a:t>”</a:t>
            </a:r>
            <a:r>
              <a:rPr lang="zh-CN" altLang="en-US" dirty="0"/>
              <a:t>作为微调阶段的联合任务，在训练稳定性和效果上表现最好，确定为后续实验的默认</a:t>
            </a:r>
            <a:r>
              <a:rPr lang="en-US" altLang="zh-CN" dirty="0"/>
              <a:t> SFT setting</a:t>
            </a:r>
            <a:r>
              <a:rPr lang="zh-CN" altLang="en-US" dirty="0"/>
              <a:t>。</a:t>
            </a:r>
            <a:endParaRPr lang="zh-CN" altLang="en-US" dirty="0"/>
          </a:p>
          <a:p>
            <a:endParaRPr lang="zh-CN" alt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p:cNvSpPr>
            <a:spLocks noGrp="1"/>
          </p:cNvSpPr>
          <p:nvPr>
            <p:ph type="body" sz="quarter" idx="10"/>
          </p:nvPr>
        </p:nvSpPr>
        <p:spPr/>
        <p:txBody>
          <a:bodyPr/>
          <a:lstStyle/>
          <a:p>
            <a:r>
              <a:rPr lang="en-US" altLang="zh-CN" sz="2800" dirty="0"/>
              <a:t>【</a:t>
            </a:r>
            <a:r>
              <a:rPr lang="zh-CN" altLang="en-US" sz="2800" dirty="0"/>
              <a:t>课题一</a:t>
            </a:r>
            <a:r>
              <a:rPr lang="en-US" altLang="zh-CN" sz="2800" dirty="0"/>
              <a:t>】</a:t>
            </a:r>
            <a:r>
              <a:rPr lang="zh-CN" altLang="en-US" sz="2800" dirty="0"/>
              <a:t>统一生成式强化学习范式</a:t>
            </a:r>
            <a:r>
              <a:rPr lang="en-US" altLang="zh-CN" sz="2800" dirty="0"/>
              <a:t>SeqRec-R1</a:t>
            </a:r>
            <a:r>
              <a:rPr lang="zh-CN" altLang="en-US" sz="2800" dirty="0"/>
              <a:t>：实验结果</a:t>
            </a:r>
            <a:endParaRPr lang="zh-CN" altLang="en-US" sz="2800" dirty="0"/>
          </a:p>
        </p:txBody>
      </p:sp>
      <p:sp>
        <p:nvSpPr>
          <p:cNvPr id="3" name="内容占位符 2"/>
          <p:cNvSpPr>
            <a:spLocks noGrp="1"/>
          </p:cNvSpPr>
          <p:nvPr>
            <p:ph sz="quarter" idx="11"/>
          </p:nvPr>
        </p:nvSpPr>
        <p:spPr/>
        <p:txBody>
          <a:bodyPr>
            <a:normAutofit/>
          </a:bodyPr>
          <a:lstStyle/>
          <a:p>
            <a:pPr marL="0" indent="0">
              <a:buNone/>
            </a:pPr>
            <a:r>
              <a:rPr kumimoji="1" lang="zh-CN" altLang="en-US" sz="1800" b="1" dirty="0">
                <a:sym typeface="+mn-ea"/>
              </a:rPr>
              <a:t>三</a:t>
            </a:r>
            <a:r>
              <a:rPr kumimoji="1" lang="en-US" altLang="zh-CN" sz="1800" b="1" dirty="0">
                <a:sym typeface="+mn-ea"/>
              </a:rPr>
              <a:t>、</a:t>
            </a:r>
            <a:r>
              <a:rPr kumimoji="1" lang="zh-CN" altLang="en-US" sz="1800" b="1" dirty="0">
                <a:sym typeface="+mn-ea"/>
              </a:rPr>
              <a:t>RL 阶段代码与奖励设计探索</a:t>
            </a:r>
            <a:endParaRPr kumimoji="1" lang="zh-CN" altLang="en-US" sz="1800" b="1" dirty="0"/>
          </a:p>
          <a:p>
            <a:pPr marL="0" algn="l">
              <a:lnSpc>
                <a:spcPct val="100000"/>
              </a:lnSpc>
              <a:buClrTx/>
              <a:buSzTx/>
              <a:buNone/>
            </a:pPr>
            <a:r>
              <a:rPr kumimoji="1" lang="zh-CN" altLang="en-US" sz="1800" dirty="0">
                <a:sym typeface="+mn-ea"/>
              </a:rPr>
              <a:t>基于现有 SFT 模型，完成 RL 阶段基本代码框架，实现了 rollout 采样、reward 计算接口（支持 rule / ranking / NDCG 等）、优势估计与参数更新流程。</a:t>
            </a:r>
            <a:endParaRPr kumimoji="1" lang="zh-CN" altLang="en-US" sz="1800" dirty="0"/>
          </a:p>
          <a:p>
            <a:pPr marL="0" algn="l">
              <a:lnSpc>
                <a:spcPct val="100000"/>
              </a:lnSpc>
              <a:buClrTx/>
              <a:buSzTx/>
              <a:buNone/>
            </a:pPr>
            <a:r>
              <a:rPr kumimoji="1" lang="zh-CN" altLang="en-US" sz="1800" dirty="0">
                <a:sym typeface="+mn-ea"/>
              </a:rPr>
              <a:t>对 format reward 做了消融：在多模态模型（带视觉）的场景中，如果不显式加入 format reward，模型输出容易出现格式漂移，需要依赖 format reward 维持合法输出；而在纯文本 LLM 上，即使不加 format reward，格式也相对稳定，可在一定程度上简化奖励设计。</a:t>
            </a:r>
            <a:endParaRPr kumimoji="1" lang="zh-CN" altLang="en-US" sz="1800" dirty="0"/>
          </a:p>
          <a:p>
            <a:pPr marL="0" algn="l">
              <a:lnSpc>
                <a:spcPct val="100000"/>
              </a:lnSpc>
              <a:buClrTx/>
              <a:buSzTx/>
              <a:buNone/>
            </a:pPr>
            <a:r>
              <a:rPr kumimoji="1" lang="zh-CN" altLang="en-US" sz="1800" dirty="0">
                <a:sym typeface="+mn-ea"/>
              </a:rPr>
              <a:t>系统比较了 rule_only、ndcg_only、rule+ndcg 三种 reward setting，实验表明 rule+ndcg 组合整体效果最好，在保持格式的前提下对 Hit@K / NDCG@K 有更稳定的提升。</a:t>
            </a:r>
            <a:endParaRPr kumimoji="1" lang="zh-CN" altLang="en-US" sz="1800" dirty="0"/>
          </a:p>
          <a:p>
            <a:pPr marL="0" algn="l">
              <a:lnSpc>
                <a:spcPct val="100000"/>
              </a:lnSpc>
              <a:buClrTx/>
              <a:buSzTx/>
              <a:buNone/>
            </a:pPr>
            <a:r>
              <a:rPr kumimoji="1" lang="zh-CN" altLang="en-US" sz="1800" dirty="0">
                <a:sym typeface="+mn-ea"/>
              </a:rPr>
              <a:t>初步尝试将 UFT 范式（在 RL 中引入 SFT 辅助损失）融入推荐 RL 训练，观察到对 pass@K 指标有一定增益，为后续引入更多“RL + SFT”混合范式提供了依据。</a:t>
            </a:r>
            <a:endParaRPr kumimoji="1" lang="zh-CN" altLang="en-US" sz="1800" dirty="0"/>
          </a:p>
          <a:p>
            <a:pPr marL="0" indent="0">
              <a:buNone/>
            </a:pPr>
            <a:endParaRPr lang="zh-CN" altLang="en-US" dirty="0"/>
          </a:p>
          <a:p>
            <a:pPr marL="0" indent="0">
              <a:buNone/>
            </a:pPr>
            <a:endParaRPr lang="zh-CN" alt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文本占位符 1"/>
          <p:cNvSpPr>
            <a:spLocks noGrp="1"/>
          </p:cNvSpPr>
          <p:nvPr>
            <p:ph type="body" sz="quarter" idx="10"/>
          </p:nvPr>
        </p:nvSpPr>
        <p:spPr/>
        <p:txBody>
          <a:bodyPr/>
          <a:p>
            <a:r>
              <a:rPr lang="en-US" altLang="zh-CN" sz="2800" dirty="0">
                <a:sym typeface="+mn-ea"/>
              </a:rPr>
              <a:t>【</a:t>
            </a:r>
            <a:r>
              <a:rPr lang="zh-CN" altLang="en-US" sz="2800" dirty="0">
                <a:sym typeface="+mn-ea"/>
              </a:rPr>
              <a:t>课题一</a:t>
            </a:r>
            <a:r>
              <a:rPr lang="en-US" altLang="zh-CN" sz="2800" dirty="0">
                <a:sym typeface="+mn-ea"/>
              </a:rPr>
              <a:t>】</a:t>
            </a:r>
            <a:r>
              <a:rPr lang="zh-CN" altLang="en-US" sz="2800" dirty="0">
                <a:sym typeface="+mn-ea"/>
              </a:rPr>
              <a:t>统一生成式强化学习范式</a:t>
            </a:r>
            <a:r>
              <a:rPr lang="en-US" altLang="zh-CN" sz="2800" dirty="0">
                <a:sym typeface="+mn-ea"/>
              </a:rPr>
              <a:t>SeqRec-R1</a:t>
            </a:r>
            <a:r>
              <a:rPr lang="zh-CN" altLang="en-US" sz="2800" dirty="0">
                <a:sym typeface="+mn-ea"/>
              </a:rPr>
              <a:t>：实验结果</a:t>
            </a:r>
            <a:endParaRPr lang="zh-CN" altLang="en-US" sz="2800"/>
          </a:p>
        </p:txBody>
      </p:sp>
      <p:graphicFrame>
        <p:nvGraphicFramePr>
          <p:cNvPr id="11" name="表格 10"/>
          <p:cNvGraphicFramePr>
            <a:graphicFrameLocks noGrp="1"/>
          </p:cNvGraphicFramePr>
          <p:nvPr>
            <p:custDataLst>
              <p:tags r:id="rId1"/>
            </p:custDataLst>
          </p:nvPr>
        </p:nvGraphicFramePr>
        <p:xfrm>
          <a:off x="280035" y="1487805"/>
          <a:ext cx="11633835" cy="4940300"/>
        </p:xfrm>
        <a:graphic>
          <a:graphicData uri="http://schemas.openxmlformats.org/drawingml/2006/table">
            <a:tbl>
              <a:tblPr firstRow="1" bandRow="1">
                <a:tableStyleId>{5C22544A-7EE6-4342-B048-85BDC9FD1C3A}</a:tableStyleId>
              </a:tblPr>
              <a:tblGrid>
                <a:gridCol w="3553460"/>
                <a:gridCol w="1616075"/>
                <a:gridCol w="1616075"/>
                <a:gridCol w="1616075"/>
                <a:gridCol w="1616075"/>
                <a:gridCol w="1616075"/>
              </a:tblGrid>
              <a:tr h="0">
                <a:tc rowSpan="2">
                  <a:txBody>
                    <a:bodyPr/>
                    <a:lstStyle/>
                    <a:p>
                      <a:pPr algn="ctr"/>
                      <a:r>
                        <a:rPr lang="en-US" b="1" dirty="0">
                          <a:latin typeface="Arial Bold" panose="020B0604020202090204" charset="0"/>
                          <a:cs typeface="Arial Bold" panose="020B0604020202090204" charset="0"/>
                        </a:rPr>
                        <a:t>Models</a:t>
                      </a:r>
                      <a:endParaRPr lang="en-US" b="1" dirty="0">
                        <a:latin typeface="Arial Bold" panose="020B0604020202090204" charset="0"/>
                        <a:cs typeface="Arial Bold" panose="020B0604020202090204" charset="0"/>
                      </a:endParaRPr>
                    </a:p>
                  </a:txBody>
                  <a:tcPr anchor="ctr" anchorCtr="0"/>
                </a:tc>
                <a:tc gridSpan="5">
                  <a:txBody>
                    <a:bodyPr/>
                    <a:lstStyle/>
                    <a:p>
                      <a:pPr algn="ctr"/>
                      <a:r>
                        <a:rPr lang="en-US" b="1" dirty="0">
                          <a:latin typeface="Arial Bold" panose="020B0604020202090204" charset="0"/>
                          <a:cs typeface="Arial Bold" panose="020B0604020202090204" charset="0"/>
                        </a:rPr>
                        <a:t>Instruments</a:t>
                      </a:r>
                      <a:endParaRPr lang="en-US" b="1" dirty="0">
                        <a:latin typeface="Arial Bold" panose="020B0604020202090204" charset="0"/>
                        <a:cs typeface="Arial Bold" panose="020B0604020202090204" charset="0"/>
                      </a:endParaRPr>
                    </a:p>
                  </a:txBody>
                  <a:tcPr anchor="ctr" anchorCtr="0"/>
                </a:tc>
                <a:tc hMerge="1">
                  <a:tcPr/>
                </a:tc>
                <a:tc hMerge="1">
                  <a:tcPr/>
                </a:tc>
                <a:tc hMerge="1">
                  <a:tcPr/>
                </a:tc>
                <a:tc hMerge="1">
                  <a:tcPr/>
                </a:tc>
              </a:tr>
              <a:tr h="457835">
                <a:tc vMerge="1">
                  <a:tcPr/>
                </a:tc>
                <a:tc>
                  <a:txBody>
                    <a:bodyPr/>
                    <a:lstStyle/>
                    <a:p>
                      <a:pPr algn="ctr"/>
                      <a:r>
                        <a:rPr lang="en-US" altLang="zh-CN" b="1" dirty="0">
                          <a:latin typeface="Arial Bold" panose="020B0604020202090204" charset="0"/>
                          <a:cs typeface="Arial Bold" panose="020B0604020202090204" charset="0"/>
                        </a:rPr>
                        <a:t>HR@1</a:t>
                      </a:r>
                      <a:endParaRPr lang="en-US" altLang="zh-CN" b="1" dirty="0">
                        <a:latin typeface="Arial Bold" panose="020B0604020202090204" charset="0"/>
                        <a:cs typeface="Arial Bold" panose="020B0604020202090204" charset="0"/>
                      </a:endParaRPr>
                    </a:p>
                  </a:txBody>
                  <a:tcPr anchor="ctr" anchorCtr="0"/>
                </a:tc>
                <a:tc>
                  <a:txBody>
                    <a:bodyPr/>
                    <a:lstStyle/>
                    <a:p>
                      <a:pPr algn="ctr"/>
                      <a:r>
                        <a:rPr lang="en-US" altLang="zh-CN" b="1">
                          <a:latin typeface="Arial Bold" panose="020B0604020202090204" charset="0"/>
                          <a:cs typeface="Arial Bold" panose="020B0604020202090204" charset="0"/>
                        </a:rPr>
                        <a:t>HR@5</a:t>
                      </a:r>
                      <a:endParaRPr lang="en-US" altLang="zh-CN" b="1">
                        <a:latin typeface="Arial Bold" panose="020B0604020202090204" charset="0"/>
                        <a:cs typeface="Arial Bold" panose="020B0604020202090204" charset="0"/>
                      </a:endParaRPr>
                    </a:p>
                  </a:txBody>
                  <a:tcPr anchor="ctr" anchorCtr="0"/>
                </a:tc>
                <a:tc>
                  <a:txBody>
                    <a:bodyPr/>
                    <a:lstStyle/>
                    <a:p>
                      <a:pPr algn="ctr"/>
                      <a:r>
                        <a:rPr lang="en-US" altLang="zh-CN" b="1">
                          <a:latin typeface="Arial Bold" panose="020B0604020202090204" charset="0"/>
                          <a:cs typeface="Arial Bold" panose="020B0604020202090204" charset="0"/>
                        </a:rPr>
                        <a:t>HR@10</a:t>
                      </a:r>
                      <a:endParaRPr lang="en-US" altLang="zh-CN" b="1">
                        <a:latin typeface="Arial Bold" panose="020B0604020202090204" charset="0"/>
                        <a:cs typeface="Arial Bold" panose="020B0604020202090204" charset="0"/>
                      </a:endParaRPr>
                    </a:p>
                  </a:txBody>
                  <a:tcPr anchor="ctr" anchorCtr="0"/>
                </a:tc>
                <a:tc>
                  <a:txBody>
                    <a:bodyPr/>
                    <a:p>
                      <a:pPr algn="ctr">
                        <a:buNone/>
                      </a:pPr>
                      <a:r>
                        <a:rPr lang="en-US" altLang="zh-CN" b="1">
                          <a:latin typeface="Arial Bold" panose="020B0604020202090204" charset="0"/>
                          <a:cs typeface="Arial Bold" panose="020B0604020202090204" charset="0"/>
                        </a:rPr>
                        <a:t>NDCG@5</a:t>
                      </a:r>
                      <a:endParaRPr lang="en-US" altLang="zh-CN" b="1">
                        <a:latin typeface="Arial Bold" panose="020B0604020202090204" charset="0"/>
                        <a:cs typeface="Arial Bold" panose="020B0604020202090204" charset="0"/>
                      </a:endParaRPr>
                    </a:p>
                  </a:txBody>
                  <a:tcPr anchor="ctr" anchorCtr="0"/>
                </a:tc>
                <a:tc>
                  <a:txBody>
                    <a:bodyPr/>
                    <a:p>
                      <a:pPr algn="ctr">
                        <a:buNone/>
                      </a:pPr>
                      <a:r>
                        <a:rPr lang="en-US" altLang="zh-CN" b="1">
                          <a:latin typeface="Arial Bold" panose="020B0604020202090204" charset="0"/>
                          <a:cs typeface="Arial Bold" panose="020B0604020202090204" charset="0"/>
                        </a:rPr>
                        <a:t>NDCG@10</a:t>
                      </a:r>
                      <a:endParaRPr lang="en-US" altLang="zh-CN" b="1">
                        <a:latin typeface="Arial Bold" panose="020B0604020202090204" charset="0"/>
                        <a:cs typeface="Arial Bold" panose="020B0604020202090204" charset="0"/>
                      </a:endParaRPr>
                    </a:p>
                  </a:txBody>
                  <a:tcPr anchor="ctr" anchorCtr="0"/>
                </a:tc>
              </a:tr>
              <a:tr h="457835">
                <a:tc>
                  <a:txBody>
                    <a:bodyPr/>
                    <a:lstStyle/>
                    <a:p>
                      <a:pPr algn="ctr">
                        <a:spcBef>
                          <a:spcPts val="800"/>
                        </a:spcBef>
                        <a:buClrTx/>
                        <a:buSzTx/>
                        <a:buFontTx/>
                      </a:pPr>
                      <a:r>
                        <a:rPr lang="en-US" altLang="zh-CN" sz="1800" b="1" dirty="0">
                          <a:solidFill>
                            <a:schemeClr val="dk1"/>
                          </a:solidFill>
                        </a:rPr>
                        <a:t>Tiger</a:t>
                      </a:r>
                      <a:endParaRPr lang="en-US" altLang="zh-CN" sz="1800" b="1" dirty="0">
                        <a:solidFill>
                          <a:schemeClr val="dk1"/>
                        </a:solidFill>
                      </a:endParaRPr>
                    </a:p>
                  </a:txBody>
                  <a:tcPr marL="101917" marR="101917" marT="13017" marB="13017" anchor="ctr" anchorCtr="0"/>
                </a:tc>
                <a:tc>
                  <a:txBody>
                    <a:bodyPr/>
                    <a:lstStyle/>
                    <a:p>
                      <a:pPr algn="ctr">
                        <a:spcBef>
                          <a:spcPts val="800"/>
                        </a:spcBef>
                        <a:buClrTx/>
                        <a:buSzTx/>
                        <a:buFontTx/>
                      </a:pPr>
                      <a:r>
                        <a:rPr lang="en-US" altLang="zh-CN" sz="1800" b="1" dirty="0">
                          <a:solidFill>
                            <a:schemeClr val="dk1"/>
                          </a:solidFill>
                        </a:rPr>
                        <a:t>0.0754</a:t>
                      </a:r>
                      <a:endParaRPr lang="en-US" altLang="zh-CN" sz="1800" b="1" dirty="0">
                        <a:solidFill>
                          <a:schemeClr val="dk1"/>
                        </a:solidFill>
                      </a:endParaRPr>
                    </a:p>
                  </a:txBody>
                  <a:tcPr marL="101917" marR="101917" marT="13017" marB="13017" anchor="ctr" anchorCtr="0"/>
                </a:tc>
                <a:tc>
                  <a:txBody>
                    <a:bodyPr/>
                    <a:lstStyle/>
                    <a:p>
                      <a:pPr algn="ctr">
                        <a:spcBef>
                          <a:spcPts val="800"/>
                        </a:spcBef>
                        <a:buClrTx/>
                        <a:buSzTx/>
                        <a:buFontTx/>
                      </a:pPr>
                      <a:r>
                        <a:rPr lang="en-US" altLang="zh-CN" sz="1800" b="1" dirty="0">
                          <a:solidFill>
                            <a:schemeClr val="dk1"/>
                          </a:solidFill>
                        </a:rPr>
                        <a:t>0.1007</a:t>
                      </a:r>
                      <a:endParaRPr lang="en-US" altLang="zh-CN" sz="1800" b="1" dirty="0">
                        <a:solidFill>
                          <a:schemeClr val="dk1"/>
                        </a:solidFill>
                      </a:endParaRPr>
                    </a:p>
                  </a:txBody>
                  <a:tcPr marL="101917" marR="101917" marT="13017" marB="13017" anchor="ctr" anchorCtr="0"/>
                </a:tc>
                <a:tc>
                  <a:txBody>
                    <a:bodyPr/>
                    <a:lstStyle/>
                    <a:p>
                      <a:pPr algn="ctr">
                        <a:spcBef>
                          <a:spcPts val="800"/>
                        </a:spcBef>
                        <a:buClrTx/>
                        <a:buSzTx/>
                        <a:buFontTx/>
                      </a:pPr>
                      <a:r>
                        <a:rPr lang="en-US" altLang="zh-CN" sz="1800" b="1" dirty="0">
                          <a:solidFill>
                            <a:schemeClr val="dk1"/>
                          </a:solidFill>
                        </a:rPr>
                        <a:t>0.1221</a:t>
                      </a:r>
                      <a:endParaRPr lang="en-US" altLang="zh-CN" sz="1800" b="1" dirty="0">
                        <a:solidFill>
                          <a:schemeClr val="dk1"/>
                        </a:solidFill>
                      </a:endParaRPr>
                    </a:p>
                  </a:txBody>
                  <a:tcPr marL="101917" marR="101917" marT="13017" marB="13017" anchor="ctr" anchorCtr="0"/>
                </a:tc>
                <a:tc>
                  <a:txBody>
                    <a:bodyPr/>
                    <a:p>
                      <a:pPr algn="ctr">
                        <a:spcBef>
                          <a:spcPts val="800"/>
                        </a:spcBef>
                        <a:buClrTx/>
                        <a:buSzTx/>
                        <a:buFontTx/>
                      </a:pPr>
                      <a:r>
                        <a:rPr lang="en-US" altLang="zh-CN" sz="1800" b="1" dirty="0">
                          <a:solidFill>
                            <a:schemeClr val="dk1"/>
                          </a:solidFill>
                        </a:rPr>
                        <a:t>0.0882</a:t>
                      </a:r>
                      <a:endParaRPr lang="en-US" altLang="zh-CN" sz="1800" b="1" dirty="0">
                        <a:solidFill>
                          <a:schemeClr val="dk1"/>
                        </a:solidFill>
                      </a:endParaRPr>
                    </a:p>
                  </a:txBody>
                  <a:tcPr marL="101917" marR="101917" marT="13017" marB="13017" anchor="ctr" anchorCtr="0"/>
                </a:tc>
                <a:tc>
                  <a:txBody>
                    <a:bodyPr/>
                    <a:p>
                      <a:pPr algn="ctr">
                        <a:spcBef>
                          <a:spcPts val="800"/>
                        </a:spcBef>
                        <a:buClrTx/>
                        <a:buSzTx/>
                        <a:buFontTx/>
                      </a:pPr>
                      <a:r>
                        <a:rPr lang="en-US" altLang="zh-CN" sz="1800" b="1" dirty="0">
                          <a:solidFill>
                            <a:schemeClr val="dk1"/>
                          </a:solidFill>
                        </a:rPr>
                        <a:t>0.0950</a:t>
                      </a:r>
                      <a:endParaRPr lang="en-US" altLang="zh-CN" sz="1800" b="1" dirty="0">
                        <a:solidFill>
                          <a:schemeClr val="dk1"/>
                        </a:solidFill>
                      </a:endParaRPr>
                    </a:p>
                  </a:txBody>
                  <a:tcPr marL="101917" marR="101917" marT="13017" marB="13017" anchor="ctr" anchorCtr="0"/>
                </a:tc>
              </a:tr>
              <a:tr h="457835">
                <a:tc>
                  <a:txBody>
                    <a:bodyPr/>
                    <a:lstStyle/>
                    <a:p>
                      <a:pPr algn="ctr">
                        <a:spcBef>
                          <a:spcPts val="800"/>
                        </a:spcBef>
                        <a:buClrTx/>
                        <a:buSzTx/>
                        <a:buFontTx/>
                      </a:pPr>
                      <a:r>
                        <a:rPr lang="en-US" altLang="zh-CN" sz="1800" b="1" dirty="0">
                          <a:solidFill>
                            <a:schemeClr val="dk1"/>
                          </a:solidFill>
                        </a:rPr>
                        <a:t>LC-Rec</a:t>
                      </a:r>
                      <a:endParaRPr lang="en-US" altLang="zh-CN" sz="1800" b="1" dirty="0">
                        <a:solidFill>
                          <a:schemeClr val="dk1"/>
                        </a:solidFill>
                      </a:endParaRPr>
                    </a:p>
                  </a:txBody>
                  <a:tcPr marL="101917" marR="101917" marT="13017" marB="13017" anchor="ctr" anchorCtr="0"/>
                </a:tc>
                <a:tc>
                  <a:txBody>
                    <a:bodyPr/>
                    <a:lstStyle/>
                    <a:p>
                      <a:pPr algn="ctr">
                        <a:spcBef>
                          <a:spcPts val="800"/>
                        </a:spcBef>
                        <a:buClrTx/>
                        <a:buSzTx/>
                        <a:buFontTx/>
                      </a:pPr>
                      <a:r>
                        <a:rPr lang="en-US" altLang="zh-CN" sz="1800" b="1" dirty="0">
                          <a:solidFill>
                            <a:schemeClr val="dk1"/>
                          </a:solidFill>
                        </a:rPr>
                        <a:t>0.0831</a:t>
                      </a:r>
                      <a:endParaRPr lang="en-US" altLang="zh-CN" sz="1800" b="1" dirty="0">
                        <a:solidFill>
                          <a:schemeClr val="dk1"/>
                        </a:solidFill>
                      </a:endParaRPr>
                    </a:p>
                  </a:txBody>
                  <a:tcPr marL="101917" marR="101917" marT="13017" marB="13017" anchor="ctr" anchorCtr="0"/>
                </a:tc>
                <a:tc>
                  <a:txBody>
                    <a:bodyPr/>
                    <a:lstStyle/>
                    <a:p>
                      <a:pPr algn="ctr">
                        <a:spcBef>
                          <a:spcPts val="800"/>
                        </a:spcBef>
                        <a:buClrTx/>
                        <a:buSzTx/>
                        <a:buFontTx/>
                      </a:pPr>
                      <a:r>
                        <a:rPr lang="en-US" altLang="zh-CN" sz="1800" b="1" dirty="0">
                          <a:solidFill>
                            <a:schemeClr val="dk1"/>
                          </a:solidFill>
                        </a:rPr>
                        <a:t>0.1092</a:t>
                      </a:r>
                      <a:endParaRPr lang="en-US" altLang="zh-CN" sz="1800" b="1" dirty="0">
                        <a:solidFill>
                          <a:schemeClr val="dk1"/>
                        </a:solidFill>
                      </a:endParaRPr>
                    </a:p>
                  </a:txBody>
                  <a:tcPr marL="101917" marR="101917" marT="13017" marB="13017" anchor="ctr" anchorCtr="0"/>
                </a:tc>
                <a:tc>
                  <a:txBody>
                    <a:bodyPr/>
                    <a:lstStyle/>
                    <a:p>
                      <a:pPr algn="ctr">
                        <a:spcBef>
                          <a:spcPts val="800"/>
                        </a:spcBef>
                        <a:buClrTx/>
                        <a:buSzTx/>
                        <a:buFontTx/>
                      </a:pPr>
                      <a:r>
                        <a:rPr lang="en-US" altLang="zh-CN" sz="1800" b="1" dirty="0">
                          <a:solidFill>
                            <a:schemeClr val="dk1"/>
                          </a:solidFill>
                        </a:rPr>
                        <a:t>0.1248</a:t>
                      </a:r>
                      <a:endParaRPr lang="en-US" altLang="zh-CN" sz="1800" b="1" dirty="0">
                        <a:solidFill>
                          <a:schemeClr val="dk1"/>
                        </a:solidFill>
                      </a:endParaRPr>
                    </a:p>
                  </a:txBody>
                  <a:tcPr marL="101917" marR="101917" marT="13017" marB="13017" anchor="ctr" anchorCtr="0"/>
                </a:tc>
                <a:tc>
                  <a:txBody>
                    <a:bodyPr/>
                    <a:p>
                      <a:pPr algn="ctr">
                        <a:spcBef>
                          <a:spcPts val="800"/>
                        </a:spcBef>
                        <a:buClrTx/>
                        <a:buSzTx/>
                        <a:buFontTx/>
                      </a:pPr>
                      <a:r>
                        <a:rPr lang="en-US" altLang="zh-CN" sz="1800" b="1" dirty="0">
                          <a:solidFill>
                            <a:schemeClr val="dk1"/>
                          </a:solidFill>
                        </a:rPr>
                        <a:t>0.0964</a:t>
                      </a:r>
                      <a:endParaRPr lang="en-US" altLang="zh-CN" sz="1800" b="1" dirty="0">
                        <a:solidFill>
                          <a:schemeClr val="dk1"/>
                        </a:solidFill>
                      </a:endParaRPr>
                    </a:p>
                  </a:txBody>
                  <a:tcPr marL="101917" marR="101917" marT="13017" marB="13017" anchor="ctr" anchorCtr="0"/>
                </a:tc>
                <a:tc>
                  <a:txBody>
                    <a:bodyPr/>
                    <a:p>
                      <a:pPr algn="ctr">
                        <a:spcBef>
                          <a:spcPts val="800"/>
                        </a:spcBef>
                        <a:buClrTx/>
                        <a:buSzTx/>
                        <a:buFontTx/>
                      </a:pPr>
                      <a:r>
                        <a:rPr lang="en-US" altLang="zh-CN" sz="1800" b="1" dirty="0">
                          <a:solidFill>
                            <a:schemeClr val="dk1"/>
                          </a:solidFill>
                        </a:rPr>
                        <a:t>0.1014</a:t>
                      </a:r>
                      <a:endParaRPr lang="en-US" altLang="zh-CN" sz="1800" b="1" dirty="0">
                        <a:solidFill>
                          <a:schemeClr val="dk1"/>
                        </a:solidFill>
                      </a:endParaRPr>
                    </a:p>
                  </a:txBody>
                  <a:tcPr marL="101917" marR="101917" marT="13017" marB="13017" anchor="ctr" anchorCtr="0"/>
                </a:tc>
              </a:tr>
              <a:tr h="457835">
                <a:tc>
                  <a:txBody>
                    <a:bodyPr/>
                    <a:p>
                      <a:pPr algn="ctr">
                        <a:spcBef>
                          <a:spcPts val="800"/>
                        </a:spcBef>
                        <a:buClrTx/>
                        <a:buSzTx/>
                        <a:buFontTx/>
                      </a:pPr>
                      <a:r>
                        <a:rPr lang="en-US" altLang="zh-CN" sz="1800" b="1" dirty="0">
                          <a:solidFill>
                            <a:schemeClr val="dk1"/>
                          </a:solidFill>
                        </a:rPr>
                        <a:t>MQL4GRec</a:t>
                      </a:r>
                      <a:endParaRPr lang="en-US" altLang="zh-CN" sz="1800" b="1" dirty="0">
                        <a:solidFill>
                          <a:schemeClr val="dk1"/>
                        </a:solidFill>
                      </a:endParaRPr>
                    </a:p>
                  </a:txBody>
                  <a:tcPr marL="101917" marR="101917" marT="13017" marB="13017" anchor="ctr" anchorCtr="0"/>
                </a:tc>
                <a:tc>
                  <a:txBody>
                    <a:bodyPr/>
                    <a:p>
                      <a:pPr algn="ctr">
                        <a:spcBef>
                          <a:spcPts val="800"/>
                        </a:spcBef>
                        <a:buClrTx/>
                        <a:buSzTx/>
                        <a:buFontTx/>
                      </a:pPr>
                      <a:r>
                        <a:rPr lang="en-US" altLang="zh-CN" sz="1800" b="1" dirty="0">
                          <a:solidFill>
                            <a:schemeClr val="dk1"/>
                          </a:solidFill>
                        </a:rPr>
                        <a:t>0.0826</a:t>
                      </a:r>
                      <a:endParaRPr lang="en-US" altLang="zh-CN" sz="1800" b="1" dirty="0">
                        <a:solidFill>
                          <a:schemeClr val="dk1"/>
                        </a:solidFill>
                      </a:endParaRPr>
                    </a:p>
                  </a:txBody>
                  <a:tcPr marL="101917" marR="101917" marT="13017" marB="13017" anchor="ctr" anchorCtr="0"/>
                </a:tc>
                <a:tc>
                  <a:txBody>
                    <a:bodyPr/>
                    <a:p>
                      <a:pPr algn="ctr">
                        <a:spcBef>
                          <a:spcPts val="800"/>
                        </a:spcBef>
                        <a:buClrTx/>
                        <a:buSzTx/>
                        <a:buFontTx/>
                      </a:pPr>
                      <a:r>
                        <a:rPr lang="en-US" altLang="zh-CN" sz="1800" b="1" dirty="0">
                          <a:solidFill>
                            <a:schemeClr val="dk1"/>
                          </a:solidFill>
                        </a:rPr>
                        <a:t>0.1105</a:t>
                      </a:r>
                      <a:endParaRPr lang="en-US" altLang="zh-CN" sz="1800" b="1" dirty="0">
                        <a:solidFill>
                          <a:schemeClr val="dk1"/>
                        </a:solidFill>
                      </a:endParaRPr>
                    </a:p>
                  </a:txBody>
                  <a:tcPr marL="101917" marR="101917" marT="13017" marB="13017" anchor="ctr" anchorCtr="0"/>
                </a:tc>
                <a:tc>
                  <a:txBody>
                    <a:bodyPr/>
                    <a:p>
                      <a:pPr algn="ctr">
                        <a:spcBef>
                          <a:spcPts val="800"/>
                        </a:spcBef>
                        <a:buClrTx/>
                        <a:buSzTx/>
                        <a:buFontTx/>
                      </a:pPr>
                      <a:r>
                        <a:rPr lang="en-US" altLang="zh-CN" sz="1800" b="1" dirty="0">
                          <a:solidFill>
                            <a:schemeClr val="dk1"/>
                          </a:solidFill>
                        </a:rPr>
                        <a:t>0.1332</a:t>
                      </a:r>
                      <a:endParaRPr lang="en-US" altLang="zh-CN" sz="1800" b="1" dirty="0">
                        <a:solidFill>
                          <a:schemeClr val="dk1"/>
                        </a:solidFill>
                      </a:endParaRPr>
                    </a:p>
                  </a:txBody>
                  <a:tcPr marL="101917" marR="101917" marT="13017" marB="13017" anchor="ctr" anchorCtr="0"/>
                </a:tc>
                <a:tc>
                  <a:txBody>
                    <a:bodyPr/>
                    <a:p>
                      <a:pPr algn="ctr">
                        <a:spcBef>
                          <a:spcPts val="800"/>
                        </a:spcBef>
                        <a:buClrTx/>
                        <a:buSzTx/>
                        <a:buFontTx/>
                      </a:pPr>
                      <a:r>
                        <a:rPr lang="en-US" altLang="zh-CN" sz="1800" b="1" dirty="0">
                          <a:solidFill>
                            <a:schemeClr val="dk1"/>
                          </a:solidFill>
                        </a:rPr>
                        <a:t>0.0967</a:t>
                      </a:r>
                      <a:endParaRPr lang="en-US" altLang="zh-CN" sz="1800" b="1" dirty="0">
                        <a:solidFill>
                          <a:schemeClr val="dk1"/>
                        </a:solidFill>
                      </a:endParaRPr>
                    </a:p>
                  </a:txBody>
                  <a:tcPr marL="101917" marR="101917" marT="13017" marB="13017" anchor="ctr" anchorCtr="0"/>
                </a:tc>
                <a:tc>
                  <a:txBody>
                    <a:bodyPr/>
                    <a:p>
                      <a:pPr algn="ctr">
                        <a:spcBef>
                          <a:spcPts val="800"/>
                        </a:spcBef>
                        <a:buClrTx/>
                        <a:buSzTx/>
                        <a:buFontTx/>
                      </a:pPr>
                      <a:r>
                        <a:rPr lang="en-US" altLang="zh-CN" sz="1800" b="1" dirty="0">
                          <a:solidFill>
                            <a:schemeClr val="dk1"/>
                          </a:solidFill>
                        </a:rPr>
                        <a:t>0.1039</a:t>
                      </a:r>
                      <a:endParaRPr lang="en-US" altLang="zh-CN" sz="1800" b="1" dirty="0">
                        <a:solidFill>
                          <a:schemeClr val="dk1"/>
                        </a:solidFill>
                      </a:endParaRPr>
                    </a:p>
                  </a:txBody>
                  <a:tcPr marL="101917" marR="101917" marT="13017" marB="13017" anchor="ctr" anchorCtr="0"/>
                </a:tc>
              </a:tr>
              <a:tr h="457835">
                <a:tc>
                  <a:txBody>
                    <a:bodyPr/>
                    <a:p>
                      <a:pPr algn="ctr">
                        <a:spcBef>
                          <a:spcPts val="800"/>
                        </a:spcBef>
                        <a:buClrTx/>
                        <a:buSzTx/>
                        <a:buFontTx/>
                      </a:pPr>
                      <a:r>
                        <a:rPr lang="en-US" altLang="zh-CN" sz="1800" b="1" dirty="0">
                          <a:solidFill>
                            <a:schemeClr val="dk1"/>
                          </a:solidFill>
                        </a:rPr>
                        <a:t>lora</a:t>
                      </a:r>
                      <a:endParaRPr lang="en-US" altLang="zh-CN" sz="1800" b="1" dirty="0">
                        <a:solidFill>
                          <a:schemeClr val="dk1"/>
                        </a:solidFill>
                      </a:endParaRPr>
                    </a:p>
                  </a:txBody>
                  <a:tcPr marL="101917" marR="101917" marT="13017" marB="13017" anchor="ctr" anchorCtr="0"/>
                </a:tc>
                <a:tc>
                  <a:txBody>
                    <a:bodyPr/>
                    <a:p>
                      <a:pPr algn="ctr">
                        <a:spcBef>
                          <a:spcPts val="800"/>
                        </a:spcBef>
                        <a:buClrTx/>
                        <a:buSzTx/>
                        <a:buFontTx/>
                      </a:pPr>
                      <a:r>
                        <a:rPr lang="en-US" altLang="zh-CN" sz="1800" b="1" dirty="0">
                          <a:solidFill>
                            <a:schemeClr val="dk1"/>
                          </a:solidFill>
                        </a:rPr>
                        <a:t>0.0825</a:t>
                      </a:r>
                      <a:endParaRPr lang="en-US" altLang="zh-CN" sz="1800" b="1" dirty="0">
                        <a:solidFill>
                          <a:schemeClr val="dk1"/>
                        </a:solidFill>
                      </a:endParaRPr>
                    </a:p>
                  </a:txBody>
                  <a:tcPr marL="101917" marR="101917" marT="13017" marB="13017" anchor="ctr" anchorCtr="0"/>
                </a:tc>
                <a:tc>
                  <a:txBody>
                    <a:bodyPr/>
                    <a:p>
                      <a:pPr algn="ctr">
                        <a:spcBef>
                          <a:spcPts val="800"/>
                        </a:spcBef>
                        <a:buClrTx/>
                        <a:buSzTx/>
                        <a:buFontTx/>
                      </a:pPr>
                      <a:r>
                        <a:rPr lang="en-US" altLang="zh-CN" sz="1800" b="1" dirty="0">
                          <a:solidFill>
                            <a:schemeClr val="dk1"/>
                          </a:solidFill>
                        </a:rPr>
                        <a:t>0.1070</a:t>
                      </a:r>
                      <a:endParaRPr lang="en-US" altLang="zh-CN" sz="1800" b="1" dirty="0">
                        <a:solidFill>
                          <a:schemeClr val="dk1"/>
                        </a:solidFill>
                      </a:endParaRPr>
                    </a:p>
                  </a:txBody>
                  <a:tcPr marL="101917" marR="101917" marT="13017" marB="13017" anchor="ctr" anchorCtr="0"/>
                </a:tc>
                <a:tc>
                  <a:txBody>
                    <a:bodyPr/>
                    <a:p>
                      <a:pPr algn="ctr">
                        <a:spcBef>
                          <a:spcPts val="800"/>
                        </a:spcBef>
                        <a:buClrTx/>
                        <a:buSzTx/>
                        <a:buFontTx/>
                      </a:pPr>
                      <a:r>
                        <a:rPr lang="en-US" altLang="zh-CN" sz="1800" b="1" dirty="0">
                          <a:solidFill>
                            <a:schemeClr val="dk1"/>
                          </a:solidFill>
                        </a:rPr>
                        <a:t>0.1228</a:t>
                      </a:r>
                      <a:endParaRPr lang="en-US" altLang="zh-CN" sz="1800" b="1" dirty="0">
                        <a:solidFill>
                          <a:schemeClr val="dk1"/>
                        </a:solidFill>
                      </a:endParaRPr>
                    </a:p>
                  </a:txBody>
                  <a:tcPr marL="101917" marR="101917" marT="13017" marB="13017" anchor="ctr" anchorCtr="0"/>
                </a:tc>
                <a:tc>
                  <a:txBody>
                    <a:bodyPr/>
                    <a:p>
                      <a:pPr algn="ctr">
                        <a:spcBef>
                          <a:spcPts val="800"/>
                        </a:spcBef>
                        <a:buClrTx/>
                        <a:buSzTx/>
                        <a:buFontTx/>
                      </a:pPr>
                      <a:r>
                        <a:rPr lang="en-US" altLang="zh-CN" sz="1800" b="1" dirty="0">
                          <a:solidFill>
                            <a:schemeClr val="dk1"/>
                          </a:solidFill>
                        </a:rPr>
                        <a:t>0.0951</a:t>
                      </a:r>
                      <a:endParaRPr lang="en-US" altLang="zh-CN" sz="1800" b="1" dirty="0">
                        <a:solidFill>
                          <a:schemeClr val="dk1"/>
                        </a:solidFill>
                      </a:endParaRPr>
                    </a:p>
                  </a:txBody>
                  <a:tcPr marL="101917" marR="101917" marT="13017" marB="13017" anchor="ctr" anchorCtr="0"/>
                </a:tc>
                <a:tc>
                  <a:txBody>
                    <a:bodyPr/>
                    <a:p>
                      <a:pPr algn="ctr">
                        <a:spcBef>
                          <a:spcPts val="800"/>
                        </a:spcBef>
                        <a:buClrTx/>
                        <a:buSzTx/>
                        <a:buFontTx/>
                      </a:pPr>
                      <a:r>
                        <a:rPr lang="en-US" altLang="zh-CN" sz="1800" b="1" dirty="0">
                          <a:solidFill>
                            <a:schemeClr val="dk1"/>
                          </a:solidFill>
                        </a:rPr>
                        <a:t>0.1002</a:t>
                      </a:r>
                      <a:endParaRPr lang="en-US" altLang="zh-CN" sz="1800" b="1" dirty="0">
                        <a:solidFill>
                          <a:schemeClr val="dk1"/>
                        </a:solidFill>
                      </a:endParaRPr>
                    </a:p>
                  </a:txBody>
                  <a:tcPr marL="101917" marR="101917" marT="13017" marB="13017" anchor="ctr" anchorCtr="0"/>
                </a:tc>
              </a:tr>
              <a:tr h="457835">
                <a:tc>
                  <a:txBody>
                    <a:bodyPr/>
                    <a:p>
                      <a:pPr algn="ctr">
                        <a:spcBef>
                          <a:spcPts val="800"/>
                        </a:spcBef>
                        <a:buClrTx/>
                        <a:buSzTx/>
                        <a:buFontTx/>
                      </a:pPr>
                      <a:r>
                        <a:rPr lang="en-US" altLang="zh-CN" sz="1800" b="1" dirty="0">
                          <a:solidFill>
                            <a:schemeClr val="accent1"/>
                          </a:solidFill>
                        </a:rPr>
                        <a:t>sft(seqrec+item2index)</a:t>
                      </a:r>
                      <a:endParaRPr lang="en-US" altLang="zh-CN" sz="1800" b="1" dirty="0">
                        <a:solidFill>
                          <a:schemeClr val="accent1"/>
                        </a:solidFill>
                      </a:endParaRPr>
                    </a:p>
                  </a:txBody>
                  <a:tcPr marL="101917" marR="101917" marT="13017" marB="13017" anchor="ctr" anchorCtr="0"/>
                </a:tc>
                <a:tc>
                  <a:txBody>
                    <a:bodyPr/>
                    <a:p>
                      <a:pPr algn="ctr">
                        <a:spcBef>
                          <a:spcPts val="800"/>
                        </a:spcBef>
                        <a:buClrTx/>
                        <a:buSzTx/>
                        <a:buFontTx/>
                      </a:pPr>
                      <a:r>
                        <a:rPr lang="en-US" altLang="zh-CN" sz="1800" b="1" dirty="0">
                          <a:solidFill>
                            <a:schemeClr val="accent1"/>
                          </a:solidFill>
                        </a:rPr>
                        <a:t>0.0825</a:t>
                      </a:r>
                      <a:endParaRPr lang="en-US" altLang="zh-CN" sz="1800" b="1" dirty="0">
                        <a:solidFill>
                          <a:schemeClr val="accent1"/>
                        </a:solidFill>
                      </a:endParaRPr>
                    </a:p>
                  </a:txBody>
                  <a:tcPr marL="101917" marR="101917" marT="13017" marB="13017" anchor="ctr" anchorCtr="0"/>
                </a:tc>
                <a:tc>
                  <a:txBody>
                    <a:bodyPr/>
                    <a:p>
                      <a:pPr algn="ctr">
                        <a:spcBef>
                          <a:spcPts val="800"/>
                        </a:spcBef>
                        <a:buClrTx/>
                        <a:buSzTx/>
                        <a:buFontTx/>
                      </a:pPr>
                      <a:r>
                        <a:rPr lang="en-US" altLang="zh-CN" sz="1800" b="1" dirty="0">
                          <a:solidFill>
                            <a:schemeClr val="accent1"/>
                          </a:solidFill>
                        </a:rPr>
                        <a:t>0.1080</a:t>
                      </a:r>
                      <a:endParaRPr lang="en-US" altLang="zh-CN" sz="1800" b="1" dirty="0">
                        <a:solidFill>
                          <a:schemeClr val="accent1"/>
                        </a:solidFill>
                      </a:endParaRPr>
                    </a:p>
                  </a:txBody>
                  <a:tcPr marL="101917" marR="101917" marT="13017" marB="13017" anchor="ctr" anchorCtr="0"/>
                </a:tc>
                <a:tc>
                  <a:txBody>
                    <a:bodyPr/>
                    <a:p>
                      <a:pPr algn="ctr">
                        <a:spcBef>
                          <a:spcPts val="800"/>
                        </a:spcBef>
                        <a:buClrTx/>
                        <a:buSzTx/>
                        <a:buFontTx/>
                      </a:pPr>
                      <a:r>
                        <a:rPr lang="en-US" altLang="zh-CN" sz="1800" b="1" dirty="0">
                          <a:solidFill>
                            <a:schemeClr val="accent1"/>
                          </a:solidFill>
                        </a:rPr>
                        <a:t>0.1241</a:t>
                      </a:r>
                      <a:endParaRPr lang="en-US" altLang="zh-CN" sz="1800" b="1" dirty="0">
                        <a:solidFill>
                          <a:schemeClr val="accent1"/>
                        </a:solidFill>
                      </a:endParaRPr>
                    </a:p>
                  </a:txBody>
                  <a:tcPr marL="101917" marR="101917" marT="13017" marB="13017" anchor="ctr" anchorCtr="0"/>
                </a:tc>
                <a:tc>
                  <a:txBody>
                    <a:bodyPr/>
                    <a:p>
                      <a:pPr algn="ctr">
                        <a:spcBef>
                          <a:spcPts val="800"/>
                        </a:spcBef>
                        <a:buClrTx/>
                        <a:buSzTx/>
                        <a:buFontTx/>
                      </a:pPr>
                      <a:r>
                        <a:rPr lang="en-US" altLang="zh-CN" sz="1800" b="1" dirty="0">
                          <a:solidFill>
                            <a:schemeClr val="accent1"/>
                          </a:solidFill>
                        </a:rPr>
                        <a:t>0.0952</a:t>
                      </a:r>
                      <a:endParaRPr lang="en-US" altLang="zh-CN" sz="1800" b="1" dirty="0">
                        <a:solidFill>
                          <a:schemeClr val="accent1"/>
                        </a:solidFill>
                      </a:endParaRPr>
                    </a:p>
                  </a:txBody>
                  <a:tcPr marL="101917" marR="101917" marT="13017" marB="13017" anchor="ctr" anchorCtr="0"/>
                </a:tc>
                <a:tc>
                  <a:txBody>
                    <a:bodyPr/>
                    <a:p>
                      <a:pPr algn="ctr">
                        <a:spcBef>
                          <a:spcPts val="800"/>
                        </a:spcBef>
                        <a:buClrTx/>
                        <a:buSzTx/>
                        <a:buFontTx/>
                      </a:pPr>
                      <a:r>
                        <a:rPr lang="en-US" altLang="zh-CN" sz="1800" b="1" dirty="0">
                          <a:solidFill>
                            <a:schemeClr val="accent1"/>
                          </a:solidFill>
                        </a:rPr>
                        <a:t>0.1004</a:t>
                      </a:r>
                      <a:endParaRPr lang="en-US" altLang="zh-CN" sz="1800" b="1" dirty="0">
                        <a:solidFill>
                          <a:schemeClr val="accent1"/>
                        </a:solidFill>
                      </a:endParaRPr>
                    </a:p>
                  </a:txBody>
                  <a:tcPr marL="101917" marR="101917" marT="13017" marB="13017" anchor="ctr" anchorCtr="0"/>
                </a:tc>
              </a:tr>
              <a:tr h="457835">
                <a:tc>
                  <a:txBody>
                    <a:bodyPr/>
                    <a:p>
                      <a:pPr algn="ctr">
                        <a:spcBef>
                          <a:spcPts val="800"/>
                        </a:spcBef>
                        <a:buClrTx/>
                        <a:buSzTx/>
                        <a:buFontTx/>
                      </a:pPr>
                      <a:r>
                        <a:rPr lang="en-US" altLang="zh-CN" sz="1800" b="1" dirty="0">
                          <a:solidFill>
                            <a:schemeClr val="dk1"/>
                          </a:solidFill>
                        </a:rPr>
                        <a:t>sft + rl(ranking_noscale)</a:t>
                      </a:r>
                      <a:endParaRPr lang="en-US" altLang="zh-CN" sz="1800" b="1" dirty="0">
                        <a:solidFill>
                          <a:schemeClr val="dk1"/>
                        </a:solidFill>
                      </a:endParaRPr>
                    </a:p>
                  </a:txBody>
                  <a:tcPr marL="101917" marR="101917" marT="13017" marB="13017" anchor="ctr" anchorCtr="0"/>
                </a:tc>
                <a:tc>
                  <a:txBody>
                    <a:bodyPr/>
                    <a:p>
                      <a:pPr algn="ctr">
                        <a:spcBef>
                          <a:spcPts val="800"/>
                        </a:spcBef>
                        <a:buClrTx/>
                        <a:buSzTx/>
                        <a:buFontTx/>
                      </a:pPr>
                      <a:r>
                        <a:rPr lang="en-US" altLang="zh-CN" sz="1800" b="1" dirty="0">
                          <a:solidFill>
                            <a:schemeClr val="dk1"/>
                          </a:solidFill>
                        </a:rPr>
                        <a:t>0.0851</a:t>
                      </a:r>
                      <a:endParaRPr lang="en-US" altLang="zh-CN" sz="1800" b="1" dirty="0">
                        <a:solidFill>
                          <a:schemeClr val="dk1"/>
                        </a:solidFill>
                      </a:endParaRPr>
                    </a:p>
                  </a:txBody>
                  <a:tcPr marL="101917" marR="101917" marT="13017" marB="13017" anchor="ctr" anchorCtr="0"/>
                </a:tc>
                <a:tc>
                  <a:txBody>
                    <a:bodyPr/>
                    <a:p>
                      <a:pPr algn="ctr">
                        <a:spcBef>
                          <a:spcPts val="800"/>
                        </a:spcBef>
                        <a:buClrTx/>
                        <a:buSzTx/>
                        <a:buFontTx/>
                      </a:pPr>
                      <a:r>
                        <a:rPr lang="en-US" altLang="zh-CN" sz="1800" b="1" dirty="0">
                          <a:solidFill>
                            <a:schemeClr val="dk1"/>
                          </a:solidFill>
                        </a:rPr>
                        <a:t>0.1091</a:t>
                      </a:r>
                      <a:endParaRPr lang="en-US" altLang="zh-CN" sz="1800" b="1" dirty="0">
                        <a:solidFill>
                          <a:schemeClr val="dk1"/>
                        </a:solidFill>
                      </a:endParaRPr>
                    </a:p>
                  </a:txBody>
                  <a:tcPr marL="101917" marR="101917" marT="13017" marB="13017" anchor="ctr" anchorCtr="0"/>
                </a:tc>
                <a:tc>
                  <a:txBody>
                    <a:bodyPr/>
                    <a:p>
                      <a:pPr algn="ctr">
                        <a:spcBef>
                          <a:spcPts val="800"/>
                        </a:spcBef>
                        <a:buClrTx/>
                        <a:buSzTx/>
                        <a:buFontTx/>
                      </a:pPr>
                      <a:r>
                        <a:rPr lang="en-US" altLang="zh-CN" sz="1800" b="1" dirty="0">
                          <a:solidFill>
                            <a:schemeClr val="dk1"/>
                          </a:solidFill>
                        </a:rPr>
                        <a:t>0.1245</a:t>
                      </a:r>
                      <a:endParaRPr lang="en-US" altLang="zh-CN" sz="1800" b="1" dirty="0">
                        <a:solidFill>
                          <a:schemeClr val="dk1"/>
                        </a:solidFill>
                      </a:endParaRPr>
                    </a:p>
                  </a:txBody>
                  <a:tcPr marL="101917" marR="101917" marT="13017" marB="13017" anchor="ctr" anchorCtr="0"/>
                </a:tc>
                <a:tc>
                  <a:txBody>
                    <a:bodyPr/>
                    <a:p>
                      <a:pPr algn="ctr">
                        <a:spcBef>
                          <a:spcPts val="800"/>
                        </a:spcBef>
                        <a:buClrTx/>
                        <a:buSzTx/>
                        <a:buFontTx/>
                      </a:pPr>
                      <a:r>
                        <a:rPr lang="en-US" altLang="zh-CN" sz="1800" b="1" dirty="0">
                          <a:solidFill>
                            <a:schemeClr val="dk1"/>
                          </a:solidFill>
                        </a:rPr>
                        <a:t>0.0974</a:t>
                      </a:r>
                      <a:endParaRPr lang="en-US" altLang="zh-CN" sz="1800" b="1" dirty="0">
                        <a:solidFill>
                          <a:schemeClr val="dk1"/>
                        </a:solidFill>
                      </a:endParaRPr>
                    </a:p>
                  </a:txBody>
                  <a:tcPr marL="101917" marR="101917" marT="13017" marB="13017" anchor="ctr" anchorCtr="0"/>
                </a:tc>
                <a:tc>
                  <a:txBody>
                    <a:bodyPr/>
                    <a:p>
                      <a:pPr algn="ctr">
                        <a:spcBef>
                          <a:spcPts val="800"/>
                        </a:spcBef>
                        <a:buClrTx/>
                        <a:buSzTx/>
                        <a:buFontTx/>
                      </a:pPr>
                      <a:r>
                        <a:rPr lang="en-US" altLang="zh-CN" sz="1800" b="1" dirty="0">
                          <a:solidFill>
                            <a:schemeClr val="dk1"/>
                          </a:solidFill>
                        </a:rPr>
                        <a:t>0.1023</a:t>
                      </a:r>
                      <a:endParaRPr lang="en-US" altLang="zh-CN" sz="1800" b="1" dirty="0">
                        <a:solidFill>
                          <a:schemeClr val="dk1"/>
                        </a:solidFill>
                      </a:endParaRPr>
                    </a:p>
                  </a:txBody>
                  <a:tcPr marL="101917" marR="101917" marT="13017" marB="13017" anchor="ctr" anchorCtr="0"/>
                </a:tc>
              </a:tr>
              <a:tr h="457835">
                <a:tc>
                  <a:txBody>
                    <a:bodyPr/>
                    <a:p>
                      <a:pPr algn="ctr">
                        <a:spcBef>
                          <a:spcPts val="800"/>
                        </a:spcBef>
                        <a:buClrTx/>
                        <a:buSzTx/>
                        <a:buFontTx/>
                      </a:pPr>
                      <a:r>
                        <a:rPr lang="en-US" altLang="zh-CN" sz="1800" b="1" dirty="0">
                          <a:solidFill>
                            <a:schemeClr val="dk1"/>
                          </a:solidFill>
                        </a:rPr>
                        <a:t>sft + rl(ndcg_noscale)</a:t>
                      </a:r>
                      <a:endParaRPr lang="en-US" altLang="zh-CN" sz="1800" b="1" dirty="0">
                        <a:solidFill>
                          <a:schemeClr val="dk1"/>
                        </a:solidFill>
                      </a:endParaRPr>
                    </a:p>
                  </a:txBody>
                  <a:tcPr marL="101917" marR="101917" marT="13017" marB="13017" anchor="ctr" anchorCtr="0"/>
                </a:tc>
                <a:tc>
                  <a:txBody>
                    <a:bodyPr/>
                    <a:p>
                      <a:pPr algn="ctr">
                        <a:spcBef>
                          <a:spcPts val="800"/>
                        </a:spcBef>
                        <a:buClrTx/>
                        <a:buSzTx/>
                        <a:buFontTx/>
                      </a:pPr>
                      <a:r>
                        <a:rPr lang="en-US" altLang="zh-CN" sz="1800" b="1" dirty="0">
                          <a:solidFill>
                            <a:schemeClr val="dk1"/>
                          </a:solidFill>
                        </a:rPr>
                        <a:t>0.0833</a:t>
                      </a:r>
                      <a:endParaRPr lang="en-US" altLang="zh-CN" sz="1800" b="1" dirty="0">
                        <a:solidFill>
                          <a:schemeClr val="dk1"/>
                        </a:solidFill>
                      </a:endParaRPr>
                    </a:p>
                  </a:txBody>
                  <a:tcPr marL="101917" marR="101917" marT="13017" marB="13017" anchor="ctr" anchorCtr="0"/>
                </a:tc>
                <a:tc>
                  <a:txBody>
                    <a:bodyPr/>
                    <a:p>
                      <a:pPr algn="ctr">
                        <a:spcBef>
                          <a:spcPts val="800"/>
                        </a:spcBef>
                        <a:buClrTx/>
                        <a:buSzTx/>
                        <a:buFontTx/>
                      </a:pPr>
                      <a:r>
                        <a:rPr lang="en-US" altLang="zh-CN" sz="1800" b="1" dirty="0">
                          <a:solidFill>
                            <a:schemeClr val="dk1"/>
                          </a:solidFill>
                        </a:rPr>
                        <a:t>0.0992</a:t>
                      </a:r>
                      <a:endParaRPr lang="en-US" altLang="zh-CN" sz="1800" b="1" dirty="0">
                        <a:solidFill>
                          <a:schemeClr val="dk1"/>
                        </a:solidFill>
                      </a:endParaRPr>
                    </a:p>
                  </a:txBody>
                  <a:tcPr marL="101917" marR="101917" marT="13017" marB="13017" anchor="ctr" anchorCtr="0"/>
                </a:tc>
                <a:tc>
                  <a:txBody>
                    <a:bodyPr/>
                    <a:p>
                      <a:pPr algn="ctr">
                        <a:spcBef>
                          <a:spcPts val="800"/>
                        </a:spcBef>
                        <a:buClrTx/>
                        <a:buSzTx/>
                        <a:buFontTx/>
                      </a:pPr>
                      <a:r>
                        <a:rPr lang="en-US" altLang="zh-CN" sz="1800" b="1" dirty="0">
                          <a:solidFill>
                            <a:schemeClr val="dk1"/>
                          </a:solidFill>
                        </a:rPr>
                        <a:t>0.1157</a:t>
                      </a:r>
                      <a:endParaRPr lang="en-US" altLang="zh-CN" sz="1800" b="1" dirty="0">
                        <a:solidFill>
                          <a:schemeClr val="dk1"/>
                        </a:solidFill>
                      </a:endParaRPr>
                    </a:p>
                  </a:txBody>
                  <a:tcPr marL="101917" marR="101917" marT="13017" marB="13017" anchor="ctr" anchorCtr="0"/>
                </a:tc>
                <a:tc>
                  <a:txBody>
                    <a:bodyPr/>
                    <a:p>
                      <a:pPr algn="ctr">
                        <a:spcBef>
                          <a:spcPts val="800"/>
                        </a:spcBef>
                        <a:buClrTx/>
                        <a:buSzTx/>
                        <a:buFontTx/>
                      </a:pPr>
                      <a:r>
                        <a:rPr lang="en-US" altLang="zh-CN" sz="1800" b="1" dirty="0">
                          <a:solidFill>
                            <a:schemeClr val="dk1"/>
                          </a:solidFill>
                        </a:rPr>
                        <a:t>0.0913</a:t>
                      </a:r>
                      <a:endParaRPr lang="en-US" altLang="zh-CN" sz="1800" b="1" dirty="0">
                        <a:solidFill>
                          <a:schemeClr val="dk1"/>
                        </a:solidFill>
                      </a:endParaRPr>
                    </a:p>
                  </a:txBody>
                  <a:tcPr marL="101917" marR="101917" marT="13017" marB="13017" anchor="ctr" anchorCtr="0"/>
                </a:tc>
                <a:tc>
                  <a:txBody>
                    <a:bodyPr/>
                    <a:p>
                      <a:pPr algn="ctr">
                        <a:spcBef>
                          <a:spcPts val="800"/>
                        </a:spcBef>
                        <a:buClrTx/>
                        <a:buSzTx/>
                        <a:buFontTx/>
                      </a:pPr>
                      <a:r>
                        <a:rPr lang="en-US" altLang="zh-CN" sz="1800" b="1" dirty="0">
                          <a:solidFill>
                            <a:schemeClr val="dk1"/>
                          </a:solidFill>
                        </a:rPr>
                        <a:t>0.0966</a:t>
                      </a:r>
                      <a:endParaRPr lang="en-US" altLang="zh-CN" sz="1800" b="1" dirty="0">
                        <a:solidFill>
                          <a:schemeClr val="dk1"/>
                        </a:solidFill>
                      </a:endParaRPr>
                    </a:p>
                  </a:txBody>
                  <a:tcPr marL="101917" marR="101917" marT="13017" marB="13017" anchor="ctr" anchorCtr="0"/>
                </a:tc>
              </a:tr>
              <a:tr h="457835">
                <a:tc>
                  <a:txBody>
                    <a:bodyPr/>
                    <a:p>
                      <a:pPr algn="ctr">
                        <a:spcBef>
                          <a:spcPts val="800"/>
                        </a:spcBef>
                        <a:buClrTx/>
                        <a:buSzTx/>
                        <a:buFontTx/>
                      </a:pPr>
                      <a:r>
                        <a:rPr lang="en-US" altLang="zh-CN" sz="1800" b="1" dirty="0">
                          <a:solidFill>
                            <a:schemeClr val="dk1"/>
                          </a:solidFill>
                        </a:rPr>
                        <a:t>sft + rl(rule_noscale)</a:t>
                      </a:r>
                      <a:endParaRPr lang="en-US" altLang="zh-CN" sz="1800" b="1" dirty="0">
                        <a:solidFill>
                          <a:schemeClr val="dk1"/>
                        </a:solidFill>
                      </a:endParaRPr>
                    </a:p>
                  </a:txBody>
                  <a:tcPr marL="101917" marR="101917" marT="13017" marB="13017" anchor="ctr" anchorCtr="0"/>
                </a:tc>
                <a:tc>
                  <a:txBody>
                    <a:bodyPr/>
                    <a:p>
                      <a:pPr algn="ctr">
                        <a:spcBef>
                          <a:spcPts val="800"/>
                        </a:spcBef>
                        <a:buClrTx/>
                        <a:buSzTx/>
                        <a:buFontTx/>
                      </a:pPr>
                      <a:r>
                        <a:rPr lang="en-US" altLang="zh-CN" sz="1800" b="1" dirty="0">
                          <a:solidFill>
                            <a:schemeClr val="dk1"/>
                          </a:solidFill>
                        </a:rPr>
                        <a:t>0.0718</a:t>
                      </a:r>
                      <a:endParaRPr lang="en-US" altLang="zh-CN" sz="1800" b="1" dirty="0">
                        <a:solidFill>
                          <a:schemeClr val="dk1"/>
                        </a:solidFill>
                      </a:endParaRPr>
                    </a:p>
                  </a:txBody>
                  <a:tcPr marL="101917" marR="101917" marT="13017" marB="13017" anchor="ctr" anchorCtr="0"/>
                </a:tc>
                <a:tc>
                  <a:txBody>
                    <a:bodyPr/>
                    <a:p>
                      <a:pPr algn="ctr">
                        <a:spcBef>
                          <a:spcPts val="800"/>
                        </a:spcBef>
                        <a:buClrTx/>
                        <a:buSzTx/>
                        <a:buFontTx/>
                      </a:pPr>
                      <a:r>
                        <a:rPr lang="en-US" altLang="zh-CN" sz="1800" b="1" dirty="0">
                          <a:solidFill>
                            <a:schemeClr val="dk1"/>
                          </a:solidFill>
                        </a:rPr>
                        <a:t>0.0971</a:t>
                      </a:r>
                      <a:endParaRPr lang="en-US" altLang="zh-CN" sz="1800" b="1" dirty="0">
                        <a:solidFill>
                          <a:schemeClr val="dk1"/>
                        </a:solidFill>
                      </a:endParaRPr>
                    </a:p>
                  </a:txBody>
                  <a:tcPr marL="101917" marR="101917" marT="13017" marB="13017" anchor="ctr" anchorCtr="0"/>
                </a:tc>
                <a:tc>
                  <a:txBody>
                    <a:bodyPr/>
                    <a:p>
                      <a:pPr algn="ctr">
                        <a:spcBef>
                          <a:spcPts val="800"/>
                        </a:spcBef>
                        <a:buClrTx/>
                        <a:buSzTx/>
                        <a:buFontTx/>
                      </a:pPr>
                      <a:r>
                        <a:rPr lang="en-US" altLang="zh-CN" sz="1800" b="1" dirty="0">
                          <a:solidFill>
                            <a:schemeClr val="dk1"/>
                          </a:solidFill>
                        </a:rPr>
                        <a:t>0.1118</a:t>
                      </a:r>
                      <a:endParaRPr lang="en-US" altLang="zh-CN" sz="1800" b="1" dirty="0">
                        <a:solidFill>
                          <a:schemeClr val="dk1"/>
                        </a:solidFill>
                      </a:endParaRPr>
                    </a:p>
                  </a:txBody>
                  <a:tcPr marL="101917" marR="101917" marT="13017" marB="13017" anchor="ctr" anchorCtr="0"/>
                </a:tc>
                <a:tc>
                  <a:txBody>
                    <a:bodyPr/>
                    <a:p>
                      <a:pPr algn="ctr">
                        <a:spcBef>
                          <a:spcPts val="800"/>
                        </a:spcBef>
                        <a:buClrTx/>
                        <a:buSzTx/>
                        <a:buFontTx/>
                      </a:pPr>
                      <a:r>
                        <a:rPr lang="en-US" altLang="zh-CN" sz="1800" b="1" dirty="0">
                          <a:solidFill>
                            <a:schemeClr val="dk1"/>
                          </a:solidFill>
                        </a:rPr>
                        <a:t>0.0847</a:t>
                      </a:r>
                      <a:endParaRPr lang="en-US" altLang="zh-CN" sz="1800" b="1" dirty="0">
                        <a:solidFill>
                          <a:schemeClr val="dk1"/>
                        </a:solidFill>
                      </a:endParaRPr>
                    </a:p>
                  </a:txBody>
                  <a:tcPr marL="101917" marR="101917" marT="13017" marB="13017" anchor="ctr" anchorCtr="0"/>
                </a:tc>
                <a:tc>
                  <a:txBody>
                    <a:bodyPr/>
                    <a:p>
                      <a:pPr algn="ctr">
                        <a:spcBef>
                          <a:spcPts val="800"/>
                        </a:spcBef>
                        <a:buClrTx/>
                        <a:buSzTx/>
                        <a:buFontTx/>
                      </a:pPr>
                      <a:r>
                        <a:rPr lang="en-US" altLang="zh-CN" sz="1800" b="1" dirty="0">
                          <a:solidFill>
                            <a:schemeClr val="dk1"/>
                          </a:solidFill>
                        </a:rPr>
                        <a:t>0.0895</a:t>
                      </a:r>
                      <a:endParaRPr lang="en-US" altLang="zh-CN" sz="1800" b="1" dirty="0">
                        <a:solidFill>
                          <a:schemeClr val="dk1"/>
                        </a:solidFill>
                      </a:endParaRPr>
                    </a:p>
                  </a:txBody>
                  <a:tcPr marL="101917" marR="101917" marT="13017" marB="13017" anchor="ctr" anchorCtr="0"/>
                </a:tc>
              </a:tr>
              <a:tr h="457835">
                <a:tc>
                  <a:txBody>
                    <a:bodyPr/>
                    <a:p>
                      <a:pPr algn="ctr">
                        <a:spcBef>
                          <a:spcPts val="800"/>
                        </a:spcBef>
                        <a:buClrTx/>
                        <a:buSzTx/>
                        <a:buFontTx/>
                      </a:pPr>
                      <a:r>
                        <a:rPr lang="en-US" altLang="zh-CN" sz="1800" b="1" dirty="0">
                          <a:solidFill>
                            <a:srgbClr val="FF0000"/>
                          </a:solidFill>
                        </a:rPr>
                        <a:t>sft + rl(ranking_noscale_uft)</a:t>
                      </a:r>
                      <a:endParaRPr lang="en-US" altLang="zh-CN" sz="1800" b="1" dirty="0">
                        <a:solidFill>
                          <a:srgbClr val="FF0000"/>
                        </a:solidFill>
                      </a:endParaRPr>
                    </a:p>
                  </a:txBody>
                  <a:tcPr marL="101917" marR="101917" marT="13017" marB="13017" anchor="ctr" anchorCtr="0"/>
                </a:tc>
                <a:tc>
                  <a:txBody>
                    <a:bodyPr/>
                    <a:p>
                      <a:pPr algn="ctr">
                        <a:spcBef>
                          <a:spcPts val="800"/>
                        </a:spcBef>
                        <a:buClrTx/>
                        <a:buSzTx/>
                        <a:buFontTx/>
                      </a:pPr>
                      <a:r>
                        <a:rPr lang="en-US" altLang="zh-CN" sz="1800" b="1" dirty="0">
                          <a:solidFill>
                            <a:srgbClr val="FF0000"/>
                          </a:solidFill>
                        </a:rPr>
                        <a:t>0.0847</a:t>
                      </a:r>
                      <a:endParaRPr lang="en-US" altLang="zh-CN" sz="1800" b="1" dirty="0">
                        <a:solidFill>
                          <a:srgbClr val="FF0000"/>
                        </a:solidFill>
                      </a:endParaRPr>
                    </a:p>
                  </a:txBody>
                  <a:tcPr marL="101917" marR="101917" marT="13017" marB="13017" anchor="ctr" anchorCtr="0"/>
                </a:tc>
                <a:tc>
                  <a:txBody>
                    <a:bodyPr/>
                    <a:p>
                      <a:pPr algn="ctr">
                        <a:spcBef>
                          <a:spcPts val="800"/>
                        </a:spcBef>
                        <a:buClrTx/>
                        <a:buSzTx/>
                        <a:buFontTx/>
                      </a:pPr>
                      <a:r>
                        <a:rPr lang="en-US" altLang="zh-CN" sz="1800" b="1" dirty="0">
                          <a:solidFill>
                            <a:srgbClr val="FF0000"/>
                          </a:solidFill>
                        </a:rPr>
                        <a:t>0.1056</a:t>
                      </a:r>
                      <a:endParaRPr lang="en-US" altLang="zh-CN" sz="1800" b="1" dirty="0">
                        <a:solidFill>
                          <a:srgbClr val="FF0000"/>
                        </a:solidFill>
                      </a:endParaRPr>
                    </a:p>
                  </a:txBody>
                  <a:tcPr marL="101917" marR="101917" marT="13017" marB="13017" anchor="ctr" anchorCtr="0"/>
                </a:tc>
                <a:tc>
                  <a:txBody>
                    <a:bodyPr/>
                    <a:p>
                      <a:pPr algn="ctr">
                        <a:spcBef>
                          <a:spcPts val="800"/>
                        </a:spcBef>
                        <a:buClrTx/>
                        <a:buSzTx/>
                        <a:buFontTx/>
                      </a:pPr>
                      <a:r>
                        <a:rPr lang="en-US" altLang="zh-CN" sz="1800" b="1" dirty="0">
                          <a:solidFill>
                            <a:srgbClr val="FF0000"/>
                          </a:solidFill>
                        </a:rPr>
                        <a:t>0.1256</a:t>
                      </a:r>
                      <a:endParaRPr lang="en-US" altLang="zh-CN" sz="1800" b="1" dirty="0">
                        <a:solidFill>
                          <a:srgbClr val="FF0000"/>
                        </a:solidFill>
                      </a:endParaRPr>
                    </a:p>
                  </a:txBody>
                  <a:tcPr marL="101917" marR="101917" marT="13017" marB="13017" anchor="ctr" anchorCtr="0"/>
                </a:tc>
                <a:tc>
                  <a:txBody>
                    <a:bodyPr/>
                    <a:p>
                      <a:pPr algn="ctr">
                        <a:spcBef>
                          <a:spcPts val="800"/>
                        </a:spcBef>
                        <a:buClrTx/>
                        <a:buSzTx/>
                        <a:buFontTx/>
                      </a:pPr>
                      <a:r>
                        <a:rPr lang="en-US" altLang="zh-CN" sz="1800" b="1" dirty="0">
                          <a:solidFill>
                            <a:srgbClr val="FF0000"/>
                          </a:solidFill>
                        </a:rPr>
                        <a:t>0.9555</a:t>
                      </a:r>
                      <a:endParaRPr lang="en-US" altLang="zh-CN" sz="1800" b="1" dirty="0">
                        <a:solidFill>
                          <a:srgbClr val="FF0000"/>
                        </a:solidFill>
                      </a:endParaRPr>
                    </a:p>
                  </a:txBody>
                  <a:tcPr marL="101917" marR="101917" marT="13017" marB="13017" anchor="ctr" anchorCtr="0"/>
                </a:tc>
                <a:tc>
                  <a:txBody>
                    <a:bodyPr/>
                    <a:p>
                      <a:pPr algn="ctr">
                        <a:spcBef>
                          <a:spcPts val="800"/>
                        </a:spcBef>
                        <a:buClrTx/>
                        <a:buSzTx/>
                        <a:buFontTx/>
                      </a:pPr>
                      <a:r>
                        <a:rPr lang="en-US" altLang="zh-CN" sz="1800" b="1" dirty="0">
                          <a:solidFill>
                            <a:srgbClr val="FF0000"/>
                          </a:solidFill>
                        </a:rPr>
                        <a:t>0.1019</a:t>
                      </a:r>
                      <a:endParaRPr lang="en-US" altLang="zh-CN" sz="1800" b="1" dirty="0">
                        <a:solidFill>
                          <a:srgbClr val="FF0000"/>
                        </a:solidFill>
                      </a:endParaRPr>
                    </a:p>
                  </a:txBody>
                  <a:tcPr marL="101917" marR="101917" marT="13017" marB="13017" anchor="ctr" anchorCtr="0"/>
                </a:tc>
              </a:tr>
            </a:tbl>
          </a:graphicData>
        </a:graphic>
      </p:graphicFrame>
      <p:sp>
        <p:nvSpPr>
          <p:cNvPr id="7" name="文本框 6"/>
          <p:cNvSpPr txBox="1"/>
          <p:nvPr/>
        </p:nvSpPr>
        <p:spPr>
          <a:xfrm>
            <a:off x="2763520" y="972820"/>
            <a:ext cx="6664960" cy="398780"/>
          </a:xfrm>
          <a:prstGeom prst="rect">
            <a:avLst/>
          </a:prstGeom>
          <a:noFill/>
        </p:spPr>
        <p:txBody>
          <a:bodyPr wrap="square" rtlCol="0">
            <a:spAutoFit/>
          </a:bodyPr>
          <a:p>
            <a:r>
              <a:rPr lang="en-US" altLang="zh-CN" sz="2000"/>
              <a:t>seqrec-R1 </a:t>
            </a:r>
            <a:r>
              <a:rPr lang="zh-CN" altLang="en-US" sz="2000"/>
              <a:t>在</a:t>
            </a:r>
            <a:r>
              <a:rPr lang="en-US" altLang="zh-CN" sz="2000"/>
              <a:t> amazon-Instruments </a:t>
            </a:r>
            <a:r>
              <a:rPr lang="zh-CN" altLang="en-US" sz="2000"/>
              <a:t>数据集上和</a:t>
            </a:r>
            <a:r>
              <a:rPr lang="en-US" altLang="zh-CN" sz="2000"/>
              <a:t> sota </a:t>
            </a:r>
            <a:r>
              <a:rPr lang="zh-CN" altLang="en-US" sz="2000"/>
              <a:t>一致</a:t>
            </a:r>
            <a:endParaRPr lang="zh-CN" altLang="en-US" sz="20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r>
              <a:rPr lang="en-US" altLang="zh-CN" sz="2800" dirty="0"/>
              <a:t>【</a:t>
            </a:r>
            <a:r>
              <a:rPr lang="zh-CN" altLang="en-US" sz="2800" dirty="0"/>
              <a:t>课题二</a:t>
            </a:r>
            <a:r>
              <a:rPr lang="en-US" altLang="zh-CN" sz="2800" dirty="0"/>
              <a:t>】</a:t>
            </a:r>
            <a:r>
              <a:rPr lang="zh-CN" altLang="en-US" sz="2800" dirty="0"/>
              <a:t>基于点击模型的</a:t>
            </a:r>
            <a:r>
              <a:rPr lang="zh-CN" altLang="en-US" sz="2800" dirty="0"/>
              <a:t>推理时</a:t>
            </a:r>
            <a:r>
              <a:rPr lang="zh-CN" altLang="en-US" sz="2800" dirty="0"/>
              <a:t>扩展</a:t>
            </a:r>
            <a:r>
              <a:rPr lang="en-US" altLang="zh-CN" sz="2800" dirty="0" err="1"/>
              <a:t>ScaleRec</a:t>
            </a:r>
            <a:r>
              <a:rPr lang="zh-CN" altLang="en-US" sz="2800" dirty="0"/>
              <a:t>：核心挑战</a:t>
            </a:r>
            <a:endParaRPr lang="en-US" sz="2800" dirty="0"/>
          </a:p>
        </p:txBody>
      </p:sp>
      <p:sp>
        <p:nvSpPr>
          <p:cNvPr id="3" name="Content Placeholder 2"/>
          <p:cNvSpPr>
            <a:spLocks noGrp="1"/>
          </p:cNvSpPr>
          <p:nvPr>
            <p:ph sz="quarter" idx="11"/>
          </p:nvPr>
        </p:nvSpPr>
        <p:spPr/>
        <p:txBody>
          <a:bodyPr>
            <a:normAutofit/>
          </a:bodyPr>
          <a:lstStyle/>
          <a:p>
            <a:r>
              <a:rPr lang="en-US" sz="2000" dirty="0">
                <a:solidFill>
                  <a:srgbClr val="FF0000"/>
                </a:solidFill>
              </a:rPr>
              <a:t>推理时扩展</a:t>
            </a:r>
            <a:r>
              <a:rPr lang="zh-CN" altLang="en-US" sz="2000" dirty="0">
                <a:solidFill>
                  <a:srgbClr val="FF0000"/>
                </a:solidFill>
              </a:rPr>
              <a:t>（</a:t>
            </a:r>
            <a:r>
              <a:rPr lang="en-US" altLang="zh-CN" sz="2000" dirty="0">
                <a:solidFill>
                  <a:srgbClr val="FF0000"/>
                </a:solidFill>
              </a:rPr>
              <a:t>Test-time Scaling</a:t>
            </a:r>
            <a:r>
              <a:rPr lang="zh-CN" altLang="en-US" sz="2000" dirty="0">
                <a:solidFill>
                  <a:srgbClr val="FF0000"/>
                </a:solidFill>
              </a:rPr>
              <a:t>）</a:t>
            </a:r>
            <a:r>
              <a:rPr lang="zh-CN" altLang="en-US" sz="2000" dirty="0"/>
              <a:t>在大语言模型取得了显著的性能提升，然而推理时扩展在推荐场景的潜力尚未被挖掘</a:t>
            </a:r>
            <a:endParaRPr lang="en-US" sz="2000" dirty="0"/>
          </a:p>
        </p:txBody>
      </p:sp>
      <p:pic>
        <p:nvPicPr>
          <p:cNvPr id="6" name="Picture 5"/>
          <p:cNvPicPr>
            <a:picLocks noChangeAspect="1"/>
          </p:cNvPicPr>
          <p:nvPr/>
        </p:nvPicPr>
        <p:blipFill rotWithShape="1">
          <a:blip r:embed="rId1">
            <a:extLst>
              <a:ext uri="{28A0092B-C50C-407E-A947-70E740481C1C}">
                <a14:useLocalDpi xmlns:a14="http://schemas.microsoft.com/office/drawing/2010/main" val="0"/>
              </a:ext>
            </a:extLst>
          </a:blip>
          <a:srcRect t="22120" b="6110"/>
          <a:stretch>
            <a:fillRect/>
          </a:stretch>
        </p:blipFill>
        <p:spPr>
          <a:xfrm>
            <a:off x="2209800" y="2496368"/>
            <a:ext cx="7772400" cy="371883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r>
              <a:rPr lang="en-US" altLang="zh-CN" sz="2800" dirty="0"/>
              <a:t>【</a:t>
            </a:r>
            <a:r>
              <a:rPr lang="zh-CN" altLang="en-US" sz="2800" dirty="0"/>
              <a:t>课题二</a:t>
            </a:r>
            <a:r>
              <a:rPr lang="en-US" altLang="zh-CN" sz="2800" dirty="0"/>
              <a:t>】</a:t>
            </a:r>
            <a:r>
              <a:rPr lang="zh-CN" altLang="en-US" sz="2800" dirty="0"/>
              <a:t>基于点击模型的</a:t>
            </a:r>
            <a:r>
              <a:rPr lang="zh-CN" altLang="en-US" sz="2800" dirty="0"/>
              <a:t>推理时</a:t>
            </a:r>
            <a:r>
              <a:rPr lang="zh-CN" altLang="en-US" sz="2800" dirty="0"/>
              <a:t>扩展</a:t>
            </a:r>
            <a:r>
              <a:rPr lang="en-US" altLang="zh-CN" sz="2800" dirty="0" err="1"/>
              <a:t>ScaleRec</a:t>
            </a:r>
            <a:r>
              <a:rPr lang="zh-CN" altLang="en-US" sz="2800" dirty="0"/>
              <a:t>：核心挑战</a:t>
            </a:r>
            <a:endParaRPr lang="en-US" sz="2800" dirty="0"/>
          </a:p>
        </p:txBody>
      </p:sp>
      <p:sp>
        <p:nvSpPr>
          <p:cNvPr id="3" name="Content Placeholder 2"/>
          <p:cNvSpPr>
            <a:spLocks noGrp="1"/>
          </p:cNvSpPr>
          <p:nvPr>
            <p:ph sz="quarter" idx="11"/>
          </p:nvPr>
        </p:nvSpPr>
        <p:spPr/>
        <p:txBody>
          <a:bodyPr>
            <a:normAutofit/>
          </a:bodyPr>
          <a:lstStyle/>
          <a:p>
            <a:r>
              <a:rPr lang="en-US" sz="2000" b="1" dirty="0"/>
              <a:t>列表层级效用</a:t>
            </a:r>
            <a:r>
              <a:rPr lang="zh-CN" altLang="en-US" sz="2000" b="1" dirty="0"/>
              <a:t>：</a:t>
            </a:r>
            <a:r>
              <a:rPr lang="en-US" sz="2000" dirty="0"/>
              <a:t>当前Reward</a:t>
            </a:r>
            <a:r>
              <a:rPr lang="zh-CN" altLang="en-US" sz="2000" dirty="0"/>
              <a:t> </a:t>
            </a:r>
            <a:r>
              <a:rPr lang="en-US" altLang="zh-CN" sz="2000" dirty="0"/>
              <a:t>Model</a:t>
            </a:r>
            <a:r>
              <a:rPr lang="zh-CN" altLang="en-US" sz="2000" dirty="0"/>
              <a:t>基本基于单独物品是否符合用户偏好进行反馈，忽略了</a:t>
            </a:r>
            <a:r>
              <a:rPr lang="zh-CN" altLang="en-US" sz="2000" b="1" dirty="0">
                <a:solidFill>
                  <a:srgbClr val="FF0000"/>
                </a:solidFill>
              </a:rPr>
              <a:t>列表级物品间的相互作用</a:t>
            </a:r>
            <a:endParaRPr lang="en-US" sz="2000" b="1" dirty="0">
              <a:solidFill>
                <a:srgbClr val="FF0000"/>
              </a:solidFill>
            </a:endParaRPr>
          </a:p>
        </p:txBody>
      </p:sp>
      <p:pic>
        <p:nvPicPr>
          <p:cNvPr id="5" name="Picture 4"/>
          <p:cNvPicPr>
            <a:picLocks noChangeAspect="1"/>
          </p:cNvPicPr>
          <p:nvPr/>
        </p:nvPicPr>
        <p:blipFill rotWithShape="1">
          <a:blip r:embed="rId1">
            <a:extLst>
              <a:ext uri="{28A0092B-C50C-407E-A947-70E740481C1C}">
                <a14:useLocalDpi xmlns:a14="http://schemas.microsoft.com/office/drawing/2010/main" val="0"/>
              </a:ext>
            </a:extLst>
          </a:blip>
          <a:srcRect t="19412" b="17686"/>
          <a:stretch>
            <a:fillRect/>
          </a:stretch>
        </p:blipFill>
        <p:spPr>
          <a:xfrm>
            <a:off x="2235994" y="2417829"/>
            <a:ext cx="7772400" cy="3259305"/>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r>
              <a:rPr lang="en-US" altLang="zh-CN" sz="2800" dirty="0"/>
              <a:t>【</a:t>
            </a:r>
            <a:r>
              <a:rPr lang="zh-CN" altLang="en-US" sz="2800" dirty="0"/>
              <a:t>课题二</a:t>
            </a:r>
            <a:r>
              <a:rPr lang="en-US" altLang="zh-CN" sz="2800" dirty="0"/>
              <a:t>】</a:t>
            </a:r>
            <a:r>
              <a:rPr lang="zh-CN" altLang="en-US" sz="2800" dirty="0"/>
              <a:t>基于点击模型的</a:t>
            </a:r>
            <a:r>
              <a:rPr lang="zh-CN" altLang="en-US" sz="2800" dirty="0"/>
              <a:t>推理时</a:t>
            </a:r>
            <a:r>
              <a:rPr lang="zh-CN" altLang="en-US" sz="2800" dirty="0"/>
              <a:t>扩展</a:t>
            </a:r>
            <a:r>
              <a:rPr lang="en-US" altLang="zh-CN" sz="2800" dirty="0" err="1"/>
              <a:t>ScaleRec</a:t>
            </a:r>
            <a:r>
              <a:rPr lang="zh-CN" altLang="en-US" sz="2800" dirty="0"/>
              <a:t>：解决方案</a:t>
            </a:r>
            <a:endParaRPr lang="en-US" sz="2800" dirty="0"/>
          </a:p>
        </p:txBody>
      </p:sp>
      <p:sp>
        <p:nvSpPr>
          <p:cNvPr id="3" name="Content Placeholder 2"/>
          <p:cNvSpPr>
            <a:spLocks noGrp="1"/>
          </p:cNvSpPr>
          <p:nvPr>
            <p:ph sz="quarter" idx="11"/>
          </p:nvPr>
        </p:nvSpPr>
        <p:spPr/>
        <p:txBody>
          <a:bodyPr>
            <a:normAutofit/>
          </a:bodyPr>
          <a:lstStyle/>
          <a:p>
            <a:r>
              <a:rPr lang="en-US" sz="2000" b="1" dirty="0"/>
              <a:t>候选列表扩展</a:t>
            </a:r>
            <a:r>
              <a:rPr lang="zh-CN" altLang="en-US" sz="2000" b="1" dirty="0"/>
              <a:t>（</a:t>
            </a:r>
            <a:r>
              <a:rPr lang="en-US" altLang="zh-CN" sz="2000" b="1" dirty="0"/>
              <a:t>Candidate List Expansion</a:t>
            </a:r>
            <a:r>
              <a:rPr lang="zh-CN" altLang="en-US" sz="2000" b="1" dirty="0"/>
              <a:t>）：</a:t>
            </a:r>
            <a:r>
              <a:rPr lang="en-US" sz="2000" dirty="0"/>
              <a:t>构建多样列表采样策略</a:t>
            </a:r>
            <a:r>
              <a:rPr lang="zh-CN" altLang="en-US" sz="2000" dirty="0"/>
              <a:t>，扩展候选列表集合</a:t>
            </a:r>
            <a:endParaRPr lang="en-US" altLang="zh-CN" sz="2000" dirty="0"/>
          </a:p>
          <a:p>
            <a:r>
              <a:rPr lang="zh-CN" altLang="en-US" sz="2000" b="1" dirty="0"/>
              <a:t>列表级效用评估（</a:t>
            </a:r>
            <a:r>
              <a:rPr lang="en-US" altLang="zh-CN" sz="2000" b="1" dirty="0"/>
              <a:t>List-wise Utility Evaluation</a:t>
            </a:r>
            <a:r>
              <a:rPr lang="zh-CN" altLang="en-US" sz="2000" b="1" dirty="0"/>
              <a:t>）：</a:t>
            </a:r>
            <a:r>
              <a:rPr lang="zh-CN" altLang="en-US" sz="2000" dirty="0"/>
              <a:t>利用用户历史列表级别行为训练列表级效用评估器，采用</a:t>
            </a:r>
            <a:r>
              <a:rPr lang="en-US" altLang="zh-CN" sz="2000" dirty="0"/>
              <a:t>best-of-N</a:t>
            </a:r>
            <a:r>
              <a:rPr lang="zh-CN" altLang="en-US" sz="2000" dirty="0"/>
              <a:t>的策略进行选择</a:t>
            </a:r>
            <a:endParaRPr lang="en-US" sz="2000" dirty="0"/>
          </a:p>
        </p:txBody>
      </p:sp>
      <p:pic>
        <p:nvPicPr>
          <p:cNvPr id="6" name="Picture 5"/>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3243876" y="2729018"/>
            <a:ext cx="5704248" cy="3802832"/>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r>
              <a:rPr lang="en-US" altLang="zh-CN" sz="2800" dirty="0"/>
              <a:t>【</a:t>
            </a:r>
            <a:r>
              <a:rPr lang="zh-CN" altLang="en-US" sz="2800" dirty="0"/>
              <a:t>课题二</a:t>
            </a:r>
            <a:r>
              <a:rPr lang="en-US" altLang="zh-CN" sz="2800" dirty="0"/>
              <a:t>】</a:t>
            </a:r>
            <a:r>
              <a:rPr lang="zh-CN" altLang="en-US" sz="2800" dirty="0"/>
              <a:t>基于点击模型的</a:t>
            </a:r>
            <a:r>
              <a:rPr lang="zh-CN" altLang="en-US" sz="2800" dirty="0"/>
              <a:t>推理时</a:t>
            </a:r>
            <a:r>
              <a:rPr lang="zh-CN" altLang="en-US" sz="2800" dirty="0"/>
              <a:t>扩展</a:t>
            </a:r>
            <a:r>
              <a:rPr lang="en-US" altLang="zh-CN" sz="2800" dirty="0" err="1"/>
              <a:t>ScaleRec</a:t>
            </a:r>
            <a:r>
              <a:rPr lang="zh-CN" altLang="en-US" sz="2800" dirty="0"/>
              <a:t>：实验结果</a:t>
            </a:r>
            <a:endParaRPr lang="en-US" sz="2800" dirty="0"/>
          </a:p>
        </p:txBody>
      </p:sp>
      <p:graphicFrame>
        <p:nvGraphicFramePr>
          <p:cNvPr id="6" name="表格 1"/>
          <p:cNvGraphicFramePr>
            <a:graphicFrameLocks noGrp="1"/>
          </p:cNvGraphicFramePr>
          <p:nvPr/>
        </p:nvGraphicFramePr>
        <p:xfrm>
          <a:off x="1082673" y="2262646"/>
          <a:ext cx="10026654" cy="2966720"/>
        </p:xfrm>
        <a:graphic>
          <a:graphicData uri="http://schemas.openxmlformats.org/drawingml/2006/table">
            <a:tbl>
              <a:tblPr firstRow="1" bandRow="1">
                <a:tableStyleId>{5C22544A-7EE6-4342-B048-85BDC9FD1C3A}</a:tableStyleId>
              </a:tblPr>
              <a:tblGrid>
                <a:gridCol w="3352800"/>
                <a:gridCol w="1112309"/>
                <a:gridCol w="1112309"/>
                <a:gridCol w="1112309"/>
                <a:gridCol w="1112309"/>
                <a:gridCol w="1112309"/>
                <a:gridCol w="1112309"/>
              </a:tblGrid>
              <a:tr h="370840">
                <a:tc>
                  <a:txBody>
                    <a:bodyPr/>
                    <a:lstStyle/>
                    <a:p>
                      <a:endParaRPr lang="zh-CN" altLang="en-US"/>
                    </a:p>
                  </a:txBody>
                  <a:tcPr/>
                </a:tc>
                <a:tc gridSpan="6">
                  <a:txBody>
                    <a:bodyPr/>
                    <a:lstStyle/>
                    <a:p>
                      <a:r>
                        <a:rPr lang="en-US" altLang="zh-CN" dirty="0"/>
                        <a:t>Amazon-Product-Review / Books</a:t>
                      </a:r>
                      <a:endParaRPr lang="zh-CN" altLang="en-US" dirty="0"/>
                    </a:p>
                  </a:txBody>
                  <a:tcPr/>
                </a:tc>
                <a:tc hMerge="1">
                  <a:tcPr/>
                </a:tc>
                <a:tc hMerge="1">
                  <a:tcPr/>
                </a:tc>
                <a:tc hMerge="1">
                  <a:tcPr/>
                </a:tc>
                <a:tc hMerge="1">
                  <a:tcPr/>
                </a:tc>
                <a:tc hMerge="1">
                  <a:tcPr/>
                </a:tc>
              </a:tr>
              <a:tr h="370840">
                <a:tc>
                  <a:txBody>
                    <a:bodyPr/>
                    <a:lstStyle/>
                    <a:p>
                      <a:endParaRPr lang="zh-CN" altLang="en-US"/>
                    </a:p>
                  </a:txBody>
                  <a:tcPr/>
                </a:tc>
                <a:tc gridSpan="3">
                  <a:txBody>
                    <a:bodyPr/>
                    <a:lstStyle/>
                    <a:p>
                      <a:r>
                        <a:rPr lang="en-US" altLang="zh-CN" dirty="0"/>
                        <a:t>@5</a:t>
                      </a:r>
                      <a:endParaRPr lang="zh-CN" altLang="en-US" dirty="0"/>
                    </a:p>
                  </a:txBody>
                  <a:tcPr/>
                </a:tc>
                <a:tc hMerge="1">
                  <a:tcPr/>
                </a:tc>
                <a:tc hMerge="1">
                  <a:tcPr/>
                </a:tc>
                <a:tc gridSpan="3">
                  <a:txBody>
                    <a:bodyPr/>
                    <a:lstStyle/>
                    <a:p>
                      <a:r>
                        <a:rPr lang="en-US" altLang="zh-CN" dirty="0"/>
                        <a:t>@10</a:t>
                      </a:r>
                      <a:endParaRPr lang="zh-CN" altLang="en-US" dirty="0"/>
                    </a:p>
                  </a:txBody>
                  <a:tcPr/>
                </a:tc>
                <a:tc hMerge="1">
                  <a:tcPr/>
                </a:tc>
                <a:tc hMerge="1">
                  <a:tcPr/>
                </a:tc>
              </a:tr>
              <a:tr h="370840">
                <a:tc>
                  <a:txBody>
                    <a:bodyPr/>
                    <a:lstStyle/>
                    <a:p>
                      <a:r>
                        <a:rPr lang="en-US" altLang="zh-CN" dirty="0"/>
                        <a:t>Model</a:t>
                      </a:r>
                      <a:endParaRPr lang="zh-CN" altLang="en-US" dirty="0"/>
                    </a:p>
                  </a:txBody>
                  <a:tcPr/>
                </a:tc>
                <a:tc>
                  <a:txBody>
                    <a:bodyPr/>
                    <a:lstStyle/>
                    <a:p>
                      <a:r>
                        <a:rPr lang="en-US" altLang="zh-CN" dirty="0"/>
                        <a:t>MAP</a:t>
                      </a:r>
                      <a:endParaRPr lang="zh-CN" altLang="en-US" dirty="0"/>
                    </a:p>
                  </a:txBody>
                  <a:tcPr/>
                </a:tc>
                <a:tc>
                  <a:txBody>
                    <a:bodyPr/>
                    <a:lstStyle/>
                    <a:p>
                      <a:r>
                        <a:rPr lang="en-US" altLang="zh-CN" dirty="0"/>
                        <a:t>NDCG</a:t>
                      </a:r>
                      <a:endParaRPr lang="zh-CN" altLang="en-US" dirty="0"/>
                    </a:p>
                  </a:txBody>
                  <a:tcPr/>
                </a:tc>
                <a:tc>
                  <a:txBody>
                    <a:bodyPr/>
                    <a:lstStyle/>
                    <a:p>
                      <a:r>
                        <a:rPr lang="en-US" altLang="zh-CN" dirty="0"/>
                        <a:t>CLICK</a:t>
                      </a:r>
                      <a:endParaRPr lang="zh-CN" altLang="en-US" dirty="0"/>
                    </a:p>
                  </a:txBody>
                  <a:tcPr/>
                </a:tc>
                <a:tc>
                  <a:txBody>
                    <a:bodyPr/>
                    <a:lstStyle/>
                    <a:p>
                      <a:r>
                        <a:rPr lang="en-US" altLang="zh-CN" dirty="0"/>
                        <a:t>MAP</a:t>
                      </a:r>
                      <a:endParaRPr lang="zh-CN" altLang="en-US" dirty="0"/>
                    </a:p>
                  </a:txBody>
                  <a:tcPr/>
                </a:tc>
                <a:tc>
                  <a:txBody>
                    <a:bodyPr/>
                    <a:lstStyle/>
                    <a:p>
                      <a:r>
                        <a:rPr lang="en-US" altLang="zh-CN" dirty="0"/>
                        <a:t>NDCG</a:t>
                      </a:r>
                      <a:endParaRPr lang="zh-CN" altLang="en-US" dirty="0"/>
                    </a:p>
                  </a:txBody>
                  <a:tcPr/>
                </a:tc>
                <a:tc>
                  <a:txBody>
                    <a:bodyPr/>
                    <a:lstStyle/>
                    <a:p>
                      <a:r>
                        <a:rPr lang="en-US" altLang="zh-CN" dirty="0"/>
                        <a:t>CLICK</a:t>
                      </a:r>
                      <a:endParaRPr lang="zh-CN" altLang="en-US" dirty="0"/>
                    </a:p>
                  </a:txBody>
                  <a:tcPr/>
                </a:tc>
              </a:tr>
              <a:tr h="370840">
                <a:tc>
                  <a:txBody>
                    <a:bodyPr/>
                    <a:lstStyle/>
                    <a:p>
                      <a:r>
                        <a:rPr lang="en-US" altLang="zh-CN" dirty="0"/>
                        <a:t>DLCM</a:t>
                      </a:r>
                      <a:endParaRPr lang="zh-CN" altLang="en-US" dirty="0"/>
                    </a:p>
                  </a:txBody>
                  <a:tcPr/>
                </a:tc>
                <a:tc>
                  <a:txBody>
                    <a:bodyPr/>
                    <a:lstStyle/>
                    <a:p>
                      <a:r>
                        <a:rPr lang="en-US" altLang="zh-CN" dirty="0"/>
                        <a:t>0.88491</a:t>
                      </a:r>
                      <a:endParaRPr lang="zh-CN" altLang="en-US" dirty="0"/>
                    </a:p>
                  </a:txBody>
                  <a:tcPr/>
                </a:tc>
                <a:tc>
                  <a:txBody>
                    <a:bodyPr/>
                    <a:lstStyle/>
                    <a:p>
                      <a:r>
                        <a:rPr lang="en-US" altLang="zh-CN" dirty="0"/>
                        <a:t>0.84164</a:t>
                      </a:r>
                      <a:endParaRPr lang="zh-CN" altLang="en-US" dirty="0"/>
                    </a:p>
                  </a:txBody>
                  <a:tcPr/>
                </a:tc>
                <a:tc>
                  <a:txBody>
                    <a:bodyPr/>
                    <a:lstStyle/>
                    <a:p>
                      <a:r>
                        <a:rPr lang="en-US" altLang="zh-CN" dirty="0"/>
                        <a:t>4.15110</a:t>
                      </a:r>
                      <a:endParaRPr lang="zh-CN" altLang="en-US" dirty="0"/>
                    </a:p>
                  </a:txBody>
                  <a:tcPr/>
                </a:tc>
                <a:tc>
                  <a:txBody>
                    <a:bodyPr/>
                    <a:lstStyle/>
                    <a:p>
                      <a:r>
                        <a:rPr lang="en-US" altLang="zh-CN" dirty="0"/>
                        <a:t>0.86910</a:t>
                      </a:r>
                      <a:endParaRPr lang="zh-CN" altLang="en-US" dirty="0"/>
                    </a:p>
                  </a:txBody>
                  <a:tcPr/>
                </a:tc>
                <a:tc>
                  <a:txBody>
                    <a:bodyPr/>
                    <a:lstStyle/>
                    <a:p>
                      <a:r>
                        <a:rPr lang="en-US" altLang="zh-CN" dirty="0"/>
                        <a:t>0.92344</a:t>
                      </a:r>
                      <a:endParaRPr lang="zh-CN" altLang="en-US" dirty="0"/>
                    </a:p>
                  </a:txBody>
                  <a:tcPr/>
                </a:tc>
                <a:tc>
                  <a:txBody>
                    <a:bodyPr/>
                    <a:lstStyle/>
                    <a:p>
                      <a:r>
                        <a:rPr lang="en-US" altLang="zh-CN" dirty="0"/>
                        <a:t>8.05183</a:t>
                      </a:r>
                      <a:endParaRPr lang="zh-CN" altLang="en-US" dirty="0"/>
                    </a:p>
                  </a:txBody>
                  <a:tcPr/>
                </a:tc>
              </a:tr>
              <a:tr h="370840">
                <a:tc>
                  <a:txBody>
                    <a:bodyPr/>
                    <a:lstStyle/>
                    <a:p>
                      <a:r>
                        <a:rPr lang="en-US" altLang="zh-CN" dirty="0"/>
                        <a:t>SAR</a:t>
                      </a:r>
                      <a:endParaRPr lang="zh-CN" altLang="en-US" dirty="0"/>
                    </a:p>
                  </a:txBody>
                  <a:tcPr/>
                </a:tc>
                <a:tc>
                  <a:txBody>
                    <a:bodyPr/>
                    <a:lstStyle/>
                    <a:p>
                      <a:r>
                        <a:rPr lang="en-US" altLang="zh-CN" dirty="0"/>
                        <a:t>0.89407</a:t>
                      </a:r>
                      <a:endParaRPr lang="zh-CN" altLang="en-US" dirty="0"/>
                    </a:p>
                  </a:txBody>
                  <a:tcPr/>
                </a:tc>
                <a:tc>
                  <a:txBody>
                    <a:bodyPr/>
                    <a:lstStyle/>
                    <a:p>
                      <a:r>
                        <a:rPr lang="en-US" altLang="zh-CN" dirty="0"/>
                        <a:t>0.85002</a:t>
                      </a:r>
                      <a:endParaRPr lang="zh-CN" altLang="en-US" dirty="0"/>
                    </a:p>
                  </a:txBody>
                  <a:tcPr/>
                </a:tc>
                <a:tc>
                  <a:txBody>
                    <a:bodyPr/>
                    <a:lstStyle/>
                    <a:p>
                      <a:r>
                        <a:rPr lang="en-US" altLang="zh-CN" dirty="0"/>
                        <a:t>4.17601</a:t>
                      </a:r>
                      <a:endParaRPr lang="zh-CN" altLang="en-US" dirty="0"/>
                    </a:p>
                  </a:txBody>
                  <a:tcPr/>
                </a:tc>
                <a:tc>
                  <a:txBody>
                    <a:bodyPr/>
                    <a:lstStyle/>
                    <a:p>
                      <a:r>
                        <a:rPr lang="en-US" altLang="zh-CN" dirty="0"/>
                        <a:t>0.87283</a:t>
                      </a:r>
                      <a:endParaRPr lang="zh-CN" altLang="en-US" dirty="0"/>
                    </a:p>
                  </a:txBody>
                  <a:tcPr/>
                </a:tc>
                <a:tc>
                  <a:txBody>
                    <a:bodyPr/>
                    <a:lstStyle/>
                    <a:p>
                      <a:r>
                        <a:rPr lang="en-US" altLang="zh-CN" dirty="0"/>
                        <a:t>0.92759</a:t>
                      </a:r>
                      <a:endParaRPr lang="zh-CN" altLang="en-US" dirty="0"/>
                    </a:p>
                  </a:txBody>
                  <a:tcPr/>
                </a:tc>
                <a:tc>
                  <a:txBody>
                    <a:bodyPr/>
                    <a:lstStyle/>
                    <a:p>
                      <a:r>
                        <a:rPr lang="en-US" altLang="zh-CN" dirty="0"/>
                        <a:t>8.05183</a:t>
                      </a:r>
                      <a:endParaRPr lang="zh-CN" altLang="en-US" dirty="0"/>
                    </a:p>
                  </a:txBody>
                  <a:tcPr/>
                </a:tc>
              </a:tr>
              <a:tr h="370840">
                <a:tc>
                  <a:txBody>
                    <a:bodyPr/>
                    <a:lstStyle/>
                    <a:p>
                      <a:r>
                        <a:rPr lang="en-US" altLang="zh-CN" dirty="0"/>
                        <a:t>PRM</a:t>
                      </a:r>
                      <a:endParaRPr lang="zh-CN" altLang="en-US" dirty="0"/>
                    </a:p>
                  </a:txBody>
                  <a:tcPr/>
                </a:tc>
                <a:tc>
                  <a:txBody>
                    <a:bodyPr/>
                    <a:lstStyle/>
                    <a:p>
                      <a:r>
                        <a:rPr lang="en-US" altLang="zh-CN" dirty="0"/>
                        <a:t>0.89068</a:t>
                      </a:r>
                      <a:endParaRPr lang="zh-CN" altLang="en-US" dirty="0"/>
                    </a:p>
                  </a:txBody>
                  <a:tcPr/>
                </a:tc>
                <a:tc>
                  <a:txBody>
                    <a:bodyPr/>
                    <a:lstStyle/>
                    <a:p>
                      <a:r>
                        <a:rPr lang="en-US" altLang="zh-CN" dirty="0"/>
                        <a:t>0.84557</a:t>
                      </a:r>
                      <a:endParaRPr lang="zh-CN" altLang="en-US" dirty="0"/>
                    </a:p>
                  </a:txBody>
                  <a:tcPr/>
                </a:tc>
                <a:tc>
                  <a:txBody>
                    <a:bodyPr/>
                    <a:lstStyle/>
                    <a:p>
                      <a:r>
                        <a:rPr lang="en-US" altLang="zh-CN" dirty="0"/>
                        <a:t>4.16245</a:t>
                      </a:r>
                      <a:endParaRPr lang="zh-CN" altLang="en-US" dirty="0"/>
                    </a:p>
                  </a:txBody>
                  <a:tcPr/>
                </a:tc>
                <a:tc>
                  <a:txBody>
                    <a:bodyPr/>
                    <a:lstStyle/>
                    <a:p>
                      <a:r>
                        <a:rPr lang="en-US" altLang="zh-CN" dirty="0"/>
                        <a:t>0.87015</a:t>
                      </a:r>
                      <a:endParaRPr lang="zh-CN" altLang="en-US" dirty="0"/>
                    </a:p>
                  </a:txBody>
                  <a:tcPr/>
                </a:tc>
                <a:tc>
                  <a:txBody>
                    <a:bodyPr/>
                    <a:lstStyle/>
                    <a:p>
                      <a:r>
                        <a:rPr lang="en-US" altLang="zh-CN" dirty="0"/>
                        <a:t>0.92524</a:t>
                      </a:r>
                      <a:endParaRPr lang="zh-CN" altLang="en-US" dirty="0"/>
                    </a:p>
                  </a:txBody>
                  <a:tcPr/>
                </a:tc>
                <a:tc>
                  <a:txBody>
                    <a:bodyPr/>
                    <a:lstStyle/>
                    <a:p>
                      <a:r>
                        <a:rPr lang="en-US" altLang="zh-CN" dirty="0"/>
                        <a:t>8.05183</a:t>
                      </a:r>
                      <a:endParaRPr lang="zh-CN" altLang="en-US" dirty="0"/>
                    </a:p>
                  </a:txBody>
                  <a:tcPr/>
                </a:tc>
              </a:tr>
              <a:tr h="370840">
                <a:tc>
                  <a:txBody>
                    <a:bodyPr/>
                    <a:lstStyle/>
                    <a:p>
                      <a:r>
                        <a:rPr lang="en-US" altLang="zh-CN" dirty="0" err="1"/>
                        <a:t>SetRank</a:t>
                      </a:r>
                      <a:endParaRPr lang="zh-CN" altLang="en-US" dirty="0"/>
                    </a:p>
                  </a:txBody>
                  <a:tcPr/>
                </a:tc>
                <a:tc>
                  <a:txBody>
                    <a:bodyPr/>
                    <a:lstStyle/>
                    <a:p>
                      <a:r>
                        <a:rPr lang="en-US" altLang="zh-CN" dirty="0"/>
                        <a:t>0.88378</a:t>
                      </a:r>
                      <a:endParaRPr lang="zh-CN" altLang="en-US" dirty="0"/>
                    </a:p>
                  </a:txBody>
                  <a:tcPr/>
                </a:tc>
                <a:tc>
                  <a:txBody>
                    <a:bodyPr/>
                    <a:lstStyle/>
                    <a:p>
                      <a:r>
                        <a:rPr lang="en-US" altLang="zh-CN" dirty="0"/>
                        <a:t>0.84180</a:t>
                      </a:r>
                      <a:endParaRPr lang="zh-CN" altLang="en-US" dirty="0"/>
                    </a:p>
                  </a:txBody>
                  <a:tcPr/>
                </a:tc>
                <a:tc>
                  <a:txBody>
                    <a:bodyPr/>
                    <a:lstStyle/>
                    <a:p>
                      <a:r>
                        <a:rPr lang="en-US" altLang="zh-CN" dirty="0"/>
                        <a:t>4.15751</a:t>
                      </a:r>
                      <a:endParaRPr lang="zh-CN" altLang="en-US" dirty="0"/>
                    </a:p>
                  </a:txBody>
                  <a:tcPr/>
                </a:tc>
                <a:tc>
                  <a:txBody>
                    <a:bodyPr/>
                    <a:lstStyle/>
                    <a:p>
                      <a:r>
                        <a:rPr lang="en-US" altLang="zh-CN" dirty="0"/>
                        <a:t>0.86923</a:t>
                      </a:r>
                      <a:endParaRPr lang="zh-CN" altLang="en-US" dirty="0"/>
                    </a:p>
                  </a:txBody>
                  <a:tcPr/>
                </a:tc>
                <a:tc>
                  <a:txBody>
                    <a:bodyPr/>
                    <a:lstStyle/>
                    <a:p>
                      <a:r>
                        <a:rPr lang="en-US" altLang="zh-CN" dirty="0"/>
                        <a:t>0.92282</a:t>
                      </a:r>
                      <a:endParaRPr lang="zh-CN" altLang="en-US" dirty="0"/>
                    </a:p>
                  </a:txBody>
                  <a:tcPr/>
                </a:tc>
                <a:tc>
                  <a:txBody>
                    <a:bodyPr/>
                    <a:lstStyle/>
                    <a:p>
                      <a:r>
                        <a:rPr lang="en-US" altLang="zh-CN" dirty="0"/>
                        <a:t>8.05183</a:t>
                      </a:r>
                      <a:endParaRPr lang="zh-CN" altLang="en-US" dirty="0"/>
                    </a:p>
                  </a:txBody>
                  <a:tcPr/>
                </a:tc>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defRPr/>
                      </a:pPr>
                      <a:r>
                        <a:rPr lang="en-US" altLang="zh-CN" b="1" dirty="0" err="1"/>
                        <a:t>ScaleRec</a:t>
                      </a:r>
                      <a:endParaRPr lang="zh-CN" altLang="en-US" b="1" dirty="0"/>
                    </a:p>
                  </a:txBody>
                  <a:tcPr/>
                </a:tc>
                <a:tc>
                  <a:txBody>
                    <a:bodyPr/>
                    <a:lstStyle/>
                    <a:p>
                      <a:r>
                        <a:rPr lang="en-US" altLang="zh-CN" b="1" dirty="0"/>
                        <a:t>0.89416</a:t>
                      </a:r>
                      <a:endParaRPr lang="zh-CN" altLang="en-US" b="1" dirty="0"/>
                    </a:p>
                  </a:txBody>
                  <a:tcPr/>
                </a:tc>
                <a:tc>
                  <a:txBody>
                    <a:bodyPr/>
                    <a:lstStyle/>
                    <a:p>
                      <a:r>
                        <a:rPr lang="en-US" altLang="zh-CN" b="1" dirty="0"/>
                        <a:t>0.85014</a:t>
                      </a:r>
                      <a:endParaRPr lang="zh-CN" altLang="en-US" b="1" dirty="0"/>
                    </a:p>
                  </a:txBody>
                  <a:tcPr/>
                </a:tc>
                <a:tc>
                  <a:txBody>
                    <a:bodyPr/>
                    <a:lstStyle/>
                    <a:p>
                      <a:r>
                        <a:rPr lang="en-US" altLang="zh-CN" b="1" dirty="0"/>
                        <a:t>4.17613</a:t>
                      </a:r>
                      <a:endParaRPr lang="zh-CN" altLang="en-US" b="1" dirty="0"/>
                    </a:p>
                  </a:txBody>
                  <a:tcPr/>
                </a:tc>
                <a:tc>
                  <a:txBody>
                    <a:bodyPr/>
                    <a:lstStyle/>
                    <a:p>
                      <a:r>
                        <a:rPr lang="en-US" altLang="zh-CN" b="1" dirty="0"/>
                        <a:t>0.87296</a:t>
                      </a:r>
                      <a:endParaRPr lang="zh-CN" altLang="en-US" b="1" dirty="0"/>
                    </a:p>
                  </a:txBody>
                  <a:tcPr/>
                </a:tc>
                <a:tc>
                  <a:txBody>
                    <a:bodyPr/>
                    <a:lstStyle/>
                    <a:p>
                      <a:r>
                        <a:rPr lang="en-US" altLang="zh-CN" b="1" dirty="0"/>
                        <a:t>0.92766</a:t>
                      </a:r>
                      <a:endParaRPr lang="zh-CN" altLang="en-US" b="1" dirty="0"/>
                    </a:p>
                  </a:txBody>
                  <a:tcPr/>
                </a:tc>
                <a:tc>
                  <a:txBody>
                    <a:bodyPr/>
                    <a:lstStyle/>
                    <a:p>
                      <a:r>
                        <a:rPr lang="en-US" altLang="zh-CN" b="1" dirty="0"/>
                        <a:t>8.05183</a:t>
                      </a:r>
                      <a:endParaRPr lang="zh-CN" altLang="en-US" b="1" dirty="0"/>
                    </a:p>
                  </a:txBody>
                  <a:tcPr/>
                </a:tc>
              </a:tr>
            </a:tbl>
          </a:graphicData>
        </a:graphic>
      </p:graphicFrame>
      <p:sp>
        <p:nvSpPr>
          <p:cNvPr id="7" name="Content Placeholder 2"/>
          <p:cNvSpPr>
            <a:spLocks noGrp="1"/>
          </p:cNvSpPr>
          <p:nvPr>
            <p:ph sz="quarter" idx="11"/>
          </p:nvPr>
        </p:nvSpPr>
        <p:spPr>
          <a:xfrm>
            <a:off x="639763" y="1420813"/>
            <a:ext cx="10964862" cy="4656137"/>
          </a:xfrm>
        </p:spPr>
        <p:txBody>
          <a:bodyPr>
            <a:normAutofit/>
          </a:bodyPr>
          <a:lstStyle/>
          <a:p>
            <a:r>
              <a:rPr lang="en-US" sz="2000" dirty="0"/>
              <a:t>ScaleRec在Amazon数据集上取得最优效果</a:t>
            </a:r>
            <a:endParaRPr lang="en-US" sz="2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11"/>
          <p:cNvSpPr txBox="1"/>
          <p:nvPr/>
        </p:nvSpPr>
        <p:spPr>
          <a:xfrm>
            <a:off x="5943600" y="1908279"/>
            <a:ext cx="5467350" cy="1638300"/>
          </a:xfrm>
          <a:prstGeom prst="rect">
            <a:avLst/>
          </a:prstGeom>
        </p:spPr>
        <p:txBody>
          <a:bodyPr vert="horz" lIns="144000" tIns="144000" rIns="144000" bIns="144000" rtlCol="0" anchor="ctr" anchorCtr="0">
            <a:normAutofit/>
          </a:bodyPr>
          <a:lstStyle>
            <a:lvl1pPr marL="0" indent="0" algn="ctr" defTabSz="914400" rtl="0" eaLnBrk="1" latinLnBrk="0" hangingPunct="1">
              <a:lnSpc>
                <a:spcPct val="100000"/>
              </a:lnSpc>
              <a:spcBef>
                <a:spcPts val="1000"/>
              </a:spcBef>
              <a:buFont typeface="Arial" panose="020B0604020202090204" pitchFamily="34" charset="0"/>
              <a:buNone/>
              <a:defRPr sz="6000" b="1" kern="1200">
                <a:solidFill>
                  <a:schemeClr val="bg1"/>
                </a:solidFill>
                <a:effectLst>
                  <a:outerShdw blurRad="38100" dist="38100" dir="2700000" algn="tl">
                    <a:srgbClr val="000000">
                      <a:alpha val="43137"/>
                    </a:srgbClr>
                  </a:outerShdw>
                </a:effectLst>
                <a:latin typeface="+mj-ea"/>
                <a:ea typeface="+mj-ea"/>
                <a:cs typeface="+mn-cs"/>
              </a:defRPr>
            </a:lvl1pPr>
            <a:lvl2pPr marL="685800" indent="-228600" algn="l" defTabSz="914400" rtl="0" eaLnBrk="1" latinLnBrk="0" hangingPunct="1">
              <a:lnSpc>
                <a:spcPct val="90000"/>
              </a:lnSpc>
              <a:spcBef>
                <a:spcPts val="500"/>
              </a:spcBef>
              <a:buFont typeface="Arial" panose="020B060402020209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9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a:lstStyle>
          <a:p>
            <a:r>
              <a:rPr lang="zh-CN" altLang="en-US" dirty="0"/>
              <a:t>下阶段计划</a:t>
            </a:r>
            <a:endParaRPr lang="zh-CN" alt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r>
              <a:rPr lang="en-US" dirty="0"/>
              <a:t>关键时间节点</a:t>
            </a:r>
            <a:endParaRPr lang="en-US" dirty="0"/>
          </a:p>
        </p:txBody>
      </p:sp>
      <p:graphicFrame>
        <p:nvGraphicFramePr>
          <p:cNvPr id="4" name="Content Placeholder 3"/>
          <p:cNvGraphicFramePr>
            <a:graphicFrameLocks noGrp="1"/>
          </p:cNvGraphicFramePr>
          <p:nvPr>
            <p:ph sz="quarter" idx="11"/>
          </p:nvPr>
        </p:nvGraphicFramePr>
        <p:xfrm>
          <a:off x="2104616" y="1469771"/>
          <a:ext cx="7982767" cy="3428809"/>
        </p:xfrm>
        <a:graphic>
          <a:graphicData uri="http://schemas.openxmlformats.org/drawingml/2006/table">
            <a:tbl>
              <a:tblPr firstRow="1" firstCol="1" bandRow="1">
                <a:tableStyleId>{5C22544A-7EE6-4342-B048-85BDC9FD1C3A}</a:tableStyleId>
              </a:tblPr>
              <a:tblGrid>
                <a:gridCol w="2222929"/>
                <a:gridCol w="5759838"/>
              </a:tblGrid>
              <a:tr h="302542">
                <a:tc>
                  <a:txBody>
                    <a:bodyPr/>
                    <a:lstStyle/>
                    <a:p>
                      <a:pPr algn="l">
                        <a:spcAft>
                          <a:spcPts val="360"/>
                        </a:spcAft>
                      </a:pPr>
                      <a:r>
                        <a:rPr lang="zh-CN" sz="1000" kern="0">
                          <a:effectLst/>
                        </a:rPr>
                        <a:t>时间节点</a:t>
                      </a:r>
                      <a:endParaRPr lang="en-US" sz="1200" kern="100">
                        <a:effectLst/>
                        <a:latin typeface="Calibri" charset="0"/>
                        <a:ea typeface="DengXian" panose="02010600030101010101" pitchFamily="2" charset="-122"/>
                        <a:cs typeface="Times New Roman" panose="02020503050405090304" pitchFamily="18" charset="0"/>
                      </a:endParaRPr>
                    </a:p>
                  </a:txBody>
                  <a:tcPr marL="68580" marR="68580" marT="0" marB="0" anchor="ctr"/>
                </a:tc>
                <a:tc>
                  <a:txBody>
                    <a:bodyPr/>
                    <a:lstStyle/>
                    <a:p>
                      <a:pPr algn="l">
                        <a:spcAft>
                          <a:spcPts val="360"/>
                        </a:spcAft>
                      </a:pPr>
                      <a:r>
                        <a:rPr lang="zh-CN" sz="1000" kern="0">
                          <a:effectLst/>
                        </a:rPr>
                        <a:t>研发内容</a:t>
                      </a:r>
                      <a:endParaRPr lang="en-US" sz="1200" kern="100">
                        <a:effectLst/>
                        <a:latin typeface="Calibri" charset="0"/>
                        <a:ea typeface="DengXian" panose="02010600030101010101" pitchFamily="2" charset="-122"/>
                        <a:cs typeface="Times New Roman" panose="02020503050405090304" pitchFamily="18" charset="0"/>
                      </a:endParaRPr>
                    </a:p>
                  </a:txBody>
                  <a:tcPr marL="68580" marR="68580" marT="0" marB="0" anchor="ctr"/>
                </a:tc>
              </a:tr>
              <a:tr h="705931">
                <a:tc>
                  <a:txBody>
                    <a:bodyPr/>
                    <a:lstStyle/>
                    <a:p>
                      <a:pPr algn="l">
                        <a:spcAft>
                          <a:spcPts val="360"/>
                        </a:spcAft>
                      </a:pPr>
                      <a:r>
                        <a:rPr lang="en-US" sz="1000" kern="0" dirty="0">
                          <a:effectLst/>
                        </a:rPr>
                        <a:t>202</a:t>
                      </a:r>
                      <a:r>
                        <a:rPr lang="en-US" altLang="zh-CN" sz="1000" kern="0" dirty="0">
                          <a:effectLst/>
                        </a:rPr>
                        <a:t>6</a:t>
                      </a:r>
                      <a:r>
                        <a:rPr lang="en-US" sz="1000" kern="0" dirty="0">
                          <a:effectLst/>
                        </a:rPr>
                        <a:t>/</a:t>
                      </a:r>
                      <a:r>
                        <a:rPr lang="en-US" altLang="zh-CN" sz="1000" kern="0" dirty="0">
                          <a:effectLst/>
                        </a:rPr>
                        <a:t>2</a:t>
                      </a:r>
                      <a:r>
                        <a:rPr lang="en-US" sz="1000" kern="0" dirty="0">
                          <a:effectLst/>
                        </a:rPr>
                        <a:t>/15</a:t>
                      </a:r>
                      <a:endParaRPr lang="en-US" sz="1200" kern="100" dirty="0">
                        <a:effectLst/>
                        <a:latin typeface="Calibri" charset="0"/>
                        <a:ea typeface="DengXian" panose="02010600030101010101" pitchFamily="2" charset="-122"/>
                        <a:cs typeface="Times New Roman" panose="02020503050405090304" pitchFamily="18" charset="0"/>
                      </a:endParaRPr>
                    </a:p>
                  </a:txBody>
                  <a:tcPr marL="68580" marR="68580" marT="0" marB="0" anchor="ctr"/>
                </a:tc>
                <a:tc>
                  <a:txBody>
                    <a:bodyPr/>
                    <a:lstStyle/>
                    <a:p>
                      <a:pPr algn="l">
                        <a:spcAft>
                          <a:spcPts val="360"/>
                        </a:spcAft>
                      </a:pPr>
                      <a:r>
                        <a:rPr lang="zh-CN" sz="1000" kern="0" dirty="0">
                          <a:effectLst/>
                        </a:rPr>
                        <a:t>基于点击模型的</a:t>
                      </a:r>
                      <a:r>
                        <a:rPr lang="zh-CN" altLang="en-US" sz="1000" kern="0" dirty="0">
                          <a:effectLst/>
                        </a:rPr>
                        <a:t>推理时扩展</a:t>
                      </a:r>
                      <a:r>
                        <a:rPr lang="en-US" altLang="zh-CN" sz="1000" kern="0" dirty="0" err="1">
                          <a:effectLst/>
                        </a:rPr>
                        <a:t>ScaleRec</a:t>
                      </a:r>
                      <a:r>
                        <a:rPr lang="zh-CN" sz="1000" kern="0" dirty="0">
                          <a:effectLst/>
                        </a:rPr>
                        <a:t>投稿</a:t>
                      </a:r>
                      <a:r>
                        <a:rPr lang="en-US" sz="1000" kern="0" dirty="0">
                          <a:effectLst/>
                        </a:rPr>
                        <a:t>FCS</a:t>
                      </a:r>
                      <a:r>
                        <a:rPr lang="zh-CN" sz="1000" kern="0" dirty="0">
                          <a:effectLst/>
                        </a:rPr>
                        <a:t>（</a:t>
                      </a:r>
                      <a:r>
                        <a:rPr lang="en-US" sz="1000" kern="0" dirty="0">
                          <a:effectLst/>
                        </a:rPr>
                        <a:t>CCF-B</a:t>
                      </a:r>
                      <a:r>
                        <a:rPr lang="zh-CN" sz="1000" kern="0" dirty="0">
                          <a:effectLst/>
                        </a:rPr>
                        <a:t>）</a:t>
                      </a:r>
                      <a:endParaRPr lang="en-US" sz="1200" kern="100" dirty="0">
                        <a:effectLst/>
                      </a:endParaRPr>
                    </a:p>
                    <a:p>
                      <a:pPr algn="l">
                        <a:spcAft>
                          <a:spcPts val="360"/>
                        </a:spcAft>
                      </a:pPr>
                      <a:r>
                        <a:rPr lang="en-US" sz="1000" kern="0" dirty="0">
                          <a:effectLst/>
                        </a:rPr>
                        <a:t> </a:t>
                      </a:r>
                      <a:endParaRPr lang="en-US" sz="1200" kern="100" dirty="0">
                        <a:effectLst/>
                        <a:latin typeface="Calibri" charset="0"/>
                        <a:ea typeface="DengXian" panose="02010600030101010101" pitchFamily="2" charset="-122"/>
                        <a:cs typeface="Times New Roman" panose="02020503050405090304" pitchFamily="18" charset="0"/>
                      </a:endParaRPr>
                    </a:p>
                  </a:txBody>
                  <a:tcPr marL="68580" marR="68580" marT="0" marB="0" anchor="ctr"/>
                </a:tc>
              </a:tr>
              <a:tr h="907626">
                <a:tc>
                  <a:txBody>
                    <a:bodyPr/>
                    <a:lstStyle/>
                    <a:p>
                      <a:pPr algn="l">
                        <a:spcAft>
                          <a:spcPts val="360"/>
                        </a:spcAft>
                      </a:pPr>
                      <a:r>
                        <a:rPr lang="en-US" sz="1000" kern="0" dirty="0">
                          <a:effectLst/>
                        </a:rPr>
                        <a:t>2026/0</a:t>
                      </a:r>
                      <a:r>
                        <a:rPr lang="en-US" altLang="zh-CN" sz="1000" kern="0" dirty="0">
                          <a:effectLst/>
                        </a:rPr>
                        <a:t>2</a:t>
                      </a:r>
                      <a:r>
                        <a:rPr lang="en-US" sz="1000" kern="0" dirty="0">
                          <a:effectLst/>
                        </a:rPr>
                        <a:t>/</a:t>
                      </a:r>
                      <a:r>
                        <a:rPr lang="en-US" altLang="zh-CN" sz="1000" kern="0" dirty="0">
                          <a:effectLst/>
                        </a:rPr>
                        <a:t>28</a:t>
                      </a:r>
                      <a:endParaRPr lang="en-US" sz="1200" kern="100" dirty="0">
                        <a:effectLst/>
                        <a:latin typeface="Calibri" charset="0"/>
                        <a:ea typeface="DengXian" panose="02010600030101010101" pitchFamily="2" charset="-122"/>
                        <a:cs typeface="Times New Roman" panose="02020503050405090304" pitchFamily="18" charset="0"/>
                      </a:endParaRPr>
                    </a:p>
                  </a:txBody>
                  <a:tcPr marL="68580" marR="68580" marT="0" marB="0" anchor="ctr"/>
                </a:tc>
                <a:tc>
                  <a:txBody>
                    <a:bodyPr/>
                    <a:lstStyle/>
                    <a:p>
                      <a:pPr algn="l">
                        <a:spcAft>
                          <a:spcPts val="360"/>
                        </a:spcAft>
                      </a:pPr>
                      <a:r>
                        <a:rPr lang="zh-CN" altLang="en-US" sz="1000" dirty="0"/>
                        <a:t>在公开数据集中实现所有关键创新点，并对其功能和效果进行验证，在学术公开测评集上相关指标（</a:t>
                      </a:r>
                      <a:r>
                        <a:rPr lang="en-US" altLang="zh-CN" sz="1000" dirty="0"/>
                        <a:t>NDCG,</a:t>
                      </a:r>
                      <a:r>
                        <a:rPr lang="zh-CN" altLang="en-US" sz="1000" dirty="0"/>
                        <a:t> </a:t>
                      </a:r>
                      <a:r>
                        <a:rPr lang="en-US" altLang="zh-CN" sz="1000" dirty="0"/>
                        <a:t>Recall</a:t>
                      </a:r>
                      <a:r>
                        <a:rPr lang="zh-CN" altLang="en-US" sz="1000" dirty="0"/>
                        <a:t>）达到</a:t>
                      </a:r>
                      <a:r>
                        <a:rPr lang="en-US" altLang="zh-CN" sz="1000" dirty="0"/>
                        <a:t>SOTA</a:t>
                      </a:r>
                      <a:endParaRPr lang="en-US" sz="1200" kern="100" dirty="0">
                        <a:effectLst/>
                        <a:latin typeface="Calibri" charset="0"/>
                        <a:ea typeface="DengXian" panose="02010600030101010101" pitchFamily="2" charset="-122"/>
                        <a:cs typeface="Times New Roman" panose="02020503050405090304" pitchFamily="18" charset="0"/>
                      </a:endParaRPr>
                    </a:p>
                  </a:txBody>
                  <a:tcPr marL="68580" marR="68580" marT="0" marB="0" anchor="ctr"/>
                </a:tc>
              </a:tr>
              <a:tr h="302542">
                <a:tc>
                  <a:txBody>
                    <a:bodyPr/>
                    <a:lstStyle/>
                    <a:p>
                      <a:pPr algn="l">
                        <a:spcAft>
                          <a:spcPts val="360"/>
                        </a:spcAft>
                      </a:pPr>
                      <a:r>
                        <a:rPr lang="en-US" sz="1000" kern="0" dirty="0">
                          <a:effectLst/>
                        </a:rPr>
                        <a:t>2026/0</a:t>
                      </a:r>
                      <a:r>
                        <a:rPr lang="en-US" altLang="zh-CN" sz="1000" kern="0" dirty="0">
                          <a:effectLst/>
                        </a:rPr>
                        <a:t>3</a:t>
                      </a:r>
                      <a:r>
                        <a:rPr lang="en-US" sz="1000" kern="0" dirty="0">
                          <a:effectLst/>
                        </a:rPr>
                        <a:t>/</a:t>
                      </a:r>
                      <a:r>
                        <a:rPr lang="en-US" altLang="zh-CN" sz="1000" kern="0" dirty="0">
                          <a:effectLst/>
                        </a:rPr>
                        <a:t>31</a:t>
                      </a:r>
                      <a:endParaRPr lang="en-US" sz="1200" kern="100" dirty="0">
                        <a:effectLst/>
                        <a:latin typeface="Calibri" charset="0"/>
                        <a:ea typeface="DengXian" panose="02010600030101010101" pitchFamily="2" charset="-122"/>
                        <a:cs typeface="Times New Roman" panose="02020503050405090304" pitchFamily="18" charset="0"/>
                      </a:endParaRPr>
                    </a:p>
                  </a:txBody>
                  <a:tcPr marL="68580" marR="68580" marT="0" marB="0" anchor="ctr"/>
                </a:tc>
                <a:tc>
                  <a:txBody>
                    <a:bodyPr/>
                    <a:lstStyle/>
                    <a:p>
                      <a:pPr algn="l">
                        <a:spcAft>
                          <a:spcPts val="360"/>
                        </a:spcAft>
                      </a:pPr>
                      <a:r>
                        <a:rPr lang="zh-CN" altLang="en-US" sz="1000" dirty="0"/>
                        <a:t>在美团的公司可用数据集中完成整体方案的验证，在推荐场景下取得置信核心指标提升</a:t>
                      </a:r>
                      <a:endParaRPr lang="en-US" sz="1200" kern="100" dirty="0">
                        <a:effectLst/>
                        <a:latin typeface="Calibri" charset="0"/>
                        <a:ea typeface="DengXian" panose="02010600030101010101" pitchFamily="2" charset="-122"/>
                        <a:cs typeface="Times New Roman" panose="02020503050405090304" pitchFamily="18" charset="0"/>
                      </a:endParaRPr>
                    </a:p>
                  </a:txBody>
                  <a:tcPr marL="68580" marR="68580" marT="0" marB="0" anchor="ctr"/>
                </a:tc>
              </a:tr>
              <a:tr h="605084">
                <a:tc>
                  <a:txBody>
                    <a:bodyPr/>
                    <a:lstStyle/>
                    <a:p>
                      <a:pPr algn="l">
                        <a:spcAft>
                          <a:spcPts val="360"/>
                        </a:spcAft>
                      </a:pPr>
                      <a:r>
                        <a:rPr lang="en-US" sz="1000" kern="0" dirty="0">
                          <a:effectLst/>
                        </a:rPr>
                        <a:t>2026/0</a:t>
                      </a:r>
                      <a:r>
                        <a:rPr lang="en-US" altLang="zh-CN" sz="1000" kern="0" dirty="0">
                          <a:effectLst/>
                        </a:rPr>
                        <a:t>4</a:t>
                      </a:r>
                      <a:r>
                        <a:rPr lang="en-US" sz="1000" kern="0" dirty="0">
                          <a:effectLst/>
                        </a:rPr>
                        <a:t>/</a:t>
                      </a:r>
                      <a:r>
                        <a:rPr lang="en-US" altLang="zh-CN" sz="1000" kern="0" dirty="0">
                          <a:effectLst/>
                        </a:rPr>
                        <a:t>30</a:t>
                      </a:r>
                      <a:endParaRPr lang="en-US" sz="1200" kern="100" dirty="0">
                        <a:effectLst/>
                        <a:latin typeface="Calibri" charset="0"/>
                        <a:ea typeface="DengXian" panose="02010600030101010101" pitchFamily="2" charset="-122"/>
                        <a:cs typeface="Times New Roman" panose="02020503050405090304" pitchFamily="18" charset="0"/>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360"/>
                        </a:spcAft>
                        <a:buClrTx/>
                        <a:buSzTx/>
                        <a:buFontTx/>
                        <a:buNone/>
                        <a:defRPr/>
                      </a:pPr>
                      <a:r>
                        <a:rPr lang="zh-CN" altLang="en-US" sz="1000" dirty="0"/>
                        <a:t>经过多次迭代，基本完成论文的撰写，完成论文投稿，预期投稿推荐领域顶会</a:t>
                      </a:r>
                      <a:r>
                        <a:rPr lang="en-US" altLang="zh-CN" sz="1000" dirty="0"/>
                        <a:t>CIKM</a:t>
                      </a:r>
                      <a:r>
                        <a:rPr lang="zh-CN" altLang="en-US" sz="1000" dirty="0"/>
                        <a:t>（</a:t>
                      </a:r>
                      <a:r>
                        <a:rPr lang="en-US" altLang="zh-CN" sz="1000" dirty="0"/>
                        <a:t>CCF-B</a:t>
                      </a:r>
                      <a:r>
                        <a:rPr lang="zh-CN" altLang="en-US" sz="1000" dirty="0"/>
                        <a:t>）。并将所得成果，技术方案以及可执行代码进行交付和开源等。</a:t>
                      </a:r>
                      <a:endParaRPr lang="zh-CN" altLang="en-US" sz="1000" dirty="0"/>
                    </a:p>
                  </a:txBody>
                  <a:tcPr marL="68580" marR="68580" marT="0" marB="0" anchor="ctr"/>
                </a:tc>
              </a:tr>
              <a:tr h="605084">
                <a:tc>
                  <a:txBody>
                    <a:bodyPr/>
                    <a:lstStyle/>
                    <a:p>
                      <a:pPr algn="l">
                        <a:spcAft>
                          <a:spcPts val="360"/>
                        </a:spcAft>
                      </a:pPr>
                      <a:r>
                        <a:rPr lang="en-US" sz="1000" kern="0">
                          <a:effectLst/>
                        </a:rPr>
                        <a:t>2026/06/01</a:t>
                      </a:r>
                      <a:endParaRPr lang="en-US" sz="1200" kern="100">
                        <a:effectLst/>
                        <a:latin typeface="Calibri" charset="0"/>
                        <a:ea typeface="DengXian" panose="02010600030101010101" pitchFamily="2" charset="-122"/>
                        <a:cs typeface="Times New Roman" panose="02020503050405090304" pitchFamily="18" charset="0"/>
                      </a:endParaRPr>
                    </a:p>
                  </a:txBody>
                  <a:tcPr marL="68580" marR="68580" marT="0" marB="0" anchor="ctr"/>
                </a:tc>
                <a:tc>
                  <a:txBody>
                    <a:bodyPr/>
                    <a:lstStyle/>
                    <a:p>
                      <a:pPr algn="l">
                        <a:spcAft>
                          <a:spcPts val="360"/>
                        </a:spcAft>
                      </a:pPr>
                      <a:r>
                        <a:rPr lang="zh-CN" sz="1000" kern="0" dirty="0">
                          <a:effectLst/>
                        </a:rPr>
                        <a:t>配合线上</a:t>
                      </a:r>
                      <a:r>
                        <a:rPr lang="en-US" sz="1000" kern="0" dirty="0">
                          <a:effectLst/>
                        </a:rPr>
                        <a:t>AB</a:t>
                      </a:r>
                      <a:r>
                        <a:rPr lang="zh-CN" sz="1000" kern="0" dirty="0">
                          <a:effectLst/>
                        </a:rPr>
                        <a:t>，搜索、推荐场景取得置信核心指标提升，总结并完成结项报告</a:t>
                      </a:r>
                      <a:endParaRPr lang="en-US" sz="1200" kern="100" dirty="0">
                        <a:effectLst/>
                        <a:latin typeface="Calibri" charset="0"/>
                        <a:ea typeface="DengXian" panose="02010600030101010101" pitchFamily="2" charset="-122"/>
                        <a:cs typeface="Times New Roman" panose="02020503050405090304" pitchFamily="18" charset="0"/>
                      </a:endParaRPr>
                    </a:p>
                  </a:txBody>
                  <a:tcPr marL="68580" marR="68580" marT="0" marB="0" anchor="ct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11"/>
          <p:cNvSpPr txBox="1"/>
          <p:nvPr/>
        </p:nvSpPr>
        <p:spPr>
          <a:xfrm>
            <a:off x="0" y="3036039"/>
            <a:ext cx="12192000" cy="753641"/>
          </a:xfrm>
          <a:prstGeom prst="rect">
            <a:avLst/>
          </a:prstGeom>
          <a:effectLst>
            <a:reflection blurRad="6350" stA="50000" endA="300" endPos="55000" dir="5400000" sy="-100000" algn="bl" rotWithShape="0"/>
          </a:effectLst>
        </p:spPr>
        <p:txBody>
          <a:bodyPr vert="horz" lIns="144000" tIns="144000" rIns="144000" bIns="144000" rtlCol="0" anchor="ctr" anchorCtr="0">
            <a:noAutofit/>
          </a:bodyPr>
          <a:lstStyle>
            <a:lvl1pPr marL="0" indent="0" algn="ctr" defTabSz="914400" rtl="0" eaLnBrk="1" latinLnBrk="0" hangingPunct="1">
              <a:lnSpc>
                <a:spcPct val="100000"/>
              </a:lnSpc>
              <a:spcBef>
                <a:spcPts val="1000"/>
              </a:spcBef>
              <a:buFont typeface="Arial" panose="020B0604020202090204" pitchFamily="34" charset="0"/>
              <a:buNone/>
              <a:defRPr sz="6000" b="1" kern="1200">
                <a:solidFill>
                  <a:schemeClr val="bg1"/>
                </a:solidFill>
                <a:effectLst>
                  <a:outerShdw blurRad="38100" dist="38100" dir="2700000" algn="tl">
                    <a:srgbClr val="000000">
                      <a:alpha val="43137"/>
                    </a:srgbClr>
                  </a:outerShdw>
                </a:effectLst>
                <a:latin typeface="+mj-ea"/>
                <a:ea typeface="+mj-ea"/>
                <a:cs typeface="+mn-cs"/>
              </a:defRPr>
            </a:lvl1pPr>
            <a:lvl2pPr marL="685800" indent="-228600" algn="l" defTabSz="914400" rtl="0" eaLnBrk="1" latinLnBrk="0" hangingPunct="1">
              <a:lnSpc>
                <a:spcPct val="90000"/>
              </a:lnSpc>
              <a:spcBef>
                <a:spcPts val="500"/>
              </a:spcBef>
              <a:buFont typeface="Arial" panose="020B060402020209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9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a:lstStyle>
          <a:p>
            <a:r>
              <a:rPr lang="en-US" altLang="zh-CN" sz="6600" spc="-150" dirty="0"/>
              <a:t>THANKS FOR WATCHING</a:t>
            </a:r>
            <a:endParaRPr lang="zh-CN" altLang="en-US" sz="6600" spc="-150" dirty="0"/>
          </a:p>
        </p:txBody>
      </p:sp>
    </p:spTree>
  </p:cSld>
  <p:clrMapOvr>
    <a:masterClrMapping/>
  </p:clrMapOvr>
</p:sld>
</file>

<file path=ppt/tags/tag1.xml><?xml version="1.0" encoding="utf-8"?>
<p:tagLst xmlns:p="http://schemas.openxmlformats.org/presentationml/2006/main">
  <p:tag name="TABLE_ENDDRAG_ORIGIN_RECT" val="916*478"/>
  <p:tag name="TABLE_ENDDRAG_RECT" val="22*77*916*478"/>
</p:tagLst>
</file>

<file path=ppt/theme/theme1.xml><?xml version="1.0" encoding="utf-8"?>
<a:theme xmlns:a="http://schemas.openxmlformats.org/drawingml/2006/main" name="Office 主题​​">
  <a:themeElements>
    <a:clrScheme name="SJTU-学术">
      <a:dk1>
        <a:srgbClr val="000000"/>
      </a:dk1>
      <a:lt1>
        <a:srgbClr val="FFFFFF"/>
      </a:lt1>
      <a:dk2>
        <a:srgbClr val="003264"/>
      </a:dk2>
      <a:lt2>
        <a:srgbClr val="D9D9D9"/>
      </a:lt2>
      <a:accent1>
        <a:srgbClr val="004098"/>
      </a:accent1>
      <a:accent2>
        <a:srgbClr val="2B75CF"/>
      </a:accent2>
      <a:accent3>
        <a:srgbClr val="BD9F68"/>
      </a:accent3>
      <a:accent4>
        <a:srgbClr val="C55A11"/>
      </a:accent4>
      <a:accent5>
        <a:srgbClr val="FFC000"/>
      </a:accent5>
      <a:accent6>
        <a:srgbClr val="A6A6A6"/>
      </a:accent6>
      <a:hlink>
        <a:srgbClr val="0563C1"/>
      </a:hlink>
      <a:folHlink>
        <a:srgbClr val="954F72"/>
      </a:folHlink>
    </a:clrScheme>
    <a:fontScheme name="自定义 1">
      <a:majorFont>
        <a:latin typeface="Arial Black"/>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4297</Words>
  <Application>WPS 演示</Application>
  <PresentationFormat>Widescreen</PresentationFormat>
  <Paragraphs>457</Paragraphs>
  <Slides>22</Slides>
  <Notes>0</Notes>
  <HiddenSlides>0</HiddenSlides>
  <MMClips>0</MMClips>
  <ScaleCrop>false</ScaleCrop>
  <HeadingPairs>
    <vt:vector size="6" baseType="variant">
      <vt:variant>
        <vt:lpstr>已用的字体</vt:lpstr>
      </vt:variant>
      <vt:variant>
        <vt:i4>18</vt:i4>
      </vt:variant>
      <vt:variant>
        <vt:lpstr>主题</vt:lpstr>
      </vt:variant>
      <vt:variant>
        <vt:i4>1</vt:i4>
      </vt:variant>
      <vt:variant>
        <vt:lpstr>幻灯片标题</vt:lpstr>
      </vt:variant>
      <vt:variant>
        <vt:i4>22</vt:i4>
      </vt:variant>
    </vt:vector>
  </HeadingPairs>
  <TitlesOfParts>
    <vt:vector size="41" baseType="lpstr">
      <vt:lpstr>Arial</vt:lpstr>
      <vt:lpstr>宋体</vt:lpstr>
      <vt:lpstr>Wingdings</vt:lpstr>
      <vt:lpstr>微软雅黑</vt:lpstr>
      <vt:lpstr>Times New Roman</vt:lpstr>
      <vt:lpstr>宋体</vt:lpstr>
      <vt:lpstr>汉仪书宋二KW</vt:lpstr>
      <vt:lpstr>汉仪旗黑</vt:lpstr>
      <vt:lpstr>宋体</vt:lpstr>
      <vt:lpstr>Arial Unicode MS</vt:lpstr>
      <vt:lpstr>Arial Black</vt:lpstr>
      <vt:lpstr>Calibri</vt:lpstr>
      <vt:lpstr>Helvetica Neue</vt:lpstr>
      <vt:lpstr>DengXian</vt:lpstr>
      <vt:lpstr>汉仪中等线KW</vt:lpstr>
      <vt:lpstr>DengXian</vt:lpstr>
      <vt:lpstr>微软雅黑</vt:lpstr>
      <vt:lpstr>Arial Bold</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Invictus 许歆瑶</dc:creator>
  <cp:lastModifiedBy>企业用户_939703117</cp:lastModifiedBy>
  <cp:revision>145</cp:revision>
  <dcterms:created xsi:type="dcterms:W3CDTF">2026-01-28T07:34:40Z</dcterms:created>
  <dcterms:modified xsi:type="dcterms:W3CDTF">2026-01-28T07:34:40Z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f">
    <vt:lpwstr>中期汇报(1).pptx</vt:lpwstr>
  </property>
  <property fmtid="{D5CDD505-2E9C-101B-9397-08002B2CF9AE}" pid="3" name="o">
    <vt:lpwstr>ORG_INFO</vt:lpwstr>
  </property>
  <property fmtid="{D5CDD505-2E9C-101B-9397-08002B2CF9AE}" pid="4" name="d">
    <vt:lpwstr>XM</vt:lpwstr>
  </property>
  <property fmtid="{D5CDD505-2E9C-101B-9397-08002B2CF9AE}" pid="5" name="i">
    <vt:lpwstr>1</vt:lpwstr>
  </property>
  <property fmtid="{D5CDD505-2E9C-101B-9397-08002B2CF9AE}" pid="6" name="s">
    <vt:lpwstr>a32ec8e8aba5486bc65b013ef8d382e3760820fa</vt:lpwstr>
  </property>
  <property fmtid="{D5CDD505-2E9C-101B-9397-08002B2CF9AE}" pid="7" name="KSOProductBuildVer">
    <vt:lpwstr>2052-12.1.24031.24031</vt:lpwstr>
  </property>
  <property fmtid="{D5CDD505-2E9C-101B-9397-08002B2CF9AE}" pid="8" name="ICV">
    <vt:lpwstr>8839ECFB5979F865B8E37569FB32ED1E_42</vt:lpwstr>
  </property>
</Properties>
</file>